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1" r:id="rId2"/>
  </p:sldMasterIdLst>
  <p:notesMasterIdLst>
    <p:notesMasterId r:id="rId10"/>
  </p:notesMasterIdLst>
  <p:sldIdLst>
    <p:sldId id="256" r:id="rId3"/>
    <p:sldId id="331" r:id="rId4"/>
    <p:sldId id="414" r:id="rId5"/>
    <p:sldId id="421" r:id="rId6"/>
    <p:sldId id="422" r:id="rId7"/>
    <p:sldId id="424" r:id="rId8"/>
    <p:sldId id="42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79A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884" autoAdjust="0"/>
    <p:restoredTop sz="95866"/>
  </p:normalViewPr>
  <p:slideViewPr>
    <p:cSldViewPr snapToGrid="0">
      <p:cViewPr varScale="1">
        <p:scale>
          <a:sx n="113" d="100"/>
          <a:sy n="113" d="100"/>
        </p:scale>
        <p:origin x="208" y="536"/>
      </p:cViewPr>
      <p:guideLst/>
    </p:cSldViewPr>
  </p:slideViewPr>
  <p:outlineViewPr>
    <p:cViewPr>
      <p:scale>
        <a:sx n="33" d="100"/>
        <a:sy n="33" d="100"/>
      </p:scale>
      <p:origin x="0" y="-46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234C0-42CF-994A-B498-2C2DAA802C99}" type="datetimeFigureOut">
              <a:rPr lang="en-CN" smtClean="0"/>
              <a:t>6/2/23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22EA6-FE1A-C745-BE27-F2AA48395E8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28990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692940"/>
            <a:ext cx="10515600" cy="757130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sz="4800"/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838200" y="3566399"/>
            <a:ext cx="10515600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副标题</a:t>
            </a:r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426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lang="zh-CN" altLang="en-US" dirty="0" smtClean="0"/>
            </a:lvl1pPr>
            <a:lvl2pPr>
              <a:lnSpc>
                <a:spcPct val="100000"/>
              </a:lnSpc>
              <a:defRPr lang="zh-CN" altLang="en-US" dirty="0" smtClean="0"/>
            </a:lvl2pPr>
            <a:lvl3pPr>
              <a:lnSpc>
                <a:spcPct val="100000"/>
              </a:lnSpc>
              <a:defRPr lang="zh-CN" altLang="en-US" dirty="0" smtClean="0"/>
            </a:lvl3pPr>
            <a:lvl4pPr>
              <a:lnSpc>
                <a:spcPct val="100000"/>
              </a:lnSpc>
              <a:defRPr lang="zh-CN" altLang="en-US" dirty="0" smtClean="0"/>
            </a:lvl4pPr>
            <a:lvl5pPr>
              <a:lnSpc>
                <a:spcPct val="100000"/>
              </a:lnSpc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4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 marL="0" indent="0">
              <a:buNone/>
              <a:defRPr lang="zh-CN" altLang="en-US" sz="2000" dirty="0" smtClean="0">
                <a:latin typeface="Consolas" panose="020B0609020204030204" pitchFamily="49" charset="0"/>
              </a:defRPr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1"/>
            <a:r>
              <a:rPr lang="en-US" altLang="zh-CN"/>
              <a:t>print("hi")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22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1" y="1545535"/>
            <a:ext cx="833273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本内容版权属</a:t>
            </a:r>
            <a:r>
              <a:rPr lang="zh-CN" altLang="en-US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杭州饥人谷教育科技有限公司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（简称饥人谷）所有。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任何媒体、网站或个人未经本网协议授权不得转载、链接、转贴，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或以其他方式复制、发布和发表。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已获得饥人谷授权的媒体、网站或个人在使用时须注明「资料来源：饥人谷」 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对于违反者，饥人谷将依法追究责任。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如果你想要购买本课程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如果你发现有人盗用本课程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38200" y="286134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版权声明</a:t>
            </a:r>
          </a:p>
        </p:txBody>
      </p:sp>
    </p:spTree>
    <p:extLst>
      <p:ext uri="{BB962C8B-B14F-4D97-AF65-F5344CB8AC3E}">
        <p14:creationId xmlns:p14="http://schemas.microsoft.com/office/powerpoint/2010/main" val="3669282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bg1">
                    <a:lumMod val="8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595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  <a:lvl2pPr marL="0" indent="0" algn="ctr">
              <a:buNone/>
              <a:defRPr/>
            </a:lvl2pPr>
            <a:lvl3pPr marL="0" indent="0" algn="ctr">
              <a:buNone/>
              <a:defRPr/>
            </a:lvl3pPr>
            <a:lvl4pPr marL="0" indent="0" algn="ctr">
              <a:buNone/>
              <a:defRPr/>
            </a:lvl4pPr>
            <a:lvl5pPr marL="0" indent="0" algn="ctr">
              <a:buNone/>
              <a:defRPr/>
            </a:lvl5pPr>
          </a:lstStyle>
          <a:p>
            <a:pPr lvl="0"/>
            <a:r>
              <a:rPr lang="zh-CN" altLang="en-US" dirty="0"/>
              <a:t>背景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bg1">
                    <a:lumMod val="8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023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044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151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692940"/>
            <a:ext cx="10515600" cy="757130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sz="4800">
                <a:solidFill>
                  <a:srgbClr val="2B4576"/>
                </a:solidFill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838200" y="3509546"/>
            <a:ext cx="10515600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副标题</a:t>
            </a:r>
          </a:p>
        </p:txBody>
      </p:sp>
      <p:sp>
        <p:nvSpPr>
          <p:cNvPr id="7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006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1" y="1545535"/>
            <a:ext cx="833273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本内容版权属</a:t>
            </a: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杭州饥人谷教育科技有限公司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（简称饥人谷）所有。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任何媒体、网站或个人未经本网协议授权不得转载、链接、转贴，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或以其他方式复制、发布和发表。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已获得饥人谷授权的媒体、网站或个人在使用时须注明「资料来源：饥人谷」 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对于违反者，饥人谷将依法追究责任。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如果你想要购买本课程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如果你发现有人盗用本课程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38200" y="286134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版权声明</a:t>
            </a:r>
          </a:p>
        </p:txBody>
      </p:sp>
    </p:spTree>
    <p:extLst>
      <p:ext uri="{BB962C8B-B14F-4D97-AF65-F5344CB8AC3E}">
        <p14:creationId xmlns:p14="http://schemas.microsoft.com/office/powerpoint/2010/main" val="2504178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 marL="0" indent="0">
              <a:buNone/>
              <a:defRPr lang="zh-CN" altLang="en-US" sz="2000" dirty="0" smtClean="0">
                <a:latin typeface="Consolas" panose="020B0609020204030204" pitchFamily="49" charset="0"/>
              </a:defRPr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1"/>
            <a:r>
              <a:rPr lang="en-US" altLang="zh-CN"/>
              <a:t>print("hi")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21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>
              <a:buSzPct val="100000"/>
              <a:defRPr lang="zh-CN" altLang="en-US" dirty="0" smtClean="0"/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9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1756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3"/>
          </p:nvPr>
        </p:nvSpPr>
        <p:spPr>
          <a:xfrm>
            <a:off x="0" y="3"/>
            <a:ext cx="12192000" cy="68579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416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3382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416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9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57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7373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41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384F88"/>
            </a:gs>
            <a:gs pos="100000">
              <a:srgbClr val="1E2C6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6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 dirty="0"/>
              <a:t>标题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FC00A0-87D4-4A61-9BF9-412D314D1DAF}"/>
              </a:ext>
            </a:extLst>
          </p:cNvPr>
          <p:cNvSpPr txBox="1"/>
          <p:nvPr/>
        </p:nvSpPr>
        <p:spPr>
          <a:xfrm>
            <a:off x="5546971" y="6673056"/>
            <a:ext cx="109805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版权所有 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© 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饥人谷</a:t>
            </a:r>
          </a:p>
        </p:txBody>
      </p:sp>
    </p:spTree>
    <p:extLst>
      <p:ext uri="{BB962C8B-B14F-4D97-AF65-F5344CB8AC3E}">
        <p14:creationId xmlns:p14="http://schemas.microsoft.com/office/powerpoint/2010/main" val="488370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9" r:id="rId3"/>
    <p:sldLayoutId id="2147483675" r:id="rId4"/>
    <p:sldLayoutId id="2147483678" r:id="rId5"/>
    <p:sldLayoutId id="2147483677" r:id="rId6"/>
    <p:sldLayoutId id="2147483679" r:id="rId7"/>
    <p:sldLayoutId id="2147483680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-360000" algn="l" defTabSz="6858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lang="zh-CN" altLang="en-US" sz="3600" kern="1200" dirty="0" smtClean="0">
          <a:solidFill>
            <a:srgbClr val="FFDE85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0" indent="-360000" algn="l" defTabSz="685800" rtl="0" eaLnBrk="1" latinLnBrk="0" hangingPunct="1">
        <a:lnSpc>
          <a:spcPct val="100000"/>
        </a:lnSpc>
        <a:spcBef>
          <a:spcPts val="375"/>
        </a:spcBef>
        <a:buSzPct val="100000"/>
        <a:buFont typeface="Wingdings" panose="05000000000000000000" pitchFamily="2" charset="2"/>
        <a:buChar char="ü"/>
        <a:defRPr sz="24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F9FCFF"/>
            </a:gs>
            <a:gs pos="100000">
              <a:srgbClr val="EBF7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6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 dirty="0"/>
              <a:t>标题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838200" y="1261130"/>
            <a:ext cx="10515600" cy="53808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4C8E59-2062-4974-9D8C-C0D011B313F2}"/>
              </a:ext>
            </a:extLst>
          </p:cNvPr>
          <p:cNvSpPr txBox="1"/>
          <p:nvPr/>
        </p:nvSpPr>
        <p:spPr>
          <a:xfrm>
            <a:off x="5363962" y="6673056"/>
            <a:ext cx="109805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版权所有 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© 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饥人谷</a:t>
            </a:r>
          </a:p>
        </p:txBody>
      </p:sp>
    </p:spTree>
    <p:extLst>
      <p:ext uri="{BB962C8B-B14F-4D97-AF65-F5344CB8AC3E}">
        <p14:creationId xmlns:p14="http://schemas.microsoft.com/office/powerpoint/2010/main" val="95339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8" r:id="rId2"/>
    <p:sldLayoutId id="2147483690" r:id="rId3"/>
    <p:sldLayoutId id="2147483683" r:id="rId4"/>
    <p:sldLayoutId id="2147483684" r:id="rId5"/>
    <p:sldLayoutId id="2147483685" r:id="rId6"/>
    <p:sldLayoutId id="2147483686" r:id="rId7"/>
    <p:sldLayoutId id="2147483687" r:id="rId8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360000" algn="l" defTabSz="6858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0" indent="-360000" algn="l" defTabSz="685800" rtl="0" eaLnBrk="1" latinLnBrk="0" hangingPunct="1">
        <a:lnSpc>
          <a:spcPct val="100000"/>
        </a:lnSpc>
        <a:spcBef>
          <a:spcPts val="375"/>
        </a:spcBef>
        <a:buSzPct val="50000"/>
        <a:buFont typeface="Wingdings" panose="05000000000000000000" pitchFamily="2" charset="2"/>
        <a:buChar char="ü"/>
        <a:defRPr sz="24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F816A-4D31-46FA-A25C-E6E973DEB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692940"/>
            <a:ext cx="10515600" cy="757130"/>
          </a:xfrm>
        </p:spPr>
        <p:txBody>
          <a:bodyPr/>
          <a:lstStyle/>
          <a:p>
            <a:r>
              <a:rPr lang="zh-CN" altLang="en-US" dirty="0"/>
              <a:t>数据库介绍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FB9298-51D4-4A02-B053-F474455D3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566399"/>
            <a:ext cx="10515600" cy="461665"/>
          </a:xfrm>
        </p:spPr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罗辑</a:t>
            </a:r>
          </a:p>
        </p:txBody>
      </p:sp>
    </p:spTree>
    <p:extLst>
      <p:ext uri="{BB962C8B-B14F-4D97-AF65-F5344CB8AC3E}">
        <p14:creationId xmlns:p14="http://schemas.microsoft.com/office/powerpoint/2010/main" val="3556706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512988" y="521724"/>
            <a:ext cx="7660168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本节课的主要内容包括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C06F9D-3597-D8B9-1E43-941F7E21AB78}"/>
              </a:ext>
            </a:extLst>
          </p:cNvPr>
          <p:cNvSpPr txBox="1"/>
          <p:nvPr/>
        </p:nvSpPr>
        <p:spPr>
          <a:xfrm>
            <a:off x="634749" y="1278854"/>
            <a:ext cx="7140473" cy="1879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数据库与数据库管理系统的概念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为什么需要数据库？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关系型数据库与非关系型数据库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MySQL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介绍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500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87B367A2-FC45-EC7E-45B7-59FAC7563A09}"/>
              </a:ext>
            </a:extLst>
          </p:cNvPr>
          <p:cNvSpPr/>
          <p:nvPr/>
        </p:nvSpPr>
        <p:spPr>
          <a:xfrm>
            <a:off x="8234380" y="4377027"/>
            <a:ext cx="2596444" cy="16143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BC33037-FDF7-D9EA-FDDE-37FAE5B85ADC}"/>
              </a:ext>
            </a:extLst>
          </p:cNvPr>
          <p:cNvSpPr txBox="1"/>
          <p:nvPr/>
        </p:nvSpPr>
        <p:spPr>
          <a:xfrm>
            <a:off x="8216784" y="4423784"/>
            <a:ext cx="25964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服务器</a:t>
            </a:r>
            <a:r>
              <a:rPr kumimoji="1" lang="en-US" altLang="zh-CN" b="1" dirty="0">
                <a:solidFill>
                  <a:schemeClr val="bg1"/>
                </a:solidFill>
              </a:rPr>
              <a:t>-</a:t>
            </a:r>
            <a:r>
              <a:rPr kumimoji="1" lang="zh-CN" altLang="en-US" b="1" dirty="0">
                <a:solidFill>
                  <a:schemeClr val="bg1"/>
                </a:solidFill>
              </a:rPr>
              <a:t>部署数据库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数据库与数据库管理系统的概念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0B579AB-A614-6018-D9E4-7FEBC810BFBB}"/>
              </a:ext>
            </a:extLst>
          </p:cNvPr>
          <p:cNvSpPr txBox="1"/>
          <p:nvPr/>
        </p:nvSpPr>
        <p:spPr>
          <a:xfrm>
            <a:off x="668692" y="1401596"/>
            <a:ext cx="10721798" cy="2531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数据库（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Database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），是指按照一定的数据模型组织、存储和管理数据的集合。通俗的说，数据库就是存储数据的仓库。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数据库管理系统（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Database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Management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System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，简称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DBMS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），是一种软件系统，用于管理和操作数据库。</a:t>
            </a:r>
            <a:r>
              <a:rPr lang="en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DBMS 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提供了一系列的工具和接口，使得用户可以方便地对数据库进行创建、查询、修改和删除等操作，同时还可以对数据库进行备份、恢复、优化等管理工作。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常见的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DBMS 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包括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MySQL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、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Oracle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、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SQL Server 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等。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FD7616C-3A98-8A38-9666-5270867153B2}"/>
              </a:ext>
            </a:extLst>
          </p:cNvPr>
          <p:cNvSpPr/>
          <p:nvPr/>
        </p:nvSpPr>
        <p:spPr>
          <a:xfrm>
            <a:off x="1138647" y="4839872"/>
            <a:ext cx="2348089" cy="10272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/>
              <a:t>浏览器前端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360A1C-F6F5-0435-DCB8-B37CF41046CB}"/>
              </a:ext>
            </a:extLst>
          </p:cNvPr>
          <p:cNvSpPr/>
          <p:nvPr/>
        </p:nvSpPr>
        <p:spPr>
          <a:xfrm>
            <a:off x="4615627" y="4377027"/>
            <a:ext cx="2596444" cy="16143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6124380-F4A6-D040-A749-492941479409}"/>
              </a:ext>
            </a:extLst>
          </p:cNvPr>
          <p:cNvSpPr/>
          <p:nvPr/>
        </p:nvSpPr>
        <p:spPr>
          <a:xfrm>
            <a:off x="4757397" y="4839872"/>
            <a:ext cx="2348089" cy="102728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Web</a:t>
            </a:r>
            <a:r>
              <a:rPr kumimoji="1" lang="zh-CN" altLang="en-US" b="1" dirty="0"/>
              <a:t>服务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A3F04B1-9CD3-5029-C000-7D499F2D1FDC}"/>
              </a:ext>
            </a:extLst>
          </p:cNvPr>
          <p:cNvSpPr/>
          <p:nvPr/>
        </p:nvSpPr>
        <p:spPr>
          <a:xfrm>
            <a:off x="8340962" y="4834228"/>
            <a:ext cx="2348089" cy="102728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/>
              <a:t>数据库管理系统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BD9355D-634A-3202-433F-1EB0F187FC5D}"/>
              </a:ext>
            </a:extLst>
          </p:cNvPr>
          <p:cNvSpPr txBox="1"/>
          <p:nvPr/>
        </p:nvSpPr>
        <p:spPr>
          <a:xfrm>
            <a:off x="4615627" y="4423784"/>
            <a:ext cx="25964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bg1"/>
                </a:solidFill>
              </a:rPr>
              <a:t>服务器</a:t>
            </a:r>
            <a:r>
              <a:rPr kumimoji="1" lang="en-US" altLang="zh-CN" b="1" dirty="0">
                <a:solidFill>
                  <a:schemeClr val="bg1"/>
                </a:solidFill>
              </a:rPr>
              <a:t>-</a:t>
            </a:r>
            <a:r>
              <a:rPr kumimoji="1" lang="zh-CN" altLang="en-US" b="1" dirty="0">
                <a:solidFill>
                  <a:schemeClr val="bg1"/>
                </a:solidFill>
              </a:rPr>
              <a:t>部署</a:t>
            </a:r>
            <a:r>
              <a:rPr kumimoji="1" lang="en-US" altLang="zh-CN" b="1" dirty="0">
                <a:solidFill>
                  <a:schemeClr val="bg1"/>
                </a:solidFill>
              </a:rPr>
              <a:t>web</a:t>
            </a:r>
            <a:r>
              <a:rPr kumimoji="1" lang="zh-CN" altLang="en-US" b="1" dirty="0">
                <a:solidFill>
                  <a:schemeClr val="bg1"/>
                </a:solidFill>
              </a:rPr>
              <a:t>服务</a:t>
            </a: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05B41ACB-3F93-D726-4F86-21AD016D7DA1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3486736" y="5353516"/>
            <a:ext cx="1270661" cy="0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BDF4432B-51B4-9B01-54FB-61AF01951C14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7105486" y="5347872"/>
            <a:ext cx="1235476" cy="0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492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为什么需要数据库？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0B579AB-A614-6018-D9E4-7FEBC810BFBB}"/>
              </a:ext>
            </a:extLst>
          </p:cNvPr>
          <p:cNvSpPr txBox="1"/>
          <p:nvPr/>
        </p:nvSpPr>
        <p:spPr>
          <a:xfrm>
            <a:off x="668692" y="1401596"/>
            <a:ext cx="10721798" cy="2540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数据持久化存储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：计算机系统中的数据通常是临时存储在内存中的，当系统关闭或者断电时，数据就会丢失。而数据库可以将数据持久化地存储在硬盘上，即使系统关闭或者断电，数据也不会丢失。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数据安全性和可靠性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：数据库可以提供数据的安全性和可靠性保障，如数据备份、恢复、加密等，可以防止数据的丢失、损坏和泄露。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数据查询和分析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：数据库可以提供高效的数据查询和分析功能，用户可以方便地对数据进行查询、统计、分析等操作，从而得到有价值的信息。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743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关系型数据库和非关系型数据库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0B579AB-A614-6018-D9E4-7FEBC810BFBB}"/>
              </a:ext>
            </a:extLst>
          </p:cNvPr>
          <p:cNvSpPr txBox="1"/>
          <p:nvPr/>
        </p:nvSpPr>
        <p:spPr>
          <a:xfrm>
            <a:off x="668692" y="1317380"/>
            <a:ext cx="10721798" cy="5223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关系型数据库和非关系型数据库是两种不同的数据库类型，它们的主要区别在于数据的</a:t>
            </a:r>
            <a:r>
              <a:rPr lang="zh-CN" altLang="en-US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存储方式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和</a:t>
            </a:r>
            <a:r>
              <a:rPr lang="zh-CN" altLang="en-US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查询方式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关系型数据库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Relational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Database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，用关系模型（简单来说就是二维表格模型）来组织数据的数据库。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以表格形式存储数据的（类似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Excel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）每个表格包含多个行和列，每行表示一个记录，每列表示一个数据字段。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关系型数据库采用结构化查询语言（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SQL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Structured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Query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Language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）进行数据查询和管理。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具有数据一致性、事务处理、数据完整性等特点。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适用于需要处理结构化数据和对数据一致性要求高的应用场景，例如金融、订单等。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常见的关系型数据库有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MySQL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、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Oracle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等。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非关系型数据库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NoSQL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（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Not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Only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SQL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不使用表格形式存储数据，而是采用键值对、文档、图形等方式进行数据存储。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非关系型数据库通常不支持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SQL 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查询语言，而是采用自定义的查询语言进行数据查询和管理。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非关系型数据库具有高可扩展性、高性能、灵活的数据模型等特点。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适用于需要处理非结构化数据和需要进行高并发读写的应用场景，如社交网络、物联网等。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常见的非关系型数据库：键值存储数据库（如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Redis</a:t>
            </a:r>
            <a:r>
              <a:rPr lang="zh-CN" altLang="e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）、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文档存储数据库（如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MongoDB</a:t>
            </a:r>
            <a:r>
              <a:rPr lang="zh-CN" altLang="e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）、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列存储数据库（如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HBase</a:t>
            </a:r>
            <a:r>
              <a:rPr lang="zh-CN" altLang="e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和图形数据库（如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Neo4j</a:t>
            </a:r>
            <a:r>
              <a:rPr lang="zh-CN" altLang="e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等。</a:t>
            </a:r>
          </a:p>
        </p:txBody>
      </p:sp>
    </p:spTree>
    <p:extLst>
      <p:ext uri="{BB962C8B-B14F-4D97-AF65-F5344CB8AC3E}">
        <p14:creationId xmlns:p14="http://schemas.microsoft.com/office/powerpoint/2010/main" val="871734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关系型数据库和非关系型数据库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0B579AB-A614-6018-D9E4-7FEBC810BFBB}"/>
              </a:ext>
            </a:extLst>
          </p:cNvPr>
          <p:cNvSpPr txBox="1"/>
          <p:nvPr/>
        </p:nvSpPr>
        <p:spPr>
          <a:xfrm>
            <a:off x="668692" y="1574483"/>
            <a:ext cx="3496908" cy="42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关系型数据库：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类似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Excel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表格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9B0124-728B-74C0-FA44-5D9C26AC2020}"/>
              </a:ext>
            </a:extLst>
          </p:cNvPr>
          <p:cNvSpPr txBox="1"/>
          <p:nvPr/>
        </p:nvSpPr>
        <p:spPr>
          <a:xfrm>
            <a:off x="6095999" y="1574483"/>
            <a:ext cx="5294489" cy="42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非关系型数据库：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以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文档形式存储为例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AD4ABDF-875D-708C-BB2D-1B597A498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184" y="2331392"/>
            <a:ext cx="5206304" cy="295212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12985C4-981C-C77D-4863-054EE34E5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92" y="2331392"/>
            <a:ext cx="4151664" cy="207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337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MySQL</a:t>
            </a:r>
            <a:r>
              <a:rPr lang="zh-CN" altLang="en-US" dirty="0"/>
              <a:t>介绍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0B579AB-A614-6018-D9E4-7FEBC810BFBB}"/>
              </a:ext>
            </a:extLst>
          </p:cNvPr>
          <p:cNvSpPr txBox="1"/>
          <p:nvPr/>
        </p:nvSpPr>
        <p:spPr>
          <a:xfrm>
            <a:off x="668692" y="1401596"/>
            <a:ext cx="10721798" cy="5033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MySQL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是一款开源的关系型数据库管理系统，由瑞典</a:t>
            </a: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MySQL AB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公司开发，后被</a:t>
            </a: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Sun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公司收购，现在属于</a:t>
            </a: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Oracle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公司旗下产品。</a:t>
            </a:r>
            <a:endParaRPr lang="en-US" altLang="zh-CN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MySQL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具有以下特点：</a:t>
            </a:r>
            <a:endParaRPr lang="en-US" altLang="zh-CN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开源免费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：</a:t>
            </a: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MySQL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是一款开源的数据库管理系统，可以免费使用和修改，没有任何版权限制。</a:t>
            </a:r>
            <a:endParaRPr lang="en-US" altLang="zh-CN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高性能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：</a:t>
            </a: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MySQL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具有高性能、高并发、高可靠性等特点，可以处理大量的数据和请求。</a:t>
            </a:r>
            <a:endParaRPr lang="en-US" altLang="zh-CN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可扩展性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：</a:t>
            </a: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MySQL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可以通过添加更多的服务器来扩展系统的容量和性能，可以实现水平扩展。</a:t>
            </a:r>
            <a:endParaRPr lang="en-US" altLang="zh-CN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多语言支持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：</a:t>
            </a: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MySQL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支持多种编程语言，如</a:t>
            </a: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C</a:t>
            </a:r>
            <a:r>
              <a:rPr lang="zh-CN" altLang="en" b="1" dirty="0">
                <a:solidFill>
                  <a:srgbClr val="FFE79A"/>
                </a:solidFill>
                <a:latin typeface="Helvetica Neue" panose="02000503000000020004" pitchFamily="2" charset="0"/>
              </a:rPr>
              <a:t>、</a:t>
            </a: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C++</a:t>
            </a:r>
            <a:r>
              <a:rPr lang="zh-CN" altLang="en" b="1" dirty="0">
                <a:solidFill>
                  <a:srgbClr val="FFE79A"/>
                </a:solidFill>
                <a:latin typeface="Helvetica Neue" panose="02000503000000020004" pitchFamily="2" charset="0"/>
              </a:rPr>
              <a:t>、</a:t>
            </a: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Java</a:t>
            </a:r>
            <a:r>
              <a:rPr lang="zh-CN" altLang="en" b="1" dirty="0">
                <a:solidFill>
                  <a:srgbClr val="FFE79A"/>
                </a:solidFill>
                <a:latin typeface="Helvetica Neue" panose="02000503000000020004" pitchFamily="2" charset="0"/>
              </a:rPr>
              <a:t>、</a:t>
            </a: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Python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等，可以方便地集成到各种应用程序中。</a:t>
            </a:r>
            <a:endParaRPr lang="en-US" altLang="zh-CN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安全性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：</a:t>
            </a: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MySQL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提供了多种安全性措施，如用户认证、数据加密、访问控制等，可以保护数据的安全性和完整性。</a:t>
            </a:r>
            <a:endParaRPr lang="en-US" altLang="zh-CN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易用性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：</a:t>
            </a: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MySQL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提供了简单易用的命令行工具和图形化管理工具，可以方便地管理和维护数据库。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MySQL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广泛应用于</a:t>
            </a: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Web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应用，是目前最流行的关系型数据库之一。</a:t>
            </a:r>
            <a:endParaRPr lang="en-US" altLang="zh-CN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920048"/>
      </p:ext>
    </p:extLst>
  </p:cSld>
  <p:clrMapOvr>
    <a:masterClrMapping/>
  </p:clrMapOvr>
</p:sld>
</file>

<file path=ppt/theme/theme1.xml><?xml version="1.0" encoding="utf-8"?>
<a:theme xmlns:a="http://schemas.openxmlformats.org/drawingml/2006/main" name="饥人谷2020">
  <a:themeElements>
    <a:clrScheme name="自定义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00"/>
      </a:hlink>
      <a:folHlink>
        <a:srgbClr val="FFFF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饥人谷2020" id="{9EA43CC4-F49E-4AFB-A232-7BBA7D9D7755}" vid="{63A6EB6F-AC6E-43AB-B8C5-02C8C8D42495}"/>
    </a:ext>
  </a:extLst>
</a:theme>
</file>

<file path=ppt/theme/theme2.xml><?xml version="1.0" encoding="utf-8"?>
<a:theme xmlns:a="http://schemas.openxmlformats.org/drawingml/2006/main" name="饥人谷2019浅色主题​​">
  <a:themeElements>
    <a:clrScheme name="自定义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0000"/>
      </a:hlink>
      <a:folHlink>
        <a:srgbClr val="FF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avaScript 入门.pptx" id="{B812C777-9E68-4F43-B758-EBA532ADB484}" vid="{D326234F-4341-4D06-8CC1-2D740558C2C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饥人谷2020</Template>
  <TotalTime>58935</TotalTime>
  <Words>817</Words>
  <Application>Microsoft Macintosh PowerPoint</Application>
  <PresentationFormat>宽屏</PresentationFormat>
  <Paragraphs>47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等线</vt:lpstr>
      <vt:lpstr>思源黑体</vt:lpstr>
      <vt:lpstr>Microsoft YaHei</vt:lpstr>
      <vt:lpstr>Microsoft YaHei</vt:lpstr>
      <vt:lpstr>Arial</vt:lpstr>
      <vt:lpstr>Calibri</vt:lpstr>
      <vt:lpstr>Consolas</vt:lpstr>
      <vt:lpstr>Helvetica Neue</vt:lpstr>
      <vt:lpstr>Wingdings</vt:lpstr>
      <vt:lpstr>饥人谷2020</vt:lpstr>
      <vt:lpstr>饥人谷2019浅色主题​​</vt:lpstr>
      <vt:lpstr>数据库介绍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蓝色PPT</dc:title>
  <dc:creator>方 方</dc:creator>
  <cp:lastModifiedBy>vincent</cp:lastModifiedBy>
  <cp:revision>621</cp:revision>
  <dcterms:created xsi:type="dcterms:W3CDTF">2021-12-14T08:53:33Z</dcterms:created>
  <dcterms:modified xsi:type="dcterms:W3CDTF">2023-06-03T02:43:19Z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EagleCloud">
    <vt:lpwstr>61676334b4e8422151e43967553014381f5e06876ebe2bbce66cedec39aecaac9e60da91a32bcea9066488722440b91e9ed4d8862cc6d53dda83e807fb1a8c4639364240fb3cb2ed3f5b47b5a74b7b5103e0ea68b0db6ee782673491502157f37bcb9c5d2ee0791f61a51da3002f5ae6dcfb636c2e36fd27a8e74f484e592c6</vt:lpwstr>
  </property>
  <property fmtid="{D5CDD505-2E9C-101B-9397-08002B2CF9AE}" pid="3" name="EagleCloud1">
    <vt:lpwstr>c62209c9595ad58fdd8f336497f2320c803153dc4c267aa8b6c135973893ba012144e4100a4c93a7818780a176da2b295d2d4431860dfc99ddb680da24bc2e890555453fe70b1f0eb3b1e839343e9498377e3b28e7eb46a3630addcad188ef06f26c1dd3b5bf19726731a1631a26aa7568f35959b705f240623675195244d44</vt:lpwstr>
  </property>
  <property fmtid="{D5CDD505-2E9C-101B-9397-08002B2CF9AE}" pid="4" name="EagleCloud2">
    <vt:lpwstr>972c20d613c2c913bcdaae44a9787a3c9564541d57b285fb8bad77c0ead7624e53e4531826e354954814ae545be9377fecf3bd8dae62c47dffb93cf4048f38afb5</vt:lpwstr>
  </property>
</Properties>
</file>