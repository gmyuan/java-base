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1" r:id="rId2"/>
  </p:sldMasterIdLst>
  <p:notesMasterIdLst>
    <p:notesMasterId r:id="rId12"/>
  </p:notesMasterIdLst>
  <p:sldIdLst>
    <p:sldId id="256" r:id="rId3"/>
    <p:sldId id="331" r:id="rId4"/>
    <p:sldId id="361" r:id="rId5"/>
    <p:sldId id="360" r:id="rId6"/>
    <p:sldId id="379" r:id="rId7"/>
    <p:sldId id="380" r:id="rId8"/>
    <p:sldId id="381" r:id="rId9"/>
    <p:sldId id="378" r:id="rId10"/>
    <p:sldId id="38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84" autoAdjust="0"/>
    <p:restoredTop sz="96051"/>
  </p:normalViewPr>
  <p:slideViewPr>
    <p:cSldViewPr snapToGrid="0">
      <p:cViewPr varScale="1">
        <p:scale>
          <a:sx n="113" d="100"/>
          <a:sy n="113" d="100"/>
        </p:scale>
        <p:origin x="208" y="288"/>
      </p:cViewPr>
      <p:guideLst/>
    </p:cSldViewPr>
  </p:slideViewPr>
  <p:outlineViewPr>
    <p:cViewPr>
      <p:scale>
        <a:sx n="33" d="100"/>
        <a:sy n="33" d="100"/>
      </p:scale>
      <p:origin x="0" y="-46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234C0-42CF-994A-B498-2C2DAA802C99}" type="datetimeFigureOut">
              <a:rPr lang="en-CN" smtClean="0"/>
              <a:t>4/8/23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22EA6-FE1A-C745-BE27-F2AA48395E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2899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/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66399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426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lang="zh-CN" altLang="en-US" dirty="0" smtClean="0"/>
            </a:lvl1pPr>
            <a:lvl2pPr>
              <a:lnSpc>
                <a:spcPct val="100000"/>
              </a:lnSpc>
              <a:defRPr lang="zh-CN" altLang="en-US" dirty="0" smtClean="0"/>
            </a:lvl2pPr>
            <a:lvl3pPr>
              <a:lnSpc>
                <a:spcPct val="100000"/>
              </a:lnSpc>
              <a:defRPr lang="zh-CN" altLang="en-US" dirty="0" smtClean="0"/>
            </a:lvl3pPr>
            <a:lvl4pPr>
              <a:lnSpc>
                <a:spcPct val="100000"/>
              </a:lnSpc>
              <a:defRPr lang="zh-CN" altLang="en-US" dirty="0" smtClean="0"/>
            </a:lvl4pPr>
            <a:lvl5pPr>
              <a:lnSpc>
                <a:spcPct val="100000"/>
              </a:lnSpc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2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366928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59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  <a:lvl2pPr marL="0" indent="0" algn="ctr">
              <a:buNone/>
              <a:defRPr/>
            </a:lvl2pPr>
            <a:lvl3pPr marL="0" indent="0" algn="ctr">
              <a:buNone/>
              <a:defRPr/>
            </a:lvl3pPr>
            <a:lvl4pPr marL="0" indent="0" algn="ctr">
              <a:buNone/>
              <a:defRPr/>
            </a:lvl4pPr>
            <a:lvl5pPr marL="0" indent="0" algn="ctr">
              <a:buNone/>
              <a:defRPr/>
            </a:lvl5pPr>
          </a:lstStyle>
          <a:p>
            <a:pPr lvl="0"/>
            <a:r>
              <a:rPr lang="zh-CN" altLang="en-US" dirty="0"/>
              <a:t>背景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023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044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151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>
                <a:solidFill>
                  <a:srgbClr val="2B4576"/>
                </a:solidFill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09546"/>
            <a:ext cx="10515600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00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250417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21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>
              <a:buSzPct val="100000"/>
              <a:defRPr lang="zh-CN" altLang="en-US" dirty="0" smtClean="0"/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175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3"/>
          </p:nvPr>
        </p:nvSpPr>
        <p:spPr>
          <a:xfrm>
            <a:off x="0" y="3"/>
            <a:ext cx="12192000" cy="6857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338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57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737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41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384F88"/>
            </a:gs>
            <a:gs pos="100000">
              <a:srgbClr val="1E2C6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FC00A0-87D4-4A61-9BF9-412D314D1DAF}"/>
              </a:ext>
            </a:extLst>
          </p:cNvPr>
          <p:cNvSpPr txBox="1"/>
          <p:nvPr/>
        </p:nvSpPr>
        <p:spPr>
          <a:xfrm>
            <a:off x="5546971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48837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9" r:id="rId3"/>
    <p:sldLayoutId id="2147483675" r:id="rId4"/>
    <p:sldLayoutId id="2147483678" r:id="rId5"/>
    <p:sldLayoutId id="2147483677" r:id="rId6"/>
    <p:sldLayoutId id="2147483679" r:id="rId7"/>
    <p:sldLayoutId id="2147483680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-360000" algn="l" defTabSz="6858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lang="zh-CN" altLang="en-US" sz="3600" kern="1200" dirty="0" smtClean="0">
          <a:solidFill>
            <a:srgbClr val="FFDE85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100000"/>
        <a:buFont typeface="Wingdings" panose="05000000000000000000" pitchFamily="2" charset="2"/>
        <a:buChar char="ü"/>
        <a:defRPr sz="24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F9FCFF"/>
            </a:gs>
            <a:gs pos="100000">
              <a:srgbClr val="EBF7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1130"/>
            <a:ext cx="10515600" cy="5380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4C8E59-2062-4974-9D8C-C0D011B313F2}"/>
              </a:ext>
            </a:extLst>
          </p:cNvPr>
          <p:cNvSpPr txBox="1"/>
          <p:nvPr/>
        </p:nvSpPr>
        <p:spPr>
          <a:xfrm>
            <a:off x="5363962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95339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90" r:id="rId3"/>
    <p:sldLayoutId id="2147483683" r:id="rId4"/>
    <p:sldLayoutId id="2147483684" r:id="rId5"/>
    <p:sldLayoutId id="2147483685" r:id="rId6"/>
    <p:sldLayoutId id="2147483686" r:id="rId7"/>
    <p:sldLayoutId id="2147483687" r:id="rId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36000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50000"/>
        <a:buFont typeface="Wingdings" panose="05000000000000000000" pitchFamily="2" charset="2"/>
        <a:buChar char="ü"/>
        <a:defRPr sz="24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安装并启动</a:t>
            </a:r>
            <a:r>
              <a:rPr lang="en-US" altLang="zh-CN" dirty="0"/>
              <a:t>Tomcat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FB9298-51D4-4A02-B053-F474455D3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66399"/>
            <a:ext cx="10515600" cy="461665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罗辑</a:t>
            </a:r>
          </a:p>
        </p:txBody>
      </p:sp>
    </p:spTree>
    <p:extLst>
      <p:ext uri="{BB962C8B-B14F-4D97-AF65-F5344CB8AC3E}">
        <p14:creationId xmlns:p14="http://schemas.microsoft.com/office/powerpoint/2010/main" val="3556706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512988" y="521724"/>
            <a:ext cx="7660168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在本节课中，你将学到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C33D74E-DF54-69E0-616C-7BE9C9CADF93}"/>
              </a:ext>
            </a:extLst>
          </p:cNvPr>
          <p:cNvSpPr txBox="1"/>
          <p:nvPr/>
        </p:nvSpPr>
        <p:spPr>
          <a:xfrm>
            <a:off x="634749" y="1453524"/>
            <a:ext cx="7140473" cy="142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下载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、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安装、启动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Tomcat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（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ac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OS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）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下载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、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安装、启动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Tomcat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（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Windows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）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在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IDEA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中启动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Tomcat – 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第一个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webapp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500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792871" y="563239"/>
            <a:ext cx="8393169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常用</a:t>
            </a:r>
            <a:r>
              <a:rPr lang="en-US" altLang="zh-CN" dirty="0"/>
              <a:t>Web</a:t>
            </a:r>
            <a:r>
              <a:rPr lang="zh-CN" altLang="en-US" dirty="0"/>
              <a:t>服务器软件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FEA3593-B1BD-A613-8D60-AF60B2783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607" y="1687846"/>
            <a:ext cx="4091485" cy="2907786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5CB8A0A9-E0BF-D325-6A2B-55927F1ACF17}"/>
              </a:ext>
            </a:extLst>
          </p:cNvPr>
          <p:cNvSpPr txBox="1">
            <a:spLocks/>
          </p:cNvSpPr>
          <p:nvPr/>
        </p:nvSpPr>
        <p:spPr>
          <a:xfrm>
            <a:off x="860528" y="1538266"/>
            <a:ext cx="2423295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tomcat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5BBABD-2C48-089C-1680-E97043506B58}"/>
              </a:ext>
            </a:extLst>
          </p:cNvPr>
          <p:cNvSpPr txBox="1"/>
          <p:nvPr/>
        </p:nvSpPr>
        <p:spPr>
          <a:xfrm>
            <a:off x="860528" y="2513293"/>
            <a:ext cx="5782010" cy="142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-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是一个免费的开源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应用服务器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-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属于轻量级应用服务器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-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在并发访问用户不是很多的场合下被普遍使用</a:t>
            </a:r>
            <a:endParaRPr lang="zh-CN" altLang="en-US" sz="20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82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下载、安装、启动 </a:t>
            </a:r>
            <a:r>
              <a:rPr lang="en-US" altLang="zh-CN" dirty="0"/>
              <a:t>Tomcat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macOS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FED9ED2-D2E8-B435-C8AB-FB8CB08D13D9}"/>
              </a:ext>
            </a:extLst>
          </p:cNvPr>
          <p:cNvSpPr txBox="1"/>
          <p:nvPr/>
        </p:nvSpPr>
        <p:spPr>
          <a:xfrm>
            <a:off x="668692" y="1588991"/>
            <a:ext cx="8531752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第一步：登陆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Tomcat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官网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7F077F-C387-D7FF-78A6-6CB62325A78B}"/>
              </a:ext>
            </a:extLst>
          </p:cNvPr>
          <p:cNvSpPr txBox="1"/>
          <p:nvPr/>
        </p:nvSpPr>
        <p:spPr>
          <a:xfrm>
            <a:off x="668692" y="2441068"/>
            <a:ext cx="9841264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第二步：找到合适的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Tomcat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版本并下载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(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下载的文件默认在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~/Downloads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下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8A57F18-AE69-A277-192E-094505F36194}"/>
              </a:ext>
            </a:extLst>
          </p:cNvPr>
          <p:cNvSpPr txBox="1"/>
          <p:nvPr/>
        </p:nvSpPr>
        <p:spPr>
          <a:xfrm>
            <a:off x="668692" y="3293145"/>
            <a:ext cx="9051041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第三步：安装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Tomcat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，将下载好的压缩包移动到目标目录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(~/Library)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下并解压。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B9E9DA-2449-51EE-92C2-0E591E1C5169}"/>
              </a:ext>
            </a:extLst>
          </p:cNvPr>
          <p:cNvSpPr txBox="1"/>
          <p:nvPr/>
        </p:nvSpPr>
        <p:spPr>
          <a:xfrm>
            <a:off x="668692" y="4145222"/>
            <a:ext cx="8531752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第四步：启动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Tomcat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，在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bin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目录下执行 </a:t>
            </a:r>
            <a:r>
              <a:rPr lang="en-US" altLang="zh-CN" sz="2000" b="1" i="0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sh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zh-CN" sz="2000" b="1" i="0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startup.sh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611D053-6548-ED12-B687-74B7833B9198}"/>
              </a:ext>
            </a:extLst>
          </p:cNvPr>
          <p:cNvSpPr txBox="1"/>
          <p:nvPr/>
        </p:nvSpPr>
        <p:spPr>
          <a:xfrm>
            <a:off x="668692" y="4918277"/>
            <a:ext cx="8531752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五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步：关闭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Tomcat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，在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bin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目录下执行 </a:t>
            </a:r>
            <a:r>
              <a:rPr lang="en-US" altLang="zh-CN" sz="2000" b="1" i="0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sh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zh-CN" sz="2000" b="1" i="0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shutdown.sh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788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92499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配置环境变量后启动 </a:t>
            </a:r>
            <a:r>
              <a:rPr lang="en-US" altLang="zh-CN" dirty="0"/>
              <a:t>Tomcat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macOS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9677B7E-AF06-17D7-F1C2-8B4BCDECF827}"/>
              </a:ext>
            </a:extLst>
          </p:cNvPr>
          <p:cNvSpPr txBox="1"/>
          <p:nvPr/>
        </p:nvSpPr>
        <p:spPr>
          <a:xfrm>
            <a:off x="668691" y="1334057"/>
            <a:ext cx="8531752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什么是“环境变量”？</a:t>
            </a:r>
            <a:endParaRPr lang="en-US" altLang="zh-CN" sz="20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88C294-EDD7-3992-18C2-CAC056E739B3}"/>
              </a:ext>
            </a:extLst>
          </p:cNvPr>
          <p:cNvSpPr txBox="1"/>
          <p:nvPr/>
        </p:nvSpPr>
        <p:spPr>
          <a:xfrm>
            <a:off x="668688" y="2701118"/>
            <a:ext cx="8531752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环境变量有什么用</a:t>
            </a:r>
            <a:r>
              <a:rPr lang="zh-CN" altLang="en-US" sz="2000" b="1" i="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？</a:t>
            </a:r>
            <a:endParaRPr lang="en-US" altLang="zh-CN" sz="20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C77E1E-C4B3-4EF7-0BA1-61D329ACDE2E}"/>
              </a:ext>
            </a:extLst>
          </p:cNvPr>
          <p:cNvSpPr txBox="1"/>
          <p:nvPr/>
        </p:nvSpPr>
        <p:spPr>
          <a:xfrm>
            <a:off x="668686" y="4214453"/>
            <a:ext cx="8531752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配置环境变量的步骤</a:t>
            </a:r>
            <a:endParaRPr lang="en-US" altLang="zh-CN" sz="20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54E6A0E-A475-FD3A-591C-4008428F3681}"/>
              </a:ext>
            </a:extLst>
          </p:cNvPr>
          <p:cNvSpPr txBox="1"/>
          <p:nvPr/>
        </p:nvSpPr>
        <p:spPr>
          <a:xfrm>
            <a:off x="668691" y="1852178"/>
            <a:ext cx="10778241" cy="79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环境变量（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environment variables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一般是指在操作系统中用来指定操作系统运行环境的一些参数，如：临时文件夹位置和系统文件夹位置等。环境变量是在操作系统中一个具有特定名字的对象。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7C7071-C9D7-1C13-F8F0-FA252B09CBAD}"/>
              </a:ext>
            </a:extLst>
          </p:cNvPr>
          <p:cNvSpPr txBox="1"/>
          <p:nvPr/>
        </p:nvSpPr>
        <p:spPr>
          <a:xfrm>
            <a:off x="668687" y="3219239"/>
            <a:ext cx="10778241" cy="79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用户通过设置环境变量，来更好的运行进程。例如 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PATH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环境变量，当要求系统运行一个程序而没有告诉它程序所在的完整路径时，系统除了在当前目录下面寻找此程序外，还应会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path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中指定的路径去找。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DCB3A6E-EC10-4C79-E6DE-31C808660CAB}"/>
              </a:ext>
            </a:extLst>
          </p:cNvPr>
          <p:cNvSpPr txBox="1"/>
          <p:nvPr/>
        </p:nvSpPr>
        <p:spPr>
          <a:xfrm>
            <a:off x="668686" y="4809147"/>
            <a:ext cx="10778241" cy="1653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第一步：在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~/.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bash_profile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中增加环境变量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r>
              <a:rPr lang="en-US" altLang="zh-CN" sz="1600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-</a:t>
            </a:r>
            <a:r>
              <a:rPr lang="zh-CN" altLang="en-US" sz="1600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" altLang="zh-CN" sz="1600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export TOMCAT_HOME=/Users/</a:t>
            </a:r>
            <a:r>
              <a:rPr lang="en" altLang="zh-CN" sz="16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vincent</a:t>
            </a:r>
            <a:r>
              <a:rPr lang="en" altLang="zh-CN" sz="1600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/Library/tomcat</a:t>
            </a:r>
          </a:p>
          <a:p>
            <a:r>
              <a:rPr lang="en-US" altLang="zh-CN" sz="1600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-</a:t>
            </a:r>
            <a:r>
              <a:rPr lang="zh-CN" altLang="en-US" sz="1600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" altLang="zh-CN" sz="1600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export PATH=$PATH:$TOMCAT_HOME/bin</a:t>
            </a:r>
            <a:endParaRPr lang="en-US" altLang="zh-CN" sz="1600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第二步：执行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source ~/.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bash_profile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让环境变量生效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第三步：在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~/.</a:t>
            </a:r>
            <a:r>
              <a:rPr lang="en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zshrc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文件最后，增加一行：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source ~/.</a:t>
            </a:r>
            <a:r>
              <a:rPr lang="en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bash_profile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（解决电脑重启后环境变量失效问题）</a:t>
            </a:r>
            <a:endParaRPr lang="en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55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1083041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下载、安装、启动 </a:t>
            </a:r>
            <a:r>
              <a:rPr lang="en-US" altLang="zh-CN" dirty="0"/>
              <a:t>Tomcat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windows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FED9ED2-D2E8-B435-C8AB-FB8CB08D13D9}"/>
              </a:ext>
            </a:extLst>
          </p:cNvPr>
          <p:cNvSpPr txBox="1"/>
          <p:nvPr/>
        </p:nvSpPr>
        <p:spPr>
          <a:xfrm>
            <a:off x="668692" y="1551263"/>
            <a:ext cx="8531752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第一步：登陆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Tomcat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官网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7F077F-C387-D7FF-78A6-6CB62325A78B}"/>
              </a:ext>
            </a:extLst>
          </p:cNvPr>
          <p:cNvSpPr txBox="1"/>
          <p:nvPr/>
        </p:nvSpPr>
        <p:spPr>
          <a:xfrm>
            <a:off x="668692" y="2111612"/>
            <a:ext cx="9841264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第二步：找到合适的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Tomcat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版本并下载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8A57F18-AE69-A277-192E-094505F36194}"/>
              </a:ext>
            </a:extLst>
          </p:cNvPr>
          <p:cNvSpPr txBox="1"/>
          <p:nvPr/>
        </p:nvSpPr>
        <p:spPr>
          <a:xfrm>
            <a:off x="668692" y="2616045"/>
            <a:ext cx="9051041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第三步：安装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Tomcat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，将下载好的压缩包移动到目标目录下并解压缩。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B9E9DA-2449-51EE-92C2-0E591E1C5169}"/>
              </a:ext>
            </a:extLst>
          </p:cNvPr>
          <p:cNvSpPr txBox="1"/>
          <p:nvPr/>
        </p:nvSpPr>
        <p:spPr>
          <a:xfrm>
            <a:off x="668692" y="3139056"/>
            <a:ext cx="8531752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第四步：配置环境变量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JAVA_HOME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611D053-6548-ED12-B687-74B7833B9198}"/>
              </a:ext>
            </a:extLst>
          </p:cNvPr>
          <p:cNvSpPr txBox="1"/>
          <p:nvPr/>
        </p:nvSpPr>
        <p:spPr>
          <a:xfrm>
            <a:off x="668692" y="3662067"/>
            <a:ext cx="8531752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五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步：启动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Tomcat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，在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bin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目录下执行 </a:t>
            </a:r>
            <a:r>
              <a:rPr lang="en-US" altLang="zh-CN" sz="2000" b="1" i="0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startup.bat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93FEA2E-7FA5-F94A-5FDE-0160D6E9ACF2}"/>
              </a:ext>
            </a:extLst>
          </p:cNvPr>
          <p:cNvSpPr txBox="1"/>
          <p:nvPr/>
        </p:nvSpPr>
        <p:spPr>
          <a:xfrm>
            <a:off x="668692" y="4185078"/>
            <a:ext cx="8531752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六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步：关闭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Tomcat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，在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bin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目录下执行 </a:t>
            </a:r>
            <a:r>
              <a:rPr lang="en-US" altLang="zh-CN" sz="2000" b="1" i="0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shutdown.bat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565D86-9000-6D44-1801-8B29ED4573D3}"/>
              </a:ext>
            </a:extLst>
          </p:cNvPr>
          <p:cNvSpPr txBox="1"/>
          <p:nvPr/>
        </p:nvSpPr>
        <p:spPr>
          <a:xfrm>
            <a:off x="668692" y="4708089"/>
            <a:ext cx="9570330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第七步：配置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Path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环境变量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，目的是可以在任何目录下启动、关闭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Tomcat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358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92499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环境变量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9677B7E-AF06-17D7-F1C2-8B4BCDECF827}"/>
              </a:ext>
            </a:extLst>
          </p:cNvPr>
          <p:cNvSpPr txBox="1"/>
          <p:nvPr/>
        </p:nvSpPr>
        <p:spPr>
          <a:xfrm>
            <a:off x="668687" y="1276487"/>
            <a:ext cx="8531752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什么是“环境变量”？</a:t>
            </a:r>
            <a:endParaRPr lang="en-US" altLang="zh-CN" sz="20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88C294-EDD7-3992-18C2-CAC056E739B3}"/>
              </a:ext>
            </a:extLst>
          </p:cNvPr>
          <p:cNvSpPr txBox="1"/>
          <p:nvPr/>
        </p:nvSpPr>
        <p:spPr>
          <a:xfrm>
            <a:off x="668687" y="2529893"/>
            <a:ext cx="8531752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环境变量有什么用</a:t>
            </a:r>
            <a:r>
              <a:rPr lang="zh-CN" altLang="en-US" sz="2000" b="1" i="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？</a:t>
            </a:r>
            <a:endParaRPr lang="en-US" altLang="zh-CN" sz="20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54E6A0E-A475-FD3A-591C-4008428F3681}"/>
              </a:ext>
            </a:extLst>
          </p:cNvPr>
          <p:cNvSpPr txBox="1"/>
          <p:nvPr/>
        </p:nvSpPr>
        <p:spPr>
          <a:xfrm>
            <a:off x="668686" y="1744339"/>
            <a:ext cx="10778241" cy="79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环境变量（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environment variables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一般是指在操作系统中用来指定操作系统运行环境的一些参数，如：临时文件夹位置和系统文件夹位置等。环境变量是在操作系统中一个具有特定名字的对象。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7C7071-C9D7-1C13-F8F0-FA252B09CBAD}"/>
              </a:ext>
            </a:extLst>
          </p:cNvPr>
          <p:cNvSpPr txBox="1"/>
          <p:nvPr/>
        </p:nvSpPr>
        <p:spPr>
          <a:xfrm>
            <a:off x="668685" y="3051747"/>
            <a:ext cx="10778241" cy="79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用户通过设置环境变量，来更好的运行进程。例如 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PATH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环境变量，当要求系统运行一个程序而没有告诉它程序所在的完整路径时，系统除了在当前目录下面寻找此程序外，还应会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path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中指定的路径去找。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E89AF48-EC26-08E7-D672-768520608622}"/>
              </a:ext>
            </a:extLst>
          </p:cNvPr>
          <p:cNvSpPr txBox="1"/>
          <p:nvPr/>
        </p:nvSpPr>
        <p:spPr>
          <a:xfrm>
            <a:off x="668685" y="3860538"/>
            <a:ext cx="8531752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JAVA_HOME 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环境变量</a:t>
            </a:r>
            <a:endParaRPr lang="en-US" altLang="zh-CN" sz="20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B9A1D4-26CC-A02F-90F2-1906A1CF1DAA}"/>
              </a:ext>
            </a:extLst>
          </p:cNvPr>
          <p:cNvSpPr txBox="1"/>
          <p:nvPr/>
        </p:nvSpPr>
        <p:spPr>
          <a:xfrm>
            <a:off x="668684" y="4382392"/>
            <a:ext cx="10778241" cy="79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JAVA_HOME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环境变量的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value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是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JDK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的安装路径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Tomcat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是基于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Java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开发的，所以运行是要用到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JDK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，启动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Tomcat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的脚本中会用到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JAVA_HOME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这个变量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80DFCD-2E3B-FE89-75CE-3AC90BECCA6F}"/>
              </a:ext>
            </a:extLst>
          </p:cNvPr>
          <p:cNvSpPr txBox="1"/>
          <p:nvPr/>
        </p:nvSpPr>
        <p:spPr>
          <a:xfrm>
            <a:off x="668684" y="5185367"/>
            <a:ext cx="8531752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Windows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操作系统配置环境变量的方式</a:t>
            </a:r>
            <a:endParaRPr lang="en-US" altLang="zh-CN" sz="20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1B456C9-4587-55C8-1402-5BB9DFB8F7F0}"/>
              </a:ext>
            </a:extLst>
          </p:cNvPr>
          <p:cNvSpPr txBox="1"/>
          <p:nvPr/>
        </p:nvSpPr>
        <p:spPr>
          <a:xfrm>
            <a:off x="668683" y="5700664"/>
            <a:ext cx="10778241" cy="42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搜索框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-&gt;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搜索环境变量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-&gt;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编辑系统环境变量</a:t>
            </a:r>
          </a:p>
        </p:txBody>
      </p:sp>
    </p:spTree>
    <p:extLst>
      <p:ext uri="{BB962C8B-B14F-4D97-AF65-F5344CB8AC3E}">
        <p14:creationId xmlns:p14="http://schemas.microsoft.com/office/powerpoint/2010/main" val="1243348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618638"/>
            <a:ext cx="10854616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000" dirty="0"/>
              <a:t>在</a:t>
            </a:r>
            <a:r>
              <a:rPr lang="en-US" altLang="zh-CN" sz="4000" dirty="0"/>
              <a:t>IDEA</a:t>
            </a:r>
            <a:r>
              <a:rPr lang="zh-CN" altLang="en-US" sz="4000" dirty="0"/>
              <a:t>中启动</a:t>
            </a:r>
            <a:r>
              <a:rPr lang="en-US" altLang="zh-CN" sz="4000" dirty="0"/>
              <a:t>Tomcat</a:t>
            </a:r>
            <a:r>
              <a:rPr lang="zh-CN" altLang="en-US" sz="4000" dirty="0"/>
              <a:t> </a:t>
            </a:r>
            <a:r>
              <a:rPr lang="en-US" altLang="zh-CN" sz="4000" dirty="0"/>
              <a:t>-</a:t>
            </a:r>
            <a:r>
              <a:rPr lang="zh-CN" altLang="en-US" sz="4000" dirty="0"/>
              <a:t> 第一个</a:t>
            </a:r>
            <a:r>
              <a:rPr lang="en-US" altLang="zh-CN" sz="4000" dirty="0"/>
              <a:t>webapp</a:t>
            </a:r>
            <a:endParaRPr lang="zh-CN" altLang="en-US" sz="4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C0ED4D1-4F40-99B9-189C-6445C589662F}"/>
              </a:ext>
            </a:extLst>
          </p:cNvPr>
          <p:cNvSpPr txBox="1"/>
          <p:nvPr/>
        </p:nvSpPr>
        <p:spPr>
          <a:xfrm>
            <a:off x="668692" y="1551263"/>
            <a:ext cx="10021886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第一步：新建一个空工程，创建 </a:t>
            </a: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src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-&gt; main -&gt; java …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，配置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Project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Structure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6855EA1-7FB5-5609-8B13-EEE843B2EF35}"/>
              </a:ext>
            </a:extLst>
          </p:cNvPr>
          <p:cNvSpPr txBox="1"/>
          <p:nvPr/>
        </p:nvSpPr>
        <p:spPr>
          <a:xfrm>
            <a:off x="668692" y="2111612"/>
            <a:ext cx="9841264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第二步：在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main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目录下创建目录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webapp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D6A0750-50C4-F38A-A6C2-92C052EDF158}"/>
              </a:ext>
            </a:extLst>
          </p:cNvPr>
          <p:cNvSpPr txBox="1"/>
          <p:nvPr/>
        </p:nvSpPr>
        <p:spPr>
          <a:xfrm>
            <a:off x="668692" y="2616045"/>
            <a:ext cx="9051041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第三步：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在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webapp 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下创建目录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WEB-INF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9439997-D8CF-9CD8-0E0C-4D07A9F4A2E8}"/>
              </a:ext>
            </a:extLst>
          </p:cNvPr>
          <p:cNvSpPr txBox="1"/>
          <p:nvPr/>
        </p:nvSpPr>
        <p:spPr>
          <a:xfrm>
            <a:off x="668692" y="3139056"/>
            <a:ext cx="8531752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第四步：在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webapp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下创建文件 </a:t>
            </a: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index.jsp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，并编写内容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A95464-8667-CEF3-E1E0-AEA5683B849F}"/>
              </a:ext>
            </a:extLst>
          </p:cNvPr>
          <p:cNvSpPr txBox="1"/>
          <p:nvPr/>
        </p:nvSpPr>
        <p:spPr>
          <a:xfrm>
            <a:off x="668692" y="3662067"/>
            <a:ext cx="8531752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五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步：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在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WEB-INF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下创建文件 </a:t>
            </a:r>
            <a:r>
              <a:rPr lang="en-US" altLang="zh-CN" sz="2000" b="1" i="0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web.xml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，并编写内容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231123B-8991-C212-C4B0-DB50F6D35B6B}"/>
              </a:ext>
            </a:extLst>
          </p:cNvPr>
          <p:cNvSpPr txBox="1"/>
          <p:nvPr/>
        </p:nvSpPr>
        <p:spPr>
          <a:xfrm>
            <a:off x="668692" y="4185078"/>
            <a:ext cx="8531752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六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步：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IDEA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下载 </a:t>
            </a:r>
            <a:r>
              <a:rPr lang="en-US" altLang="zh-CN" sz="2000" b="1" i="0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SmartTomcat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插件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0CB677-C043-AF38-C748-82F191448768}"/>
              </a:ext>
            </a:extLst>
          </p:cNvPr>
          <p:cNvSpPr txBox="1"/>
          <p:nvPr/>
        </p:nvSpPr>
        <p:spPr>
          <a:xfrm>
            <a:off x="668692" y="4708089"/>
            <a:ext cx="9570330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第七步：添加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Configurations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，配置 </a:t>
            </a:r>
            <a:r>
              <a:rPr lang="en-US" altLang="zh-CN" sz="2000" b="1" i="0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SmartTomcat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1CBC14-117B-E8F0-94DD-0A1FB59D2CF4}"/>
              </a:ext>
            </a:extLst>
          </p:cNvPr>
          <p:cNvSpPr txBox="1"/>
          <p:nvPr/>
        </p:nvSpPr>
        <p:spPr>
          <a:xfrm>
            <a:off x="668692" y="5231100"/>
            <a:ext cx="9570330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第七步：启动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webapp</a:t>
            </a:r>
          </a:p>
        </p:txBody>
      </p:sp>
    </p:spTree>
    <p:extLst>
      <p:ext uri="{BB962C8B-B14F-4D97-AF65-F5344CB8AC3E}">
        <p14:creationId xmlns:p14="http://schemas.microsoft.com/office/powerpoint/2010/main" val="4025421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618638"/>
            <a:ext cx="10854616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000" dirty="0"/>
              <a:t>一些细节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C0ED4D1-4F40-99B9-189C-6445C589662F}"/>
              </a:ext>
            </a:extLst>
          </p:cNvPr>
          <p:cNvSpPr txBox="1"/>
          <p:nvPr/>
        </p:nvSpPr>
        <p:spPr>
          <a:xfrm>
            <a:off x="668692" y="1551263"/>
            <a:ext cx="10021886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1.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应用的名字：</a:t>
            </a:r>
            <a:r>
              <a:rPr lang="en-US" altLang="zh-CN" sz="2000" b="1" dirty="0" err="1">
                <a:solidFill>
                  <a:schemeClr val="bg1"/>
                </a:solidFill>
                <a:latin typeface="Helvetica Neue" panose="02000503000000020004" pitchFamily="2" charset="0"/>
              </a:rPr>
              <a:t>ContextPath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指定了</a:t>
            </a: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应用的名字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F745F9-F67B-1800-3D65-F89A4A7C9E95}"/>
              </a:ext>
            </a:extLst>
          </p:cNvPr>
          <p:cNvSpPr txBox="1"/>
          <p:nvPr/>
        </p:nvSpPr>
        <p:spPr>
          <a:xfrm>
            <a:off x="668692" y="2259299"/>
            <a:ext cx="10021886" cy="966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2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.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为什么浏览器中会显示 </a:t>
            </a:r>
            <a:r>
              <a:rPr lang="en-US" altLang="zh-CN" sz="2000" b="1" i="0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index.jsp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的内容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因为通过 </a:t>
            </a: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Tomcat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 服务器启动的 </a:t>
            </a: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应用 的默认欢迎页是 </a:t>
            </a:r>
            <a:r>
              <a:rPr lang="en-US" altLang="zh-CN" sz="2000" b="1" dirty="0" err="1">
                <a:solidFill>
                  <a:schemeClr val="bg1"/>
                </a:solidFill>
                <a:latin typeface="Helvetica Neue" panose="02000503000000020004" pitchFamily="2" charset="0"/>
              </a:rPr>
              <a:t>index.jsp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428A63E-8D06-AA4E-8C0E-C37276EC1570}"/>
              </a:ext>
            </a:extLst>
          </p:cNvPr>
          <p:cNvSpPr txBox="1"/>
          <p:nvPr/>
        </p:nvSpPr>
        <p:spPr>
          <a:xfrm>
            <a:off x="668692" y="3429000"/>
            <a:ext cx="10021886" cy="966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3.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zh-CN" sz="2000" b="1" i="0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web.xml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的文件名能不能改，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WEB-INF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目录名能不能改？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不可以改，这是</a:t>
            </a: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规范的一部分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4884C58-351B-B55F-A7ED-8B8C5DBF7056}"/>
              </a:ext>
            </a:extLst>
          </p:cNvPr>
          <p:cNvSpPr txBox="1"/>
          <p:nvPr/>
        </p:nvSpPr>
        <p:spPr>
          <a:xfrm>
            <a:off x="668692" y="4520638"/>
            <a:ext cx="10021886" cy="966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4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.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Main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目录下创建的目录能否不叫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webapp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可以叫其他名字，这个目录的名字不是 </a:t>
            </a: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 规范的一部分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056902"/>
      </p:ext>
    </p:extLst>
  </p:cSld>
  <p:clrMapOvr>
    <a:masterClrMapping/>
  </p:clrMapOvr>
</p:sld>
</file>

<file path=ppt/theme/theme1.xml><?xml version="1.0" encoding="utf-8"?>
<a:theme xmlns:a="http://schemas.openxmlformats.org/drawingml/2006/main" name="饥人谷2020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00"/>
      </a:hlink>
      <a:folHlink>
        <a:srgbClr val="FFFF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饥人谷2020" id="{9EA43CC4-F49E-4AFB-A232-7BBA7D9D7755}" vid="{63A6EB6F-AC6E-43AB-B8C5-02C8C8D42495}"/>
    </a:ext>
  </a:extLst>
</a:theme>
</file>

<file path=ppt/theme/theme2.xml><?xml version="1.0" encoding="utf-8"?>
<a:theme xmlns:a="http://schemas.openxmlformats.org/drawingml/2006/main" name="饥人谷2019浅色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0000"/>
      </a:hlink>
      <a:folHlink>
        <a:srgbClr val="FF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vaScript 入门.pptx" id="{B812C777-9E68-4F43-B758-EBA532ADB484}" vid="{D326234F-4341-4D06-8CC1-2D740558C2C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饥人谷2020</Template>
  <TotalTime>21149</TotalTime>
  <Words>868</Words>
  <Application>Microsoft Macintosh PowerPoint</Application>
  <PresentationFormat>宽屏</PresentationFormat>
  <Paragraphs>60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等线</vt:lpstr>
      <vt:lpstr>思源黑体</vt:lpstr>
      <vt:lpstr>Microsoft YaHei</vt:lpstr>
      <vt:lpstr>Microsoft YaHei</vt:lpstr>
      <vt:lpstr>Arial</vt:lpstr>
      <vt:lpstr>Calibri</vt:lpstr>
      <vt:lpstr>Consolas</vt:lpstr>
      <vt:lpstr>Helvetica Neue</vt:lpstr>
      <vt:lpstr>Wingdings</vt:lpstr>
      <vt:lpstr>饥人谷2020</vt:lpstr>
      <vt:lpstr>饥人谷2019浅色主题​​</vt:lpstr>
      <vt:lpstr>安装并启动Tomcat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蓝色PPT</dc:title>
  <dc:creator>方 方</dc:creator>
  <cp:lastModifiedBy>Microsoft Office User</cp:lastModifiedBy>
  <cp:revision>207</cp:revision>
  <dcterms:created xsi:type="dcterms:W3CDTF">2021-12-14T08:53:33Z</dcterms:created>
  <dcterms:modified xsi:type="dcterms:W3CDTF">2023-04-09T11:18:31Z</dcterms:modified>
</cp:coreProperties>
</file>