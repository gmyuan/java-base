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6"/>
  </p:notesMasterIdLst>
  <p:sldIdLst>
    <p:sldId id="256" r:id="rId3"/>
    <p:sldId id="331" r:id="rId4"/>
    <p:sldId id="414" r:id="rId5"/>
    <p:sldId id="432" r:id="rId6"/>
    <p:sldId id="436" r:id="rId7"/>
    <p:sldId id="428" r:id="rId8"/>
    <p:sldId id="415" r:id="rId9"/>
    <p:sldId id="437" r:id="rId10"/>
    <p:sldId id="438" r:id="rId11"/>
    <p:sldId id="430" r:id="rId12"/>
    <p:sldId id="439" r:id="rId13"/>
    <p:sldId id="433" r:id="rId14"/>
    <p:sldId id="43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34" autoAdjust="0"/>
    <p:restoredTop sz="96067"/>
  </p:normalViewPr>
  <p:slideViewPr>
    <p:cSldViewPr snapToGrid="0">
      <p:cViewPr varScale="1">
        <p:scale>
          <a:sx n="113" d="100"/>
          <a:sy n="113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5/3/23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 err="1"/>
              <a:t>HttpServlet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46038" y="1278854"/>
            <a:ext cx="7140473" cy="188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介绍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模板方法设计模式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源码解析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接口详解</a:t>
            </a: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介绍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0642775" cy="212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规范的一部分，继承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GenericServlet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，专门为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协议准备，比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GenericServlet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更加适合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协议下的开发。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继承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ServletRequest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协议专用的请求对象，封装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请求的全部内容，面向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接口编程就能够获得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请求中的全部信息。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HttpServletResponse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继承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ServletResponse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协议专用的响应对象。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17B549-5CF7-27B2-2CBD-593DCC200383}"/>
              </a:ext>
            </a:extLst>
          </p:cNvPr>
          <p:cNvSpPr/>
          <p:nvPr/>
        </p:nvSpPr>
        <p:spPr>
          <a:xfrm>
            <a:off x="2018985" y="4680775"/>
            <a:ext cx="1986846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class&gt;</a:t>
            </a:r>
          </a:p>
          <a:p>
            <a:pPr algn="ctr"/>
            <a:r>
              <a:rPr kumimoji="1" lang="en-US" altLang="zh-CN" dirty="0" err="1"/>
              <a:t>GenericServlet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65F437-E976-26E9-85E2-CDEC784935FA}"/>
              </a:ext>
            </a:extLst>
          </p:cNvPr>
          <p:cNvSpPr/>
          <p:nvPr/>
        </p:nvSpPr>
        <p:spPr>
          <a:xfrm>
            <a:off x="2018985" y="3646246"/>
            <a:ext cx="1986846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&lt;&lt;interface&gt;&gt;</a:t>
            </a:r>
          </a:p>
          <a:p>
            <a:pPr algn="ctr"/>
            <a:r>
              <a:rPr kumimoji="1" lang="en-US" altLang="zh-CN" dirty="0"/>
              <a:t>Servlet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C7D250-2EF6-600F-BACB-0705BD252A73}"/>
              </a:ext>
            </a:extLst>
          </p:cNvPr>
          <p:cNvSpPr/>
          <p:nvPr/>
        </p:nvSpPr>
        <p:spPr>
          <a:xfrm>
            <a:off x="2018985" y="5715304"/>
            <a:ext cx="1986846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class&gt;</a:t>
            </a:r>
          </a:p>
          <a:p>
            <a:pPr algn="ctr"/>
            <a:r>
              <a:rPr kumimoji="1" lang="en-US" altLang="zh-CN" b="1" dirty="0" err="1"/>
              <a:t>HttpServlet</a:t>
            </a:r>
            <a:endParaRPr kumimoji="1" lang="zh-CN" altLang="en-US" b="1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2B976A1-FC9E-FFE3-F8FD-67EE9BD2B8DF}"/>
              </a:ext>
            </a:extLst>
          </p:cNvPr>
          <p:cNvCxnSpPr>
            <a:stCxn id="6" idx="0"/>
            <a:endCxn id="12" idx="2"/>
          </p:cNvCxnSpPr>
          <p:nvPr/>
        </p:nvCxnSpPr>
        <p:spPr>
          <a:xfrm flipV="1">
            <a:off x="3012408" y="4334869"/>
            <a:ext cx="0" cy="345906"/>
          </a:xfrm>
          <a:prstGeom prst="straightConnector1">
            <a:avLst/>
          </a:prstGeom>
          <a:ln w="25400">
            <a:solidFill>
              <a:srgbClr val="FFE79A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63967A5-C6B0-A376-DDFA-622AE6D84346}"/>
              </a:ext>
            </a:extLst>
          </p:cNvPr>
          <p:cNvCxnSpPr>
            <a:stCxn id="13" idx="0"/>
            <a:endCxn id="6" idx="2"/>
          </p:cNvCxnSpPr>
          <p:nvPr/>
        </p:nvCxnSpPr>
        <p:spPr>
          <a:xfrm flipV="1">
            <a:off x="3012408" y="5369398"/>
            <a:ext cx="0" cy="345906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9FCF8B-1DEE-9370-EBE9-55A4CDE63651}"/>
              </a:ext>
            </a:extLst>
          </p:cNvPr>
          <p:cNvSpPr txBox="1"/>
          <p:nvPr/>
        </p:nvSpPr>
        <p:spPr>
          <a:xfrm>
            <a:off x="3971428" y="4334869"/>
            <a:ext cx="78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实现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3F8518-388F-482A-F6AD-3809B444608A}"/>
              </a:ext>
            </a:extLst>
          </p:cNvPr>
          <p:cNvSpPr txBox="1"/>
          <p:nvPr/>
        </p:nvSpPr>
        <p:spPr>
          <a:xfrm>
            <a:off x="3971427" y="5357685"/>
            <a:ext cx="78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继承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F8785B-1BE0-5779-24B0-8708585E6C5C}"/>
              </a:ext>
            </a:extLst>
          </p:cNvPr>
          <p:cNvSpPr/>
          <p:nvPr/>
        </p:nvSpPr>
        <p:spPr>
          <a:xfrm>
            <a:off x="5198131" y="3640275"/>
            <a:ext cx="2318544" cy="694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&lt;&lt;interface&gt;&gt;</a:t>
            </a:r>
          </a:p>
          <a:p>
            <a:pPr algn="ctr"/>
            <a:r>
              <a:rPr kumimoji="1" lang="en-US" altLang="zh-CN" dirty="0" err="1"/>
              <a:t>ServletRequest</a:t>
            </a:r>
            <a:endParaRPr kumimoji="1" lang="en-US" altLang="zh-CN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06A2FFE-6684-95BA-F0C9-BEE60C7CB0FB}"/>
              </a:ext>
            </a:extLst>
          </p:cNvPr>
          <p:cNvSpPr/>
          <p:nvPr/>
        </p:nvSpPr>
        <p:spPr>
          <a:xfrm>
            <a:off x="5198131" y="5715304"/>
            <a:ext cx="2318544" cy="686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&lt;&lt;interface&gt;&gt;</a:t>
            </a:r>
          </a:p>
          <a:p>
            <a:pPr algn="ctr"/>
            <a:r>
              <a:rPr kumimoji="1" lang="en-US" altLang="zh-CN" b="1" dirty="0" err="1"/>
              <a:t>HttpServletRequest</a:t>
            </a:r>
            <a:endParaRPr kumimoji="1" lang="en-US" altLang="zh-CN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CADB5F-E346-5347-7A14-29F370E18430}"/>
              </a:ext>
            </a:extLst>
          </p:cNvPr>
          <p:cNvSpPr/>
          <p:nvPr/>
        </p:nvSpPr>
        <p:spPr>
          <a:xfrm>
            <a:off x="8589121" y="3638317"/>
            <a:ext cx="2485278" cy="694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&lt;&lt;interface&gt;&gt;</a:t>
            </a:r>
          </a:p>
          <a:p>
            <a:pPr algn="ctr"/>
            <a:r>
              <a:rPr kumimoji="1" lang="en-US" altLang="zh-CN" dirty="0" err="1"/>
              <a:t>ServletResponse</a:t>
            </a:r>
            <a:endParaRPr kumimoji="1" lang="en-US" altLang="zh-CN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254426F-80F8-31F4-0629-ECB7C02FA520}"/>
              </a:ext>
            </a:extLst>
          </p:cNvPr>
          <p:cNvSpPr/>
          <p:nvPr/>
        </p:nvSpPr>
        <p:spPr>
          <a:xfrm>
            <a:off x="8589121" y="5715304"/>
            <a:ext cx="2485278" cy="686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&lt;&lt;interface&gt;&gt;</a:t>
            </a:r>
          </a:p>
          <a:p>
            <a:pPr algn="ctr"/>
            <a:r>
              <a:rPr kumimoji="1" lang="en-US" altLang="zh-CN" b="1" dirty="0" err="1"/>
              <a:t>HttpServletResponse</a:t>
            </a:r>
            <a:endParaRPr kumimoji="1" lang="en-US" altLang="zh-CN" b="1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17E0328-1C4A-B22E-957F-9B92371EBC20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flipV="1">
            <a:off x="6357403" y="4334869"/>
            <a:ext cx="0" cy="1380435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464246ED-2D70-1FF4-CAB9-D93140EF1731}"/>
              </a:ext>
            </a:extLst>
          </p:cNvPr>
          <p:cNvCxnSpPr>
            <a:cxnSpLocks/>
            <a:stCxn id="31" idx="0"/>
            <a:endCxn id="30" idx="2"/>
          </p:cNvCxnSpPr>
          <p:nvPr/>
        </p:nvCxnSpPr>
        <p:spPr>
          <a:xfrm flipV="1">
            <a:off x="9831760" y="4332911"/>
            <a:ext cx="0" cy="1382393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C16720C-0192-1A02-494E-648C273CB29A}"/>
              </a:ext>
            </a:extLst>
          </p:cNvPr>
          <p:cNvSpPr txBox="1"/>
          <p:nvPr/>
        </p:nvSpPr>
        <p:spPr>
          <a:xfrm>
            <a:off x="7362417" y="4315585"/>
            <a:ext cx="78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继承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2E7A768-528D-652C-159C-75C54F034B8E}"/>
              </a:ext>
            </a:extLst>
          </p:cNvPr>
          <p:cNvSpPr txBox="1"/>
          <p:nvPr/>
        </p:nvSpPr>
        <p:spPr>
          <a:xfrm>
            <a:off x="10907665" y="4313699"/>
            <a:ext cx="78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继承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435895-0738-03D2-AB22-0DCAAEE8E06B}"/>
              </a:ext>
            </a:extLst>
          </p:cNvPr>
          <p:cNvSpPr/>
          <p:nvPr/>
        </p:nvSpPr>
        <p:spPr>
          <a:xfrm>
            <a:off x="1828800" y="5542351"/>
            <a:ext cx="9447074" cy="1013433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695050"/>
                      <a:gd name="connsiteY0" fmla="*/ 0 h 1013433"/>
                      <a:gd name="connsiteX1" fmla="*/ 473347 w 9695050"/>
                      <a:gd name="connsiteY1" fmla="*/ 0 h 1013433"/>
                      <a:gd name="connsiteX2" fmla="*/ 752792 w 9695050"/>
                      <a:gd name="connsiteY2" fmla="*/ 0 h 1013433"/>
                      <a:gd name="connsiteX3" fmla="*/ 1516990 w 9695050"/>
                      <a:gd name="connsiteY3" fmla="*/ 0 h 1013433"/>
                      <a:gd name="connsiteX4" fmla="*/ 1990337 w 9695050"/>
                      <a:gd name="connsiteY4" fmla="*/ 0 h 1013433"/>
                      <a:gd name="connsiteX5" fmla="*/ 2463683 w 9695050"/>
                      <a:gd name="connsiteY5" fmla="*/ 0 h 1013433"/>
                      <a:gd name="connsiteX6" fmla="*/ 3227881 w 9695050"/>
                      <a:gd name="connsiteY6" fmla="*/ 0 h 1013433"/>
                      <a:gd name="connsiteX7" fmla="*/ 3604277 w 9695050"/>
                      <a:gd name="connsiteY7" fmla="*/ 0 h 1013433"/>
                      <a:gd name="connsiteX8" fmla="*/ 4368475 w 9695050"/>
                      <a:gd name="connsiteY8" fmla="*/ 0 h 1013433"/>
                      <a:gd name="connsiteX9" fmla="*/ 5132674 w 9695050"/>
                      <a:gd name="connsiteY9" fmla="*/ 0 h 1013433"/>
                      <a:gd name="connsiteX10" fmla="*/ 5702971 w 9695050"/>
                      <a:gd name="connsiteY10" fmla="*/ 0 h 1013433"/>
                      <a:gd name="connsiteX11" fmla="*/ 6467169 w 9695050"/>
                      <a:gd name="connsiteY11" fmla="*/ 0 h 1013433"/>
                      <a:gd name="connsiteX12" fmla="*/ 6940515 w 9695050"/>
                      <a:gd name="connsiteY12" fmla="*/ 0 h 1013433"/>
                      <a:gd name="connsiteX13" fmla="*/ 7413862 w 9695050"/>
                      <a:gd name="connsiteY13" fmla="*/ 0 h 1013433"/>
                      <a:gd name="connsiteX14" fmla="*/ 8081109 w 9695050"/>
                      <a:gd name="connsiteY14" fmla="*/ 0 h 1013433"/>
                      <a:gd name="connsiteX15" fmla="*/ 8554456 w 9695050"/>
                      <a:gd name="connsiteY15" fmla="*/ 0 h 1013433"/>
                      <a:gd name="connsiteX16" fmla="*/ 9695050 w 9695050"/>
                      <a:gd name="connsiteY16" fmla="*/ 0 h 1013433"/>
                      <a:gd name="connsiteX17" fmla="*/ 9695050 w 9695050"/>
                      <a:gd name="connsiteY17" fmla="*/ 526985 h 1013433"/>
                      <a:gd name="connsiteX18" fmla="*/ 9695050 w 9695050"/>
                      <a:gd name="connsiteY18" fmla="*/ 1013433 h 1013433"/>
                      <a:gd name="connsiteX19" fmla="*/ 9027802 w 9695050"/>
                      <a:gd name="connsiteY19" fmla="*/ 1013433 h 1013433"/>
                      <a:gd name="connsiteX20" fmla="*/ 8651406 w 9695050"/>
                      <a:gd name="connsiteY20" fmla="*/ 1013433 h 1013433"/>
                      <a:gd name="connsiteX21" fmla="*/ 7887208 w 9695050"/>
                      <a:gd name="connsiteY21" fmla="*/ 1013433 h 1013433"/>
                      <a:gd name="connsiteX22" fmla="*/ 7316911 w 9695050"/>
                      <a:gd name="connsiteY22" fmla="*/ 1013433 h 1013433"/>
                      <a:gd name="connsiteX23" fmla="*/ 6940515 w 9695050"/>
                      <a:gd name="connsiteY23" fmla="*/ 1013433 h 1013433"/>
                      <a:gd name="connsiteX24" fmla="*/ 6370218 w 9695050"/>
                      <a:gd name="connsiteY24" fmla="*/ 1013433 h 1013433"/>
                      <a:gd name="connsiteX25" fmla="*/ 6090773 w 9695050"/>
                      <a:gd name="connsiteY25" fmla="*/ 1013433 h 1013433"/>
                      <a:gd name="connsiteX26" fmla="*/ 5811327 w 9695050"/>
                      <a:gd name="connsiteY26" fmla="*/ 1013433 h 1013433"/>
                      <a:gd name="connsiteX27" fmla="*/ 5241030 w 9695050"/>
                      <a:gd name="connsiteY27" fmla="*/ 1013433 h 1013433"/>
                      <a:gd name="connsiteX28" fmla="*/ 4864634 w 9695050"/>
                      <a:gd name="connsiteY28" fmla="*/ 1013433 h 1013433"/>
                      <a:gd name="connsiteX29" fmla="*/ 4197386 w 9695050"/>
                      <a:gd name="connsiteY29" fmla="*/ 1013433 h 1013433"/>
                      <a:gd name="connsiteX30" fmla="*/ 3820990 w 9695050"/>
                      <a:gd name="connsiteY30" fmla="*/ 1013433 h 1013433"/>
                      <a:gd name="connsiteX31" fmla="*/ 3153743 w 9695050"/>
                      <a:gd name="connsiteY31" fmla="*/ 1013433 h 1013433"/>
                      <a:gd name="connsiteX32" fmla="*/ 2874297 w 9695050"/>
                      <a:gd name="connsiteY32" fmla="*/ 1013433 h 1013433"/>
                      <a:gd name="connsiteX33" fmla="*/ 2207050 w 9695050"/>
                      <a:gd name="connsiteY33" fmla="*/ 1013433 h 1013433"/>
                      <a:gd name="connsiteX34" fmla="*/ 1830654 w 9695050"/>
                      <a:gd name="connsiteY34" fmla="*/ 1013433 h 1013433"/>
                      <a:gd name="connsiteX35" fmla="*/ 1551208 w 9695050"/>
                      <a:gd name="connsiteY35" fmla="*/ 1013433 h 1013433"/>
                      <a:gd name="connsiteX36" fmla="*/ 1174812 w 9695050"/>
                      <a:gd name="connsiteY36" fmla="*/ 1013433 h 1013433"/>
                      <a:gd name="connsiteX37" fmla="*/ 507564 w 9695050"/>
                      <a:gd name="connsiteY37" fmla="*/ 1013433 h 1013433"/>
                      <a:gd name="connsiteX38" fmla="*/ 0 w 9695050"/>
                      <a:gd name="connsiteY38" fmla="*/ 1013433 h 1013433"/>
                      <a:gd name="connsiteX39" fmla="*/ 0 w 9695050"/>
                      <a:gd name="connsiteY39" fmla="*/ 537119 h 1013433"/>
                      <a:gd name="connsiteX40" fmla="*/ 0 w 9695050"/>
                      <a:gd name="connsiteY40" fmla="*/ 0 h 10134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9695050" h="1013433" extrusionOk="0">
                        <a:moveTo>
                          <a:pt x="0" y="0"/>
                        </a:moveTo>
                        <a:cubicBezTo>
                          <a:pt x="186506" y="-18312"/>
                          <a:pt x="292566" y="36509"/>
                          <a:pt x="473347" y="0"/>
                        </a:cubicBezTo>
                        <a:cubicBezTo>
                          <a:pt x="654128" y="-36509"/>
                          <a:pt x="675403" y="27072"/>
                          <a:pt x="752792" y="0"/>
                        </a:cubicBezTo>
                        <a:cubicBezTo>
                          <a:pt x="830182" y="-27072"/>
                          <a:pt x="1307861" y="87226"/>
                          <a:pt x="1516990" y="0"/>
                        </a:cubicBezTo>
                        <a:cubicBezTo>
                          <a:pt x="1726119" y="-87226"/>
                          <a:pt x="1765104" y="11105"/>
                          <a:pt x="1990337" y="0"/>
                        </a:cubicBezTo>
                        <a:cubicBezTo>
                          <a:pt x="2215570" y="-11105"/>
                          <a:pt x="2306008" y="28474"/>
                          <a:pt x="2463683" y="0"/>
                        </a:cubicBezTo>
                        <a:cubicBezTo>
                          <a:pt x="2621358" y="-28474"/>
                          <a:pt x="2936434" y="4357"/>
                          <a:pt x="3227881" y="0"/>
                        </a:cubicBezTo>
                        <a:cubicBezTo>
                          <a:pt x="3519328" y="-4357"/>
                          <a:pt x="3425175" y="36188"/>
                          <a:pt x="3604277" y="0"/>
                        </a:cubicBezTo>
                        <a:cubicBezTo>
                          <a:pt x="3783379" y="-36188"/>
                          <a:pt x="4015620" y="46504"/>
                          <a:pt x="4368475" y="0"/>
                        </a:cubicBezTo>
                        <a:cubicBezTo>
                          <a:pt x="4721330" y="-46504"/>
                          <a:pt x="4798223" y="778"/>
                          <a:pt x="5132674" y="0"/>
                        </a:cubicBezTo>
                        <a:cubicBezTo>
                          <a:pt x="5467125" y="-778"/>
                          <a:pt x="5445067" y="36884"/>
                          <a:pt x="5702971" y="0"/>
                        </a:cubicBezTo>
                        <a:cubicBezTo>
                          <a:pt x="5960875" y="-36884"/>
                          <a:pt x="6277872" y="68796"/>
                          <a:pt x="6467169" y="0"/>
                        </a:cubicBezTo>
                        <a:cubicBezTo>
                          <a:pt x="6656466" y="-68796"/>
                          <a:pt x="6813381" y="39471"/>
                          <a:pt x="6940515" y="0"/>
                        </a:cubicBezTo>
                        <a:cubicBezTo>
                          <a:pt x="7067649" y="-39471"/>
                          <a:pt x="7181314" y="36711"/>
                          <a:pt x="7413862" y="0"/>
                        </a:cubicBezTo>
                        <a:cubicBezTo>
                          <a:pt x="7646410" y="-36711"/>
                          <a:pt x="7779717" y="65907"/>
                          <a:pt x="8081109" y="0"/>
                        </a:cubicBezTo>
                        <a:cubicBezTo>
                          <a:pt x="8382501" y="-65907"/>
                          <a:pt x="8445063" y="36240"/>
                          <a:pt x="8554456" y="0"/>
                        </a:cubicBezTo>
                        <a:cubicBezTo>
                          <a:pt x="8663849" y="-36240"/>
                          <a:pt x="9413916" y="5763"/>
                          <a:pt x="9695050" y="0"/>
                        </a:cubicBezTo>
                        <a:cubicBezTo>
                          <a:pt x="9757790" y="114627"/>
                          <a:pt x="9672284" y="294825"/>
                          <a:pt x="9695050" y="526985"/>
                        </a:cubicBezTo>
                        <a:cubicBezTo>
                          <a:pt x="9717816" y="759145"/>
                          <a:pt x="9654494" y="891816"/>
                          <a:pt x="9695050" y="1013433"/>
                        </a:cubicBezTo>
                        <a:cubicBezTo>
                          <a:pt x="9402487" y="1075126"/>
                          <a:pt x="9188129" y="946569"/>
                          <a:pt x="9027802" y="1013433"/>
                        </a:cubicBezTo>
                        <a:cubicBezTo>
                          <a:pt x="8867475" y="1080297"/>
                          <a:pt x="8755245" y="969670"/>
                          <a:pt x="8651406" y="1013433"/>
                        </a:cubicBezTo>
                        <a:cubicBezTo>
                          <a:pt x="8547567" y="1057196"/>
                          <a:pt x="8211600" y="973745"/>
                          <a:pt x="7887208" y="1013433"/>
                        </a:cubicBezTo>
                        <a:cubicBezTo>
                          <a:pt x="7562816" y="1053121"/>
                          <a:pt x="7443165" y="949837"/>
                          <a:pt x="7316911" y="1013433"/>
                        </a:cubicBezTo>
                        <a:cubicBezTo>
                          <a:pt x="7190657" y="1077029"/>
                          <a:pt x="7117675" y="1003718"/>
                          <a:pt x="6940515" y="1013433"/>
                        </a:cubicBezTo>
                        <a:cubicBezTo>
                          <a:pt x="6763355" y="1023148"/>
                          <a:pt x="6584420" y="1012755"/>
                          <a:pt x="6370218" y="1013433"/>
                        </a:cubicBezTo>
                        <a:cubicBezTo>
                          <a:pt x="6156016" y="1014111"/>
                          <a:pt x="6208916" y="993821"/>
                          <a:pt x="6090773" y="1013433"/>
                        </a:cubicBezTo>
                        <a:cubicBezTo>
                          <a:pt x="5972630" y="1033045"/>
                          <a:pt x="5898424" y="996410"/>
                          <a:pt x="5811327" y="1013433"/>
                        </a:cubicBezTo>
                        <a:cubicBezTo>
                          <a:pt x="5724230" y="1030456"/>
                          <a:pt x="5492334" y="973904"/>
                          <a:pt x="5241030" y="1013433"/>
                        </a:cubicBezTo>
                        <a:cubicBezTo>
                          <a:pt x="4989726" y="1052962"/>
                          <a:pt x="4970844" y="982575"/>
                          <a:pt x="4864634" y="1013433"/>
                        </a:cubicBezTo>
                        <a:cubicBezTo>
                          <a:pt x="4758424" y="1044291"/>
                          <a:pt x="4525010" y="960053"/>
                          <a:pt x="4197386" y="1013433"/>
                        </a:cubicBezTo>
                        <a:cubicBezTo>
                          <a:pt x="3869762" y="1066813"/>
                          <a:pt x="3998054" y="996166"/>
                          <a:pt x="3820990" y="1013433"/>
                        </a:cubicBezTo>
                        <a:cubicBezTo>
                          <a:pt x="3643926" y="1030700"/>
                          <a:pt x="3308275" y="933767"/>
                          <a:pt x="3153743" y="1013433"/>
                        </a:cubicBezTo>
                        <a:cubicBezTo>
                          <a:pt x="2999211" y="1093099"/>
                          <a:pt x="2983068" y="1005995"/>
                          <a:pt x="2874297" y="1013433"/>
                        </a:cubicBezTo>
                        <a:cubicBezTo>
                          <a:pt x="2765526" y="1020871"/>
                          <a:pt x="2481112" y="935393"/>
                          <a:pt x="2207050" y="1013433"/>
                        </a:cubicBezTo>
                        <a:cubicBezTo>
                          <a:pt x="1932988" y="1091473"/>
                          <a:pt x="1987713" y="999720"/>
                          <a:pt x="1830654" y="1013433"/>
                        </a:cubicBezTo>
                        <a:cubicBezTo>
                          <a:pt x="1673595" y="1027146"/>
                          <a:pt x="1637750" y="1008826"/>
                          <a:pt x="1551208" y="1013433"/>
                        </a:cubicBezTo>
                        <a:cubicBezTo>
                          <a:pt x="1464666" y="1018040"/>
                          <a:pt x="1357535" y="976257"/>
                          <a:pt x="1174812" y="1013433"/>
                        </a:cubicBezTo>
                        <a:cubicBezTo>
                          <a:pt x="992089" y="1050609"/>
                          <a:pt x="719062" y="943258"/>
                          <a:pt x="507564" y="1013433"/>
                        </a:cubicBezTo>
                        <a:cubicBezTo>
                          <a:pt x="296066" y="1083608"/>
                          <a:pt x="200429" y="1007503"/>
                          <a:pt x="0" y="1013433"/>
                        </a:cubicBezTo>
                        <a:cubicBezTo>
                          <a:pt x="-41361" y="801893"/>
                          <a:pt x="944" y="680791"/>
                          <a:pt x="0" y="537119"/>
                        </a:cubicBezTo>
                        <a:cubicBezTo>
                          <a:pt x="-944" y="393447"/>
                          <a:pt x="40794" y="123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6AA5DA8-262F-994A-3F55-5F77832F3737}"/>
              </a:ext>
            </a:extLst>
          </p:cNvPr>
          <p:cNvSpPr txBox="1"/>
          <p:nvPr/>
        </p:nvSpPr>
        <p:spPr>
          <a:xfrm>
            <a:off x="210482" y="5755639"/>
            <a:ext cx="1523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协议准备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模板方法设计模式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435945" y="1320369"/>
            <a:ext cx="11320109" cy="1530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模板方法模式，定义一个操作中算法的骨架，将步骤的具体实现延迟到子类中。使得子类可以在不改变一个算法的结构的情况下，就可以重定义该算法的某些特定步骤。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为什么用模板方法设计模式：因为生活中很多事物可以抽取共性，这些共性可以固化为骨架，个性的东西交给具体实现。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模板方法的优势：既统一了算法，也提供了很大的灵活性。父类模板方法确保算法结构不变，子类提供部分步骤的实现。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F0CDC2-0B1E-61C6-91A1-DCA6CFA2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37" y="3484440"/>
            <a:ext cx="2876019" cy="30046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F7E4A5-C862-48AF-2F92-D1E44065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484440"/>
            <a:ext cx="4162778" cy="29996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F33623-E7DC-493B-591D-0495164FB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394" y="3479466"/>
            <a:ext cx="3996804" cy="30046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DC2F38E-AAA1-CD3C-93E9-E9D1CA68B17C}"/>
              </a:ext>
            </a:extLst>
          </p:cNvPr>
          <p:cNvSpPr txBox="1"/>
          <p:nvPr/>
        </p:nvSpPr>
        <p:spPr>
          <a:xfrm>
            <a:off x="420337" y="3002658"/>
            <a:ext cx="2647945" cy="380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抽象类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People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6FB326-C06B-ED4F-1544-34C8A53F29C7}"/>
              </a:ext>
            </a:extLst>
          </p:cNvPr>
          <p:cNvSpPr txBox="1"/>
          <p:nvPr/>
        </p:nvSpPr>
        <p:spPr>
          <a:xfrm>
            <a:off x="4338816" y="3002658"/>
            <a:ext cx="2647945" cy="380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Student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1DDD43-2366-2850-EF97-31BF33486A34}"/>
              </a:ext>
            </a:extLst>
          </p:cNvPr>
          <p:cNvSpPr txBox="1"/>
          <p:nvPr/>
        </p:nvSpPr>
        <p:spPr>
          <a:xfrm>
            <a:off x="8585823" y="2997724"/>
            <a:ext cx="2647945" cy="380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Teacher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85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模板方法设计模式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4EFCC1-9304-5FC3-7CD7-D51B264EF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37" y="2101846"/>
            <a:ext cx="3962400" cy="2971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EBB0128-B116-3AE2-34A3-74977772939C}"/>
              </a:ext>
            </a:extLst>
          </p:cNvPr>
          <p:cNvSpPr txBox="1"/>
          <p:nvPr/>
        </p:nvSpPr>
        <p:spPr>
          <a:xfrm>
            <a:off x="1548169" y="1500088"/>
            <a:ext cx="264794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测试代码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DDAB43-399B-0644-2E04-CCBD9D9D2091}"/>
              </a:ext>
            </a:extLst>
          </p:cNvPr>
          <p:cNvSpPr txBox="1"/>
          <p:nvPr/>
        </p:nvSpPr>
        <p:spPr>
          <a:xfrm>
            <a:off x="7174265" y="1500088"/>
            <a:ext cx="264794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测试结果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1DB70DB-0937-12D6-2D02-A2192232D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101848"/>
            <a:ext cx="44069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1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</a:t>
            </a:r>
            <a:r>
              <a:rPr lang="en-US" altLang="zh-CN" dirty="0" err="1"/>
              <a:t>init</a:t>
            </a:r>
            <a:r>
              <a:rPr lang="en-US" altLang="zh-CN" dirty="0"/>
              <a:t> </a:t>
            </a:r>
            <a:r>
              <a:rPr lang="zh-CN" altLang="en-US" dirty="0"/>
              <a:t>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412256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并没实现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方法，使用的父类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GenericServlet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程序员可以选择实现无参数的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方法，实现初始化逻辑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97055F-40AB-635E-68F2-59FE900D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2" y="2696035"/>
            <a:ext cx="7366000" cy="12573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1C17B38-BBA6-2B84-F693-ECA01E6E9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74" y="4450300"/>
            <a:ext cx="7337217" cy="102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9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service </a:t>
            </a:r>
            <a:r>
              <a:rPr lang="zh-CN" altLang="en-US" dirty="0"/>
              <a:t>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064277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从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GenericServlet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继承的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AC8B55-B0CA-7725-F22A-E3A0CBD9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903210"/>
            <a:ext cx="7772400" cy="44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3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service </a:t>
            </a:r>
            <a:r>
              <a:rPr lang="zh-CN" altLang="en-US" dirty="0"/>
              <a:t>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551971"/>
            <a:ext cx="4591930" cy="337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定义的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方法，使用了模板方法设计模式。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模板方法定义了算法骨架，不同请求方法类型执行不同的分支。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程序员自定义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继承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，不去重写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方法，而是根据请求方法类型重写对应的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doXXX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31BDAF-A896-9D8F-8731-BFE4DA6D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885" y="1551971"/>
            <a:ext cx="5498514" cy="490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service </a:t>
            </a:r>
            <a:r>
              <a:rPr lang="zh-CN" altLang="en-US" dirty="0"/>
              <a:t>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416504"/>
            <a:ext cx="459193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为什么不建议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程序员重写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方法？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DC2B03-0ADF-B628-7807-1FDA37FBE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736188"/>
            <a:ext cx="7707664" cy="26404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3CB4C7B-9F12-7468-FF14-05A903457AFE}"/>
              </a:ext>
            </a:extLst>
          </p:cNvPr>
          <p:cNvSpPr txBox="1"/>
          <p:nvPr/>
        </p:nvSpPr>
        <p:spPr>
          <a:xfrm>
            <a:off x="668692" y="1879707"/>
            <a:ext cx="10586330" cy="170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方法包含请求方法类型检查的逻辑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例如，如果请求方法类型是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，但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程序员没有重写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方法，会报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405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错误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因此，正规的开发流程是，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程序员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后端程序员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定义请求方法类型，前端使用对应的类型发送请求，前后端保持一致。 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18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service </a:t>
            </a:r>
            <a:r>
              <a:rPr lang="zh-CN" altLang="en-US" dirty="0"/>
              <a:t>方法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0A0365-D45B-32A4-C2FA-41169D859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79" y="1731669"/>
            <a:ext cx="6501179" cy="45630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1E90BA-6A55-8E42-BD0F-41167D122E00}"/>
              </a:ext>
            </a:extLst>
          </p:cNvPr>
          <p:cNvSpPr txBox="1"/>
          <p:nvPr/>
        </p:nvSpPr>
        <p:spPr>
          <a:xfrm>
            <a:off x="409048" y="1619704"/>
            <a:ext cx="4591930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为什么我们自定义的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方法没有使用缓存？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517CA1-B27C-4AAC-3D69-8B10083C756C}"/>
              </a:ext>
            </a:extLst>
          </p:cNvPr>
          <p:cNvSpPr txBox="1"/>
          <p:nvPr/>
        </p:nvSpPr>
        <p:spPr>
          <a:xfrm>
            <a:off x="409048" y="2498406"/>
            <a:ext cx="4422596" cy="2947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想要自定义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要使用缓存，那么需要维护数据的最近变更时间，并告知浏览器。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这种机制比较复杂，非静态资源数据不建议使用。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我们可以使用后端缓存，不使用浏览器的缓存机制。 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7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HttpServlet</a:t>
            </a:r>
            <a:r>
              <a:rPr lang="en-US" altLang="zh-CN" dirty="0"/>
              <a:t> </a:t>
            </a:r>
            <a:r>
              <a:rPr lang="zh-CN" altLang="en-US" dirty="0"/>
              <a:t>源码解析</a:t>
            </a:r>
            <a:r>
              <a:rPr lang="en-US" altLang="zh-CN" dirty="0"/>
              <a:t> – service </a:t>
            </a:r>
            <a:r>
              <a:rPr lang="zh-CN" altLang="en-US" dirty="0"/>
              <a:t>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1E90BA-6A55-8E42-BD0F-41167D122E00}"/>
              </a:ext>
            </a:extLst>
          </p:cNvPr>
          <p:cNvSpPr txBox="1"/>
          <p:nvPr/>
        </p:nvSpPr>
        <p:spPr>
          <a:xfrm>
            <a:off x="409046" y="1412217"/>
            <a:ext cx="5596641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请求使用缓存机制说明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50A1C74-F171-54BD-19F3-B8E6E45D7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543914"/>
              </p:ext>
            </p:extLst>
          </p:nvPr>
        </p:nvGraphicFramePr>
        <p:xfrm>
          <a:off x="409046" y="3026269"/>
          <a:ext cx="1121851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87">
                  <a:extLst>
                    <a:ext uri="{9D8B030D-6E8A-4147-A177-3AD203B41FA5}">
                      <a16:colId xmlns:a16="http://schemas.microsoft.com/office/drawing/2014/main" val="1197483207"/>
                    </a:ext>
                  </a:extLst>
                </a:gridCol>
                <a:gridCol w="1683700">
                  <a:extLst>
                    <a:ext uri="{9D8B030D-6E8A-4147-A177-3AD203B41FA5}">
                      <a16:colId xmlns:a16="http://schemas.microsoft.com/office/drawing/2014/main" val="2233153843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1327562620"/>
                    </a:ext>
                  </a:extLst>
                </a:gridCol>
                <a:gridCol w="1704622">
                  <a:extLst>
                    <a:ext uri="{9D8B030D-6E8A-4147-A177-3AD203B41FA5}">
                      <a16:colId xmlns:a16="http://schemas.microsoft.com/office/drawing/2014/main" val="65239392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22160588"/>
                    </a:ext>
                  </a:extLst>
                </a:gridCol>
                <a:gridCol w="3928534">
                  <a:extLst>
                    <a:ext uri="{9D8B030D-6E8A-4147-A177-3AD203B41FA5}">
                      <a16:colId xmlns:a16="http://schemas.microsoft.com/office/drawing/2014/main" val="2936420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事件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35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en" altLang="zh-CN" sz="135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zh-CN" sz="135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35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endParaRPr lang="en" altLang="zh-CN" sz="135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是否使用缓存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58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服务端数据更新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-1 -&gt; 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更新为 </a:t>
                      </a:r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09:55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8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10:00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浏览器查询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-&gt; 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首次查询，不使用缓存。服务端将最近修改时间放入响应头中告知浏览器，浏览器发现自己维护的 </a:t>
                      </a: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不等于响应头的最近修改时间，更新 </a:t>
                      </a: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325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10:05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浏览器查询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，说明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两次查询之间数据未变更，使用缓存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36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服务端数据更新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09:55 -&gt; 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更新为 </a:t>
                      </a:r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10:08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5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10:10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浏览器查询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09:55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-&gt; 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，说明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两次查询之间数据发生了变更，不能使用缓存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2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10:15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浏览器查询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10:08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ifModifiedSince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zh-CN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zh-CN" alt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，说明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两次查询之间数据未变更，使用缓存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2385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E2CFBE0-83A3-4EFF-E68F-737E5AE62223}"/>
              </a:ext>
            </a:extLst>
          </p:cNvPr>
          <p:cNvSpPr txBox="1"/>
          <p:nvPr/>
        </p:nvSpPr>
        <p:spPr>
          <a:xfrm>
            <a:off x="409046" y="1967269"/>
            <a:ext cx="10507310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lastModified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：服务端维护的最近修改时间，数据有变更就更新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ifModifiedSince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：浏览器维护的最近修改时间，发现跟服务端返回的最新修改时间不一致时更新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30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dirty="0" err="1"/>
              <a:t>HttpServletRequest</a:t>
            </a:r>
            <a:r>
              <a:rPr lang="zh-CN" altLang="en-US" sz="3600" dirty="0"/>
              <a:t> 接口详解</a:t>
            </a:r>
            <a:r>
              <a:rPr lang="en-US" altLang="zh-CN" sz="3600" dirty="0"/>
              <a:t>-</a:t>
            </a:r>
            <a:r>
              <a:rPr lang="zh-CN" altLang="en-US" sz="3600" dirty="0"/>
              <a:t>请求对象由谁创建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1032528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思考：</a:t>
            </a:r>
            <a:r>
              <a:rPr lang="en-US" altLang="zh-CN" sz="1600" dirty="0"/>
              <a:t>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是接口，那接口的实现类是谁定义的？实现类的对象是谁创建的？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实现类由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服务器（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）定义，实现类的对象由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服务器创建并传入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但我们并不需要关心实现类，只需要面向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接口编程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思考：</a:t>
            </a:r>
            <a:r>
              <a:rPr lang="en-US" altLang="zh-CN" sz="1600" dirty="0"/>
              <a:t>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中封装了哪些信息？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封装了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请求的全部信息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客户端遵循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协议，发送的请求符合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请求格式要求，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服务器按照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请求格式解析数据并封装到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实现类的对象中，将该对象传入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5E7591-B67C-0D59-90BB-47C2BC519F77}"/>
              </a:ext>
            </a:extLst>
          </p:cNvPr>
          <p:cNvSpPr/>
          <p:nvPr/>
        </p:nvSpPr>
        <p:spPr>
          <a:xfrm>
            <a:off x="844665" y="5055560"/>
            <a:ext cx="1330589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客户端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AA9992-AC5A-4ED6-75F5-B8434B675609}"/>
              </a:ext>
            </a:extLst>
          </p:cNvPr>
          <p:cNvSpPr/>
          <p:nvPr/>
        </p:nvSpPr>
        <p:spPr>
          <a:xfrm>
            <a:off x="3763423" y="4465960"/>
            <a:ext cx="7689825" cy="1828801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695050"/>
                      <a:gd name="connsiteY0" fmla="*/ 0 h 1013433"/>
                      <a:gd name="connsiteX1" fmla="*/ 473347 w 9695050"/>
                      <a:gd name="connsiteY1" fmla="*/ 0 h 1013433"/>
                      <a:gd name="connsiteX2" fmla="*/ 752792 w 9695050"/>
                      <a:gd name="connsiteY2" fmla="*/ 0 h 1013433"/>
                      <a:gd name="connsiteX3" fmla="*/ 1516990 w 9695050"/>
                      <a:gd name="connsiteY3" fmla="*/ 0 h 1013433"/>
                      <a:gd name="connsiteX4" fmla="*/ 1990337 w 9695050"/>
                      <a:gd name="connsiteY4" fmla="*/ 0 h 1013433"/>
                      <a:gd name="connsiteX5" fmla="*/ 2463683 w 9695050"/>
                      <a:gd name="connsiteY5" fmla="*/ 0 h 1013433"/>
                      <a:gd name="connsiteX6" fmla="*/ 3227881 w 9695050"/>
                      <a:gd name="connsiteY6" fmla="*/ 0 h 1013433"/>
                      <a:gd name="connsiteX7" fmla="*/ 3604277 w 9695050"/>
                      <a:gd name="connsiteY7" fmla="*/ 0 h 1013433"/>
                      <a:gd name="connsiteX8" fmla="*/ 4368475 w 9695050"/>
                      <a:gd name="connsiteY8" fmla="*/ 0 h 1013433"/>
                      <a:gd name="connsiteX9" fmla="*/ 5132674 w 9695050"/>
                      <a:gd name="connsiteY9" fmla="*/ 0 h 1013433"/>
                      <a:gd name="connsiteX10" fmla="*/ 5702971 w 9695050"/>
                      <a:gd name="connsiteY10" fmla="*/ 0 h 1013433"/>
                      <a:gd name="connsiteX11" fmla="*/ 6467169 w 9695050"/>
                      <a:gd name="connsiteY11" fmla="*/ 0 h 1013433"/>
                      <a:gd name="connsiteX12" fmla="*/ 6940515 w 9695050"/>
                      <a:gd name="connsiteY12" fmla="*/ 0 h 1013433"/>
                      <a:gd name="connsiteX13" fmla="*/ 7413862 w 9695050"/>
                      <a:gd name="connsiteY13" fmla="*/ 0 h 1013433"/>
                      <a:gd name="connsiteX14" fmla="*/ 8081109 w 9695050"/>
                      <a:gd name="connsiteY14" fmla="*/ 0 h 1013433"/>
                      <a:gd name="connsiteX15" fmla="*/ 8554456 w 9695050"/>
                      <a:gd name="connsiteY15" fmla="*/ 0 h 1013433"/>
                      <a:gd name="connsiteX16" fmla="*/ 9695050 w 9695050"/>
                      <a:gd name="connsiteY16" fmla="*/ 0 h 1013433"/>
                      <a:gd name="connsiteX17" fmla="*/ 9695050 w 9695050"/>
                      <a:gd name="connsiteY17" fmla="*/ 526985 h 1013433"/>
                      <a:gd name="connsiteX18" fmla="*/ 9695050 w 9695050"/>
                      <a:gd name="connsiteY18" fmla="*/ 1013433 h 1013433"/>
                      <a:gd name="connsiteX19" fmla="*/ 9027802 w 9695050"/>
                      <a:gd name="connsiteY19" fmla="*/ 1013433 h 1013433"/>
                      <a:gd name="connsiteX20" fmla="*/ 8651406 w 9695050"/>
                      <a:gd name="connsiteY20" fmla="*/ 1013433 h 1013433"/>
                      <a:gd name="connsiteX21" fmla="*/ 7887208 w 9695050"/>
                      <a:gd name="connsiteY21" fmla="*/ 1013433 h 1013433"/>
                      <a:gd name="connsiteX22" fmla="*/ 7316911 w 9695050"/>
                      <a:gd name="connsiteY22" fmla="*/ 1013433 h 1013433"/>
                      <a:gd name="connsiteX23" fmla="*/ 6940515 w 9695050"/>
                      <a:gd name="connsiteY23" fmla="*/ 1013433 h 1013433"/>
                      <a:gd name="connsiteX24" fmla="*/ 6370218 w 9695050"/>
                      <a:gd name="connsiteY24" fmla="*/ 1013433 h 1013433"/>
                      <a:gd name="connsiteX25" fmla="*/ 6090773 w 9695050"/>
                      <a:gd name="connsiteY25" fmla="*/ 1013433 h 1013433"/>
                      <a:gd name="connsiteX26" fmla="*/ 5811327 w 9695050"/>
                      <a:gd name="connsiteY26" fmla="*/ 1013433 h 1013433"/>
                      <a:gd name="connsiteX27" fmla="*/ 5241030 w 9695050"/>
                      <a:gd name="connsiteY27" fmla="*/ 1013433 h 1013433"/>
                      <a:gd name="connsiteX28" fmla="*/ 4864634 w 9695050"/>
                      <a:gd name="connsiteY28" fmla="*/ 1013433 h 1013433"/>
                      <a:gd name="connsiteX29" fmla="*/ 4197386 w 9695050"/>
                      <a:gd name="connsiteY29" fmla="*/ 1013433 h 1013433"/>
                      <a:gd name="connsiteX30" fmla="*/ 3820990 w 9695050"/>
                      <a:gd name="connsiteY30" fmla="*/ 1013433 h 1013433"/>
                      <a:gd name="connsiteX31" fmla="*/ 3153743 w 9695050"/>
                      <a:gd name="connsiteY31" fmla="*/ 1013433 h 1013433"/>
                      <a:gd name="connsiteX32" fmla="*/ 2874297 w 9695050"/>
                      <a:gd name="connsiteY32" fmla="*/ 1013433 h 1013433"/>
                      <a:gd name="connsiteX33" fmla="*/ 2207050 w 9695050"/>
                      <a:gd name="connsiteY33" fmla="*/ 1013433 h 1013433"/>
                      <a:gd name="connsiteX34" fmla="*/ 1830654 w 9695050"/>
                      <a:gd name="connsiteY34" fmla="*/ 1013433 h 1013433"/>
                      <a:gd name="connsiteX35" fmla="*/ 1551208 w 9695050"/>
                      <a:gd name="connsiteY35" fmla="*/ 1013433 h 1013433"/>
                      <a:gd name="connsiteX36" fmla="*/ 1174812 w 9695050"/>
                      <a:gd name="connsiteY36" fmla="*/ 1013433 h 1013433"/>
                      <a:gd name="connsiteX37" fmla="*/ 507564 w 9695050"/>
                      <a:gd name="connsiteY37" fmla="*/ 1013433 h 1013433"/>
                      <a:gd name="connsiteX38" fmla="*/ 0 w 9695050"/>
                      <a:gd name="connsiteY38" fmla="*/ 1013433 h 1013433"/>
                      <a:gd name="connsiteX39" fmla="*/ 0 w 9695050"/>
                      <a:gd name="connsiteY39" fmla="*/ 537119 h 1013433"/>
                      <a:gd name="connsiteX40" fmla="*/ 0 w 9695050"/>
                      <a:gd name="connsiteY40" fmla="*/ 0 h 10134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9695050" h="1013433" extrusionOk="0">
                        <a:moveTo>
                          <a:pt x="0" y="0"/>
                        </a:moveTo>
                        <a:cubicBezTo>
                          <a:pt x="186506" y="-18312"/>
                          <a:pt x="292566" y="36509"/>
                          <a:pt x="473347" y="0"/>
                        </a:cubicBezTo>
                        <a:cubicBezTo>
                          <a:pt x="654128" y="-36509"/>
                          <a:pt x="675403" y="27072"/>
                          <a:pt x="752792" y="0"/>
                        </a:cubicBezTo>
                        <a:cubicBezTo>
                          <a:pt x="830182" y="-27072"/>
                          <a:pt x="1307861" y="87226"/>
                          <a:pt x="1516990" y="0"/>
                        </a:cubicBezTo>
                        <a:cubicBezTo>
                          <a:pt x="1726119" y="-87226"/>
                          <a:pt x="1765104" y="11105"/>
                          <a:pt x="1990337" y="0"/>
                        </a:cubicBezTo>
                        <a:cubicBezTo>
                          <a:pt x="2215570" y="-11105"/>
                          <a:pt x="2306008" y="28474"/>
                          <a:pt x="2463683" y="0"/>
                        </a:cubicBezTo>
                        <a:cubicBezTo>
                          <a:pt x="2621358" y="-28474"/>
                          <a:pt x="2936434" y="4357"/>
                          <a:pt x="3227881" y="0"/>
                        </a:cubicBezTo>
                        <a:cubicBezTo>
                          <a:pt x="3519328" y="-4357"/>
                          <a:pt x="3425175" y="36188"/>
                          <a:pt x="3604277" y="0"/>
                        </a:cubicBezTo>
                        <a:cubicBezTo>
                          <a:pt x="3783379" y="-36188"/>
                          <a:pt x="4015620" y="46504"/>
                          <a:pt x="4368475" y="0"/>
                        </a:cubicBezTo>
                        <a:cubicBezTo>
                          <a:pt x="4721330" y="-46504"/>
                          <a:pt x="4798223" y="778"/>
                          <a:pt x="5132674" y="0"/>
                        </a:cubicBezTo>
                        <a:cubicBezTo>
                          <a:pt x="5467125" y="-778"/>
                          <a:pt x="5445067" y="36884"/>
                          <a:pt x="5702971" y="0"/>
                        </a:cubicBezTo>
                        <a:cubicBezTo>
                          <a:pt x="5960875" y="-36884"/>
                          <a:pt x="6277872" y="68796"/>
                          <a:pt x="6467169" y="0"/>
                        </a:cubicBezTo>
                        <a:cubicBezTo>
                          <a:pt x="6656466" y="-68796"/>
                          <a:pt x="6813381" y="39471"/>
                          <a:pt x="6940515" y="0"/>
                        </a:cubicBezTo>
                        <a:cubicBezTo>
                          <a:pt x="7067649" y="-39471"/>
                          <a:pt x="7181314" y="36711"/>
                          <a:pt x="7413862" y="0"/>
                        </a:cubicBezTo>
                        <a:cubicBezTo>
                          <a:pt x="7646410" y="-36711"/>
                          <a:pt x="7779717" y="65907"/>
                          <a:pt x="8081109" y="0"/>
                        </a:cubicBezTo>
                        <a:cubicBezTo>
                          <a:pt x="8382501" y="-65907"/>
                          <a:pt x="8445063" y="36240"/>
                          <a:pt x="8554456" y="0"/>
                        </a:cubicBezTo>
                        <a:cubicBezTo>
                          <a:pt x="8663849" y="-36240"/>
                          <a:pt x="9413916" y="5763"/>
                          <a:pt x="9695050" y="0"/>
                        </a:cubicBezTo>
                        <a:cubicBezTo>
                          <a:pt x="9757790" y="114627"/>
                          <a:pt x="9672284" y="294825"/>
                          <a:pt x="9695050" y="526985"/>
                        </a:cubicBezTo>
                        <a:cubicBezTo>
                          <a:pt x="9717816" y="759145"/>
                          <a:pt x="9654494" y="891816"/>
                          <a:pt x="9695050" y="1013433"/>
                        </a:cubicBezTo>
                        <a:cubicBezTo>
                          <a:pt x="9402487" y="1075126"/>
                          <a:pt x="9188129" y="946569"/>
                          <a:pt x="9027802" y="1013433"/>
                        </a:cubicBezTo>
                        <a:cubicBezTo>
                          <a:pt x="8867475" y="1080297"/>
                          <a:pt x="8755245" y="969670"/>
                          <a:pt x="8651406" y="1013433"/>
                        </a:cubicBezTo>
                        <a:cubicBezTo>
                          <a:pt x="8547567" y="1057196"/>
                          <a:pt x="8211600" y="973745"/>
                          <a:pt x="7887208" y="1013433"/>
                        </a:cubicBezTo>
                        <a:cubicBezTo>
                          <a:pt x="7562816" y="1053121"/>
                          <a:pt x="7443165" y="949837"/>
                          <a:pt x="7316911" y="1013433"/>
                        </a:cubicBezTo>
                        <a:cubicBezTo>
                          <a:pt x="7190657" y="1077029"/>
                          <a:pt x="7117675" y="1003718"/>
                          <a:pt x="6940515" y="1013433"/>
                        </a:cubicBezTo>
                        <a:cubicBezTo>
                          <a:pt x="6763355" y="1023148"/>
                          <a:pt x="6584420" y="1012755"/>
                          <a:pt x="6370218" y="1013433"/>
                        </a:cubicBezTo>
                        <a:cubicBezTo>
                          <a:pt x="6156016" y="1014111"/>
                          <a:pt x="6208916" y="993821"/>
                          <a:pt x="6090773" y="1013433"/>
                        </a:cubicBezTo>
                        <a:cubicBezTo>
                          <a:pt x="5972630" y="1033045"/>
                          <a:pt x="5898424" y="996410"/>
                          <a:pt x="5811327" y="1013433"/>
                        </a:cubicBezTo>
                        <a:cubicBezTo>
                          <a:pt x="5724230" y="1030456"/>
                          <a:pt x="5492334" y="973904"/>
                          <a:pt x="5241030" y="1013433"/>
                        </a:cubicBezTo>
                        <a:cubicBezTo>
                          <a:pt x="4989726" y="1052962"/>
                          <a:pt x="4970844" y="982575"/>
                          <a:pt x="4864634" y="1013433"/>
                        </a:cubicBezTo>
                        <a:cubicBezTo>
                          <a:pt x="4758424" y="1044291"/>
                          <a:pt x="4525010" y="960053"/>
                          <a:pt x="4197386" y="1013433"/>
                        </a:cubicBezTo>
                        <a:cubicBezTo>
                          <a:pt x="3869762" y="1066813"/>
                          <a:pt x="3998054" y="996166"/>
                          <a:pt x="3820990" y="1013433"/>
                        </a:cubicBezTo>
                        <a:cubicBezTo>
                          <a:pt x="3643926" y="1030700"/>
                          <a:pt x="3308275" y="933767"/>
                          <a:pt x="3153743" y="1013433"/>
                        </a:cubicBezTo>
                        <a:cubicBezTo>
                          <a:pt x="2999211" y="1093099"/>
                          <a:pt x="2983068" y="1005995"/>
                          <a:pt x="2874297" y="1013433"/>
                        </a:cubicBezTo>
                        <a:cubicBezTo>
                          <a:pt x="2765526" y="1020871"/>
                          <a:pt x="2481112" y="935393"/>
                          <a:pt x="2207050" y="1013433"/>
                        </a:cubicBezTo>
                        <a:cubicBezTo>
                          <a:pt x="1932988" y="1091473"/>
                          <a:pt x="1987713" y="999720"/>
                          <a:pt x="1830654" y="1013433"/>
                        </a:cubicBezTo>
                        <a:cubicBezTo>
                          <a:pt x="1673595" y="1027146"/>
                          <a:pt x="1637750" y="1008826"/>
                          <a:pt x="1551208" y="1013433"/>
                        </a:cubicBezTo>
                        <a:cubicBezTo>
                          <a:pt x="1464666" y="1018040"/>
                          <a:pt x="1357535" y="976257"/>
                          <a:pt x="1174812" y="1013433"/>
                        </a:cubicBezTo>
                        <a:cubicBezTo>
                          <a:pt x="992089" y="1050609"/>
                          <a:pt x="719062" y="943258"/>
                          <a:pt x="507564" y="1013433"/>
                        </a:cubicBezTo>
                        <a:cubicBezTo>
                          <a:pt x="296066" y="1083608"/>
                          <a:pt x="200429" y="1007503"/>
                          <a:pt x="0" y="1013433"/>
                        </a:cubicBezTo>
                        <a:cubicBezTo>
                          <a:pt x="-41361" y="801893"/>
                          <a:pt x="944" y="680791"/>
                          <a:pt x="0" y="537119"/>
                        </a:cubicBezTo>
                        <a:cubicBezTo>
                          <a:pt x="-944" y="393447"/>
                          <a:pt x="40794" y="123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b="1" dirty="0"/>
              <a:t>服务端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F056E6-162E-8527-D477-6DF508B325D7}"/>
              </a:ext>
            </a:extLst>
          </p:cNvPr>
          <p:cNvSpPr/>
          <p:nvPr/>
        </p:nvSpPr>
        <p:spPr>
          <a:xfrm>
            <a:off x="4154278" y="5055559"/>
            <a:ext cx="1330589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Tomcat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4E9194-2B3A-DDE4-5A2C-4C3E39313818}"/>
              </a:ext>
            </a:extLst>
          </p:cNvPr>
          <p:cNvSpPr/>
          <p:nvPr/>
        </p:nvSpPr>
        <p:spPr>
          <a:xfrm>
            <a:off x="7502362" y="5055559"/>
            <a:ext cx="1330589" cy="68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Service</a:t>
            </a:r>
          </a:p>
          <a:p>
            <a:pPr algn="ctr"/>
            <a:r>
              <a:rPr kumimoji="1" lang="zh-CN" altLang="en-US" b="1" dirty="0"/>
              <a:t>方法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FF77CD5-E342-0B2D-EFB8-FF1C72E29E60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2175254" y="5399871"/>
            <a:ext cx="1979024" cy="1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8AFA1C8-136F-68F0-2C30-B914C368BED8}"/>
              </a:ext>
            </a:extLst>
          </p:cNvPr>
          <p:cNvSpPr txBox="1"/>
          <p:nvPr/>
        </p:nvSpPr>
        <p:spPr>
          <a:xfrm>
            <a:off x="2207726" y="4787264"/>
            <a:ext cx="1523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符合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请求格式的数据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23B78D-50C6-B167-F349-07D0B0124BB5}"/>
              </a:ext>
            </a:extLst>
          </p:cNvPr>
          <p:cNvSpPr/>
          <p:nvPr/>
        </p:nvSpPr>
        <p:spPr>
          <a:xfrm>
            <a:off x="2795968" y="5522515"/>
            <a:ext cx="346740" cy="324801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A7BC987-1219-9D70-ED4C-D4AA86839E9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84867" y="5399871"/>
            <a:ext cx="2017495" cy="0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2E681F4-6FFD-8500-A14A-A710A4E3A67D}"/>
              </a:ext>
            </a:extLst>
          </p:cNvPr>
          <p:cNvSpPr txBox="1"/>
          <p:nvPr/>
        </p:nvSpPr>
        <p:spPr>
          <a:xfrm>
            <a:off x="5270731" y="4785185"/>
            <a:ext cx="2417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解析数据并封装到</a:t>
            </a:r>
            <a:r>
              <a:rPr lang="en" altLang="zh-CN" sz="16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RequestFacade</a:t>
            </a:r>
            <a:r>
              <a:rPr lang="zh-CN" altLang="e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中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4F2F1C-70AB-FABC-6FB3-F7A509231701}"/>
              </a:ext>
            </a:extLst>
          </p:cNvPr>
          <p:cNvSpPr/>
          <p:nvPr/>
        </p:nvSpPr>
        <p:spPr>
          <a:xfrm>
            <a:off x="6306082" y="5522514"/>
            <a:ext cx="346740" cy="324801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04B7791-6136-15FD-5DDB-A49EC4F04D27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8832951" y="5399870"/>
            <a:ext cx="2006085" cy="1"/>
          </a:xfrm>
          <a:prstGeom prst="straightConnector1">
            <a:avLst/>
          </a:prstGeom>
          <a:ln w="25400">
            <a:solidFill>
              <a:srgbClr val="FFE7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52848E0C-1ACD-02D9-13BE-462099E7A331}"/>
              </a:ext>
            </a:extLst>
          </p:cNvPr>
          <p:cNvSpPr/>
          <p:nvPr/>
        </p:nvSpPr>
        <p:spPr>
          <a:xfrm>
            <a:off x="10839036" y="5237469"/>
            <a:ext cx="346740" cy="324801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2BA31D-7C8C-ECE8-214C-2563C2F178F8}"/>
              </a:ext>
            </a:extLst>
          </p:cNvPr>
          <p:cNvSpPr txBox="1"/>
          <p:nvPr/>
        </p:nvSpPr>
        <p:spPr>
          <a:xfrm>
            <a:off x="8585276" y="4785184"/>
            <a:ext cx="2659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面向</a:t>
            </a:r>
            <a:r>
              <a:rPr lang="en-US" altLang="zh-CN" sz="16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HttpServletRequest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接口编程获取参数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80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29437"/>
            <a:ext cx="1040570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 err="1"/>
              <a:t>HttpServletRequest</a:t>
            </a:r>
            <a:r>
              <a:rPr lang="zh-CN" altLang="en-US" sz="2400" dirty="0"/>
              <a:t> 接口详解</a:t>
            </a:r>
            <a:r>
              <a:rPr lang="en-US" altLang="zh-CN" sz="2400" dirty="0"/>
              <a:t>-</a:t>
            </a:r>
            <a:r>
              <a:rPr lang="zh-CN" altLang="en-US" sz="2400" dirty="0"/>
              <a:t>获取浏览器提交的数据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1032528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通过以下四个方法获取前端浏览器提交的数据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51F962-E038-0E83-1DDE-62047108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949773"/>
            <a:ext cx="10498810" cy="14059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55089B2-A4FB-94ED-931F-E9FD66DB2099}"/>
              </a:ext>
            </a:extLst>
          </p:cNvPr>
          <p:cNvSpPr txBox="1"/>
          <p:nvPr/>
        </p:nvSpPr>
        <p:spPr>
          <a:xfrm>
            <a:off x="668692" y="3648764"/>
            <a:ext cx="11032528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为什么参数值是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String[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]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类型？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9AA500-AEBD-DF86-9B53-2DDC8BB2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48" y="4812103"/>
            <a:ext cx="6488464" cy="14510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DEE612-9074-0C33-4627-ECF6F5165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852" y="4812103"/>
            <a:ext cx="4610100" cy="14605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8ED8963-75FF-667B-8308-68054F548EB3}"/>
              </a:ext>
            </a:extLst>
          </p:cNvPr>
          <p:cNvSpPr txBox="1"/>
          <p:nvPr/>
        </p:nvSpPr>
        <p:spPr>
          <a:xfrm>
            <a:off x="668692" y="4111968"/>
            <a:ext cx="11032528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因为提交的数据如果允许多选，值的类型就是数组。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799983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40502</TotalTime>
  <Words>931</Words>
  <Application>Microsoft Macintosh PowerPoint</Application>
  <PresentationFormat>宽屏</PresentationFormat>
  <Paragraphs>124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HttpServlet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429</cp:revision>
  <dcterms:created xsi:type="dcterms:W3CDTF">2021-12-14T08:53:33Z</dcterms:created>
  <dcterms:modified xsi:type="dcterms:W3CDTF">2023-05-05T16:08:47Z</dcterms:modified>
</cp:coreProperties>
</file>