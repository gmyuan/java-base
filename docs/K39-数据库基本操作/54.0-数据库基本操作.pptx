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24"/>
  </p:notesMasterIdLst>
  <p:sldIdLst>
    <p:sldId id="256" r:id="rId3"/>
    <p:sldId id="331" r:id="rId4"/>
    <p:sldId id="414" r:id="rId5"/>
    <p:sldId id="451" r:id="rId6"/>
    <p:sldId id="452" r:id="rId7"/>
    <p:sldId id="454" r:id="rId8"/>
    <p:sldId id="455" r:id="rId9"/>
    <p:sldId id="465" r:id="rId10"/>
    <p:sldId id="466" r:id="rId11"/>
    <p:sldId id="462" r:id="rId12"/>
    <p:sldId id="467" r:id="rId13"/>
    <p:sldId id="456" r:id="rId14"/>
    <p:sldId id="457" r:id="rId15"/>
    <p:sldId id="468" r:id="rId16"/>
    <p:sldId id="458" r:id="rId17"/>
    <p:sldId id="469" r:id="rId18"/>
    <p:sldId id="460" r:id="rId19"/>
    <p:sldId id="470" r:id="rId20"/>
    <p:sldId id="461" r:id="rId21"/>
    <p:sldId id="463" r:id="rId22"/>
    <p:sldId id="46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00" autoAdjust="0"/>
    <p:restoredTop sz="95903"/>
  </p:normalViewPr>
  <p:slideViewPr>
    <p:cSldViewPr snapToGrid="0">
      <p:cViewPr>
        <p:scale>
          <a:sx n="118" d="100"/>
          <a:sy n="118" d="100"/>
        </p:scale>
        <p:origin x="144" y="240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6/6/23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" altLang="zh-CN" dirty="0"/>
              <a:t>MySQL</a:t>
            </a:r>
            <a:r>
              <a:rPr lang="zh-CN" altLang="en-US" dirty="0"/>
              <a:t> 的基本概念和基本操作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本节课的主要内容包括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34749" y="1278854"/>
            <a:ext cx="7140473" cy="14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MySQL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的基本概念 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的基本操作 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基本操作实战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中的基本概念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337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数据库（</a:t>
            </a:r>
            <a:r>
              <a:rPr lang="en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Database</a:t>
            </a:r>
            <a:r>
              <a:rPr lang="zh-CN" altLang="en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数据库是指一组相关数据的集合，可以包含多个表。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表（</a:t>
            </a:r>
            <a:r>
              <a:rPr lang="en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Table</a:t>
            </a:r>
            <a:r>
              <a:rPr lang="zh-CN" altLang="en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表是数据库中的一个对象，由多个行和列组成，用于存储数据。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列（</a:t>
            </a:r>
            <a:r>
              <a:rPr lang="en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Column</a:t>
            </a:r>
            <a:r>
              <a:rPr lang="zh-CN" altLang="en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列是表中的一个属性，用于描述数据的特征，经常称为字段（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Field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行（</a:t>
            </a:r>
            <a:r>
              <a:rPr lang="en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Row</a:t>
            </a:r>
            <a:r>
              <a:rPr lang="zh-CN" altLang="en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行是表中的一个记录，包含多个列的值。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主键（</a:t>
            </a:r>
            <a:r>
              <a:rPr lang="en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Primary Key</a:t>
            </a:r>
            <a:r>
              <a:rPr lang="zh-CN" altLang="en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主键是表中的一个列或一组列，用于唯一标识表中的每一行数据。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索引（</a:t>
            </a:r>
            <a:r>
              <a:rPr lang="en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Index</a:t>
            </a:r>
            <a:r>
              <a:rPr lang="zh-CN" altLang="en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索引是一种数据结构，用于加快数据的查找速度。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事务（</a:t>
            </a:r>
            <a:r>
              <a:rPr lang="en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Transaction</a:t>
            </a:r>
            <a:r>
              <a:rPr lang="zh-CN" altLang="en" b="1" dirty="0">
                <a:solidFill>
                  <a:schemeClr val="bg1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事务是一组数据库操作，要么全部执行成功，要么全部回滚，用于保证数据的一致性和完整性。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80BE7DC-4F1D-9348-9F40-9AAB4F45978E}"/>
              </a:ext>
            </a:extLst>
          </p:cNvPr>
          <p:cNvSpPr/>
          <p:nvPr/>
        </p:nvSpPr>
        <p:spPr>
          <a:xfrm>
            <a:off x="668692" y="1705327"/>
            <a:ext cx="10656711" cy="43786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B524F-F5DA-CDEB-1D9E-FE7CB3AD8BF9}"/>
              </a:ext>
            </a:extLst>
          </p:cNvPr>
          <p:cNvSpPr/>
          <p:nvPr/>
        </p:nvSpPr>
        <p:spPr>
          <a:xfrm>
            <a:off x="1203590" y="2239973"/>
            <a:ext cx="5772943" cy="31527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0B4A14-85E7-5CD0-9FE7-36C2D2856934}"/>
              </a:ext>
            </a:extLst>
          </p:cNvPr>
          <p:cNvSpPr/>
          <p:nvPr/>
        </p:nvSpPr>
        <p:spPr>
          <a:xfrm>
            <a:off x="7620618" y="2239972"/>
            <a:ext cx="3060700" cy="31527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中的基本概念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6E87BA-7191-E500-C054-C922FDE67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389" y="3041183"/>
            <a:ext cx="4495800" cy="977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1E388DB-8B34-D3AF-1E46-B8B9DA635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389" y="4476200"/>
            <a:ext cx="2578100" cy="711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4A792B2-E0C0-6B30-A981-46F59DB5FA02}"/>
              </a:ext>
            </a:extLst>
          </p:cNvPr>
          <p:cNvSpPr/>
          <p:nvPr/>
        </p:nvSpPr>
        <p:spPr>
          <a:xfrm>
            <a:off x="1827389" y="2801128"/>
            <a:ext cx="1344789" cy="318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学生表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CE631E-05BE-5226-88B5-5EF3E77EFD07}"/>
              </a:ext>
            </a:extLst>
          </p:cNvPr>
          <p:cNvSpPr/>
          <p:nvPr/>
        </p:nvSpPr>
        <p:spPr>
          <a:xfrm>
            <a:off x="1827389" y="4224410"/>
            <a:ext cx="1344789" cy="318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班级表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EB6C3C-B815-B093-2F1F-C67A951772D3}"/>
              </a:ext>
            </a:extLst>
          </p:cNvPr>
          <p:cNvSpPr txBox="1"/>
          <p:nvPr/>
        </p:nvSpPr>
        <p:spPr>
          <a:xfrm>
            <a:off x="1203590" y="22884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学校数据库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486CA9-D8B0-4C1B-4A50-80CE3221AF7E}"/>
              </a:ext>
            </a:extLst>
          </p:cNvPr>
          <p:cNvSpPr txBox="1"/>
          <p:nvPr/>
        </p:nvSpPr>
        <p:spPr>
          <a:xfrm>
            <a:off x="7620618" y="22884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酒店数据库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CB6E29-C157-35AC-7971-9FC0B4C498B5}"/>
              </a:ext>
            </a:extLst>
          </p:cNvPr>
          <p:cNvSpPr txBox="1"/>
          <p:nvPr/>
        </p:nvSpPr>
        <p:spPr>
          <a:xfrm>
            <a:off x="668692" y="171685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数据库服务实例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C2DBC9-6055-937B-B50A-890DD48A937D}"/>
              </a:ext>
            </a:extLst>
          </p:cNvPr>
          <p:cNvSpPr txBox="1"/>
          <p:nvPr/>
        </p:nvSpPr>
        <p:spPr>
          <a:xfrm>
            <a:off x="2857667" y="1822816"/>
            <a:ext cx="17203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accent2"/>
                </a:solidFill>
              </a:rPr>
              <a:t>数据库 </a:t>
            </a:r>
            <a:r>
              <a:rPr kumimoji="1" lang="en-US" altLang="zh-CN" sz="1600" b="1" dirty="0">
                <a:solidFill>
                  <a:schemeClr val="accent2"/>
                </a:solidFill>
              </a:rPr>
              <a:t>Database</a:t>
            </a:r>
            <a:endParaRPr kumimoji="1" lang="zh-CN" altLang="en-US" sz="1600" b="1" dirty="0">
              <a:solidFill>
                <a:schemeClr val="accent2"/>
              </a:solidFill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41C706F-971C-6FAE-9E15-BCF361E15C79}"/>
              </a:ext>
            </a:extLst>
          </p:cNvPr>
          <p:cNvCxnSpPr/>
          <p:nvPr/>
        </p:nvCxnSpPr>
        <p:spPr>
          <a:xfrm flipH="1">
            <a:off x="2438400" y="2086189"/>
            <a:ext cx="419267" cy="297782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E511F12-CB2A-B742-BB34-5BAF802DFD4D}"/>
              </a:ext>
            </a:extLst>
          </p:cNvPr>
          <p:cNvCxnSpPr>
            <a:cxnSpLocks/>
          </p:cNvCxnSpPr>
          <p:nvPr/>
        </p:nvCxnSpPr>
        <p:spPr>
          <a:xfrm flipH="1">
            <a:off x="2974196" y="2614372"/>
            <a:ext cx="295445" cy="115069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0D2EBA7-BB56-20F0-7F5E-D462F7C0C8D8}"/>
              </a:ext>
            </a:extLst>
          </p:cNvPr>
          <p:cNvSpPr txBox="1"/>
          <p:nvPr/>
        </p:nvSpPr>
        <p:spPr>
          <a:xfrm>
            <a:off x="3269641" y="2390887"/>
            <a:ext cx="1362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accent2"/>
                </a:solidFill>
              </a:rPr>
              <a:t>数据表 </a:t>
            </a:r>
            <a:r>
              <a:rPr kumimoji="1" lang="en-US" altLang="zh-CN" sz="1600" b="1" dirty="0">
                <a:solidFill>
                  <a:schemeClr val="accent2"/>
                </a:solidFill>
              </a:rPr>
              <a:t>Table</a:t>
            </a:r>
            <a:endParaRPr kumimoji="1"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D7CD1E-0AA1-0C78-C649-ED3B50A08EA2}"/>
              </a:ext>
            </a:extLst>
          </p:cNvPr>
          <p:cNvSpPr txBox="1"/>
          <p:nvPr/>
        </p:nvSpPr>
        <p:spPr>
          <a:xfrm>
            <a:off x="6472261" y="3709680"/>
            <a:ext cx="1261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accent2"/>
                </a:solidFill>
              </a:rPr>
              <a:t>数据行 </a:t>
            </a:r>
            <a:r>
              <a:rPr kumimoji="1" lang="en-US" altLang="zh-CN" sz="1600" b="1" dirty="0">
                <a:solidFill>
                  <a:schemeClr val="accent2"/>
                </a:solidFill>
              </a:rPr>
              <a:t>Row</a:t>
            </a:r>
            <a:endParaRPr kumimoji="1"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E3BC82B-73BE-ECA0-9663-C24B11A49F23}"/>
              </a:ext>
            </a:extLst>
          </p:cNvPr>
          <p:cNvSpPr/>
          <p:nvPr/>
        </p:nvSpPr>
        <p:spPr>
          <a:xfrm>
            <a:off x="1635261" y="3709680"/>
            <a:ext cx="4844143" cy="299475"/>
          </a:xfrm>
          <a:prstGeom prst="ellipse">
            <a:avLst/>
          </a:prstGeom>
          <a:noFill/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7DC07D7-FE6C-FCFB-F956-27E0796F6FCE}"/>
              </a:ext>
            </a:extLst>
          </p:cNvPr>
          <p:cNvSpPr/>
          <p:nvPr/>
        </p:nvSpPr>
        <p:spPr>
          <a:xfrm>
            <a:off x="4582635" y="2933817"/>
            <a:ext cx="335730" cy="1290593"/>
          </a:xfrm>
          <a:prstGeom prst="ellipse">
            <a:avLst/>
          </a:prstGeom>
          <a:noFill/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1EB5B49-8A00-F631-1DE5-0E968120D019}"/>
              </a:ext>
            </a:extLst>
          </p:cNvPr>
          <p:cNvSpPr txBox="1"/>
          <p:nvPr/>
        </p:nvSpPr>
        <p:spPr>
          <a:xfrm>
            <a:off x="4680098" y="2631408"/>
            <a:ext cx="1580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chemeClr val="accent2"/>
                </a:solidFill>
              </a:rPr>
              <a:t>数据列 </a:t>
            </a:r>
            <a:r>
              <a:rPr kumimoji="1" lang="en-US" altLang="zh-CN" sz="1600" b="1" dirty="0">
                <a:solidFill>
                  <a:schemeClr val="accent2"/>
                </a:solidFill>
              </a:rPr>
              <a:t>Column</a:t>
            </a:r>
            <a:endParaRPr kumimoji="1"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0A1B0046-75C4-1546-99C7-6EF41DBA6FCA}"/>
              </a:ext>
            </a:extLst>
          </p:cNvPr>
          <p:cNvSpPr/>
          <p:nvPr/>
        </p:nvSpPr>
        <p:spPr>
          <a:xfrm>
            <a:off x="2135187" y="3262828"/>
            <a:ext cx="335730" cy="746327"/>
          </a:xfrm>
          <a:prstGeom prst="ellipse">
            <a:avLst/>
          </a:prstGeom>
          <a:noFill/>
          <a:ln w="222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9322327-20BD-31FC-2CD5-D4306A8FF591}"/>
              </a:ext>
            </a:extLst>
          </p:cNvPr>
          <p:cNvSpPr txBox="1"/>
          <p:nvPr/>
        </p:nvSpPr>
        <p:spPr>
          <a:xfrm>
            <a:off x="558929" y="3057177"/>
            <a:ext cx="12955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sz="1600" b="1" dirty="0">
                <a:solidFill>
                  <a:schemeClr val="accent2"/>
                </a:solidFill>
              </a:rPr>
              <a:t>主键 </a:t>
            </a:r>
            <a:endParaRPr kumimoji="1" lang="en-US" altLang="zh-CN" sz="1600" b="1" dirty="0">
              <a:solidFill>
                <a:schemeClr val="accent2"/>
              </a:solidFill>
            </a:endParaRPr>
          </a:p>
          <a:p>
            <a:pPr algn="r"/>
            <a:r>
              <a:rPr kumimoji="1" lang="en-US" altLang="zh-CN" sz="1600" b="1" dirty="0">
                <a:solidFill>
                  <a:schemeClr val="accent2"/>
                </a:solidFill>
              </a:rPr>
              <a:t>Primary</a:t>
            </a:r>
            <a:r>
              <a:rPr kumimoji="1" lang="zh-CN" altLang="en-US" sz="1600" b="1" dirty="0">
                <a:solidFill>
                  <a:schemeClr val="accent2"/>
                </a:solidFill>
              </a:rPr>
              <a:t> </a:t>
            </a:r>
            <a:r>
              <a:rPr kumimoji="1" lang="en-US" altLang="zh-CN" sz="1600" b="1" dirty="0">
                <a:solidFill>
                  <a:schemeClr val="accent2"/>
                </a:solidFill>
              </a:rPr>
              <a:t>Key</a:t>
            </a:r>
            <a:endParaRPr kumimoji="1" lang="zh-CN" altLang="en-US" sz="1600" b="1" dirty="0">
              <a:solidFill>
                <a:schemeClr val="accent2"/>
              </a:solidFill>
            </a:endParaRP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37E6C30-2138-3500-9FEA-5BE5931511BB}"/>
              </a:ext>
            </a:extLst>
          </p:cNvPr>
          <p:cNvCxnSpPr>
            <a:cxnSpLocks/>
          </p:cNvCxnSpPr>
          <p:nvPr/>
        </p:nvCxnSpPr>
        <p:spPr>
          <a:xfrm>
            <a:off x="1823986" y="3404274"/>
            <a:ext cx="211936" cy="12249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17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的基本操作 </a:t>
            </a:r>
            <a:r>
              <a:rPr lang="en-US" altLang="zh-CN" sz="4800" b="1" dirty="0">
                <a:latin typeface="Helvetica Neue" panose="02000503000000020004" pitchFamily="2" charset="0"/>
              </a:rPr>
              <a:t>-</a:t>
            </a:r>
            <a:r>
              <a:rPr lang="zh-CN" altLang="en-US" sz="4800" b="1" dirty="0">
                <a:latin typeface="Helvetica Neue" panose="02000503000000020004" pitchFamily="2" charset="0"/>
              </a:rPr>
              <a:t> </a:t>
            </a:r>
            <a:r>
              <a:rPr lang="en-US" altLang="zh-CN" sz="4800" b="1" dirty="0">
                <a:latin typeface="Helvetica Neue" panose="02000503000000020004" pitchFamily="2" charset="0"/>
              </a:rPr>
              <a:t>DDL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3007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DDL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是指数据定义语言（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Data Definition Language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），用于定义数据库对象（如表、视图、索引等）的结构和属性。常见的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DDL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语句包括以下几种：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CREATE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：用于创建数据库对象，如创建表、视图、索引等。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ALTER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：用于修改数据库对象的结构和属性，如修改表结构、添加列、删除列等。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DROP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：用于删除数据库对象，如删除表、视图、索引等。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TRUNCATE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：用于清空表中的数据，但不删除表本身。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RENAME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：用于重命名数据库对象，如重命名表、视图等。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COMMENT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：用于添加注释，如添加表、列、视图等的注释。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54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的基本操作 </a:t>
            </a:r>
            <a:r>
              <a:rPr lang="en-US" altLang="zh-CN" sz="4800" b="1" dirty="0">
                <a:latin typeface="Helvetica Neue" panose="02000503000000020004" pitchFamily="2" charset="0"/>
              </a:rPr>
              <a:t>-</a:t>
            </a:r>
            <a:r>
              <a:rPr lang="zh-CN" altLang="en-US" sz="4800" b="1" dirty="0">
                <a:latin typeface="Helvetica Neue" panose="02000503000000020004" pitchFamily="2" charset="0"/>
              </a:rPr>
              <a:t> </a:t>
            </a:r>
            <a:r>
              <a:rPr lang="en-US" altLang="zh-CN" sz="4800" b="1" dirty="0">
                <a:latin typeface="Helvetica Neue" panose="02000503000000020004" pitchFamily="2" charset="0"/>
              </a:rPr>
              <a:t>DML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263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DML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是指数据操作语言（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Data Manipulation Language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），用于对数据库中的数据进行操作，常见的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DML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语句包括以下几种：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SELECT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用于查询数据库中的数据，可以指定查询的列、条件、排序等。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INSERT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用于向数据库中插入新的数据，可以指定插入的列和值。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UPDATE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用于修改数据库中的数据，可以指定修改的列和值、条件等。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DELETE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用于删除数据库中的数据，可以指定删除的条件。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即我们常说的增删改查，英文是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CRUD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Create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（增加）、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Retrieve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（查询）、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Update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（修改）、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Delete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（删除）。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616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2269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1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步：使用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root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用户登陆数据库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" altLang="zh-CN" sz="16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mysql</a:t>
            </a:r>
            <a:r>
              <a:rPr lang="en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-</a:t>
            </a:r>
            <a:r>
              <a:rPr lang="en" altLang="zh-CN" sz="16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uroot</a:t>
            </a:r>
            <a:r>
              <a:rPr lang="en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–p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第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步：查询当前数据库服务实例中有哪些数据库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show databases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第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步：创建数据库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create database </a:t>
            </a:r>
            <a:r>
              <a:rPr lang="en-US" altLang="zh-CN" sz="16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school_database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第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步：使用数据库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use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school_database</a:t>
            </a:r>
            <a:r>
              <a:rPr lang="en-US" altLang="zh-CN" sz="1600" b="1" dirty="0">
                <a:solidFill>
                  <a:srgbClr val="FFE79A"/>
                </a:solidFill>
                <a:latin typeface="Menlo" panose="020B0609030804020204" pitchFamily="49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第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步：查看当前数据库中的表 </a:t>
            </a:r>
            <a:r>
              <a:rPr lang="en-US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show tables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第</a:t>
            </a:r>
            <a:r>
              <a:rPr lang="en-US" altLang="zh-CN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zh-CN" altLang="en-US" sz="1600" b="1" dirty="0">
                <a:solidFill>
                  <a:srgbClr val="FFE79A"/>
                </a:solidFill>
                <a:effectLst/>
                <a:latin typeface="Menlo" panose="020B0609030804020204" pitchFamily="49" charset="0"/>
              </a:rPr>
              <a:t>步：创建数据表</a:t>
            </a:r>
            <a:endParaRPr lang="en" altLang="zh-CN" sz="1600" b="1" dirty="0">
              <a:solidFill>
                <a:srgbClr val="FFE79A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39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3488AD-2FDF-94A0-4D26-2DEBB9A02E92}"/>
              </a:ext>
            </a:extLst>
          </p:cNvPr>
          <p:cNvSpPr txBox="1"/>
          <p:nvPr/>
        </p:nvSpPr>
        <p:spPr>
          <a:xfrm>
            <a:off x="668692" y="1464343"/>
            <a:ext cx="4208108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创建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MySQL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表的通用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SQL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语法</a:t>
            </a:r>
            <a:endParaRPr lang="en" altLang="zh-CN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BF00AC3-5165-6019-3266-3146E1AC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45" y="2206172"/>
            <a:ext cx="6963946" cy="272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7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3488AD-2FDF-94A0-4D26-2DEBB9A02E92}"/>
              </a:ext>
            </a:extLst>
          </p:cNvPr>
          <p:cNvSpPr txBox="1"/>
          <p:nvPr/>
        </p:nvSpPr>
        <p:spPr>
          <a:xfrm>
            <a:off x="668692" y="1317380"/>
            <a:ext cx="3533194" cy="464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例子：创建学生信息表</a:t>
            </a:r>
            <a:endParaRPr lang="en" altLang="zh-CN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B8C8D3B-1155-1D8B-FD6C-E4E6FCB2F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200" y="1953291"/>
            <a:ext cx="5353043" cy="205052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66FF697-8045-EC2A-A8B0-740EE49944CB}"/>
              </a:ext>
            </a:extLst>
          </p:cNvPr>
          <p:cNvSpPr txBox="1"/>
          <p:nvPr/>
        </p:nvSpPr>
        <p:spPr>
          <a:xfrm>
            <a:off x="5305564" y="1477706"/>
            <a:ext cx="50177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定义列为自增的属性，一般用于主键，数值会自动加</a:t>
            </a:r>
            <a:r>
              <a:rPr lang="en-US" altLang="zh-CN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1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C1374055-B820-632D-1B15-B3383865362F}"/>
              </a:ext>
            </a:extLst>
          </p:cNvPr>
          <p:cNvCxnSpPr>
            <a:cxnSpLocks/>
          </p:cNvCxnSpPr>
          <p:nvPr/>
        </p:nvCxnSpPr>
        <p:spPr>
          <a:xfrm flipH="1">
            <a:off x="5125949" y="1838295"/>
            <a:ext cx="359229" cy="350953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ADF29513-7F77-6919-A22E-410ADF98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267" y="4566226"/>
            <a:ext cx="6692900" cy="330200"/>
          </a:xfrm>
          <a:prstGeom prst="rect">
            <a:avLst/>
          </a:prstGeom>
        </p:spPr>
      </p:pic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1F0EF9A8-F4F9-F9A4-B931-F67FAC490BE7}"/>
              </a:ext>
            </a:extLst>
          </p:cNvPr>
          <p:cNvCxnSpPr>
            <a:cxnSpLocks/>
          </p:cNvCxnSpPr>
          <p:nvPr/>
        </p:nvCxnSpPr>
        <p:spPr>
          <a:xfrm flipV="1">
            <a:off x="2044180" y="3626551"/>
            <a:ext cx="464847" cy="74303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BD2ADB9-859A-9191-8CBB-2F8983EE1527}"/>
              </a:ext>
            </a:extLst>
          </p:cNvPr>
          <p:cNvSpPr txBox="1"/>
          <p:nvPr/>
        </p:nvSpPr>
        <p:spPr>
          <a:xfrm>
            <a:off x="880767" y="360536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指定主键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8F38D03-CADC-02C5-099A-0A0ABD9D7C8F}"/>
              </a:ext>
            </a:extLst>
          </p:cNvPr>
          <p:cNvCxnSpPr>
            <a:cxnSpLocks/>
          </p:cNvCxnSpPr>
          <p:nvPr/>
        </p:nvCxnSpPr>
        <p:spPr>
          <a:xfrm>
            <a:off x="2580514" y="4841124"/>
            <a:ext cx="671803" cy="872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ADC30198-6C65-5B12-796B-7C4D073F2C59}"/>
              </a:ext>
            </a:extLst>
          </p:cNvPr>
          <p:cNvCxnSpPr>
            <a:cxnSpLocks/>
          </p:cNvCxnSpPr>
          <p:nvPr/>
        </p:nvCxnSpPr>
        <p:spPr>
          <a:xfrm>
            <a:off x="3527572" y="4841124"/>
            <a:ext cx="1219199" cy="0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56406E0A-A6D6-A0F0-68C0-7EC642789E94}"/>
              </a:ext>
            </a:extLst>
          </p:cNvPr>
          <p:cNvCxnSpPr>
            <a:cxnSpLocks/>
          </p:cNvCxnSpPr>
          <p:nvPr/>
        </p:nvCxnSpPr>
        <p:spPr>
          <a:xfrm>
            <a:off x="4901505" y="4845941"/>
            <a:ext cx="879409" cy="0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5117AFC-D51C-7B3C-1349-01A59ADF6129}"/>
              </a:ext>
            </a:extLst>
          </p:cNvPr>
          <p:cNvCxnSpPr>
            <a:cxnSpLocks/>
          </p:cNvCxnSpPr>
          <p:nvPr/>
        </p:nvCxnSpPr>
        <p:spPr>
          <a:xfrm>
            <a:off x="5881219" y="4841124"/>
            <a:ext cx="1412809" cy="0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8724EB58-DECA-087D-3858-81412FF6DFD4}"/>
              </a:ext>
            </a:extLst>
          </p:cNvPr>
          <p:cNvCxnSpPr>
            <a:cxnSpLocks/>
          </p:cNvCxnSpPr>
          <p:nvPr/>
        </p:nvCxnSpPr>
        <p:spPr>
          <a:xfrm>
            <a:off x="7426991" y="4841124"/>
            <a:ext cx="1412809" cy="0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BD555B38-E12D-4B8F-8D66-6E6ACD70AAAA}"/>
              </a:ext>
            </a:extLst>
          </p:cNvPr>
          <p:cNvCxnSpPr>
            <a:cxnSpLocks/>
          </p:cNvCxnSpPr>
          <p:nvPr/>
        </p:nvCxnSpPr>
        <p:spPr>
          <a:xfrm flipV="1">
            <a:off x="2651794" y="4868775"/>
            <a:ext cx="264621" cy="198494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BC37F342-F5DC-77D8-2E44-56AF44880B20}"/>
              </a:ext>
            </a:extLst>
          </p:cNvPr>
          <p:cNvCxnSpPr>
            <a:cxnSpLocks/>
          </p:cNvCxnSpPr>
          <p:nvPr/>
        </p:nvCxnSpPr>
        <p:spPr>
          <a:xfrm flipV="1">
            <a:off x="3800395" y="4868774"/>
            <a:ext cx="346106" cy="247249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6A0CE62-1295-C098-23D4-D27C94B96B86}"/>
              </a:ext>
            </a:extLst>
          </p:cNvPr>
          <p:cNvCxnSpPr>
            <a:cxnSpLocks/>
          </p:cNvCxnSpPr>
          <p:nvPr/>
        </p:nvCxnSpPr>
        <p:spPr>
          <a:xfrm flipV="1">
            <a:off x="5285915" y="4882600"/>
            <a:ext cx="55294" cy="209962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F01B36C-6592-7D61-BA00-66062742675C}"/>
              </a:ext>
            </a:extLst>
          </p:cNvPr>
          <p:cNvCxnSpPr>
            <a:cxnSpLocks/>
          </p:cNvCxnSpPr>
          <p:nvPr/>
        </p:nvCxnSpPr>
        <p:spPr>
          <a:xfrm flipH="1" flipV="1">
            <a:off x="6617171" y="4875687"/>
            <a:ext cx="54145" cy="216875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D40A6828-29B8-51D5-CB2E-C6A1600BF377}"/>
              </a:ext>
            </a:extLst>
          </p:cNvPr>
          <p:cNvCxnSpPr>
            <a:cxnSpLocks/>
          </p:cNvCxnSpPr>
          <p:nvPr/>
        </p:nvCxnSpPr>
        <p:spPr>
          <a:xfrm flipH="1" flipV="1">
            <a:off x="8133395" y="4868774"/>
            <a:ext cx="215948" cy="247249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053362C4-8B60-F600-3141-4EF647B4FE1C}"/>
              </a:ext>
            </a:extLst>
          </p:cNvPr>
          <p:cNvSpPr txBox="1"/>
          <p:nvPr/>
        </p:nvSpPr>
        <p:spPr>
          <a:xfrm>
            <a:off x="1878907" y="509803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字段名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9537F35-A539-CEAC-02F2-41E89E40E837}"/>
              </a:ext>
            </a:extLst>
          </p:cNvPr>
          <p:cNvSpPr txBox="1"/>
          <p:nvPr/>
        </p:nvSpPr>
        <p:spPr>
          <a:xfrm>
            <a:off x="3072363" y="510624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字段类型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2A5647A-F0E7-B011-6E9C-D73D8CB47CBF}"/>
              </a:ext>
            </a:extLst>
          </p:cNvPr>
          <p:cNvSpPr txBox="1"/>
          <p:nvPr/>
        </p:nvSpPr>
        <p:spPr>
          <a:xfrm>
            <a:off x="4223187" y="5106245"/>
            <a:ext cx="1909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属性</a:t>
            </a:r>
            <a:r>
              <a:rPr lang="en-US" altLang="zh-CN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-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是否可以为空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3F87ED4-0A15-D0E6-A274-4699E5352339}"/>
              </a:ext>
            </a:extLst>
          </p:cNvPr>
          <p:cNvSpPr txBox="1"/>
          <p:nvPr/>
        </p:nvSpPr>
        <p:spPr>
          <a:xfrm>
            <a:off x="6419299" y="5106245"/>
            <a:ext cx="1293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属性</a:t>
            </a:r>
            <a:r>
              <a:rPr lang="en-US" altLang="zh-CN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-</a:t>
            </a:r>
            <a:r>
              <a:rPr lang="zh-CN" altLang="en-US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默认值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C21A971-F2A4-2401-BAC7-20A12765C8FC}"/>
              </a:ext>
            </a:extLst>
          </p:cNvPr>
          <p:cNvSpPr txBox="1"/>
          <p:nvPr/>
        </p:nvSpPr>
        <p:spPr>
          <a:xfrm>
            <a:off x="8218076" y="509325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注释</a:t>
            </a: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F9422C4F-341F-AD91-2118-AC942B6D4B3A}"/>
              </a:ext>
            </a:extLst>
          </p:cNvPr>
          <p:cNvCxnSpPr>
            <a:cxnSpLocks/>
          </p:cNvCxnSpPr>
          <p:nvPr/>
        </p:nvCxnSpPr>
        <p:spPr>
          <a:xfrm flipV="1">
            <a:off x="3245054" y="3912326"/>
            <a:ext cx="54755" cy="237403"/>
          </a:xfrm>
          <a:prstGeom prst="straightConnector1">
            <a:avLst/>
          </a:prstGeom>
          <a:ln w="38100" cap="sq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810B12F-CA41-F99B-02CB-42F03AD21462}"/>
              </a:ext>
            </a:extLst>
          </p:cNvPr>
          <p:cNvSpPr txBox="1"/>
          <p:nvPr/>
        </p:nvSpPr>
        <p:spPr>
          <a:xfrm>
            <a:off x="2016123" y="4152203"/>
            <a:ext cx="3225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现在存储引擎主流都使用 </a:t>
            </a:r>
            <a:r>
              <a:rPr lang="en-US" altLang="zh-CN" sz="1600" b="1" dirty="0" err="1">
                <a:solidFill>
                  <a:schemeClr val="accent2"/>
                </a:solidFill>
                <a:latin typeface="Helvetica Neue" panose="02000503000000020004" pitchFamily="2" charset="0"/>
              </a:rPr>
              <a:t>InnoDB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A3091D4-9F0C-608E-888D-DD1EB2CE0A28}"/>
              </a:ext>
            </a:extLst>
          </p:cNvPr>
          <p:cNvSpPr txBox="1"/>
          <p:nvPr/>
        </p:nvSpPr>
        <p:spPr>
          <a:xfrm>
            <a:off x="668692" y="5359492"/>
            <a:ext cx="9562447" cy="1160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中字段命名不同于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程序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程序中变量常用驼峰命名法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camel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case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，例如 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favoriteClass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MySQL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字段常用蛇形命名法 </a:t>
            </a:r>
            <a:r>
              <a:rPr lang="en-US" altLang="zh-CN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snake case</a:t>
            </a:r>
            <a:r>
              <a:rPr lang="zh-CN" altLang="en-US" sz="1600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（单词之间用下划线分隔），例如 </a:t>
            </a:r>
            <a:r>
              <a:rPr lang="en-US" altLang="zh-CN" sz="1600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favorite_class</a:t>
            </a:r>
            <a:endParaRPr lang="en-US" altLang="zh-CN" sz="1600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662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359488"/>
            <a:ext cx="10721798" cy="419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MySQL</a:t>
            </a:r>
            <a:r>
              <a:rPr lang="zh-CN" altLang="e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的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数据类型 </a:t>
            </a:r>
            <a:endParaRPr lang="en" altLang="zh-CN" sz="1600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3488AD-2FDF-94A0-4D26-2DEBB9A02E92}"/>
              </a:ext>
            </a:extLst>
          </p:cNvPr>
          <p:cNvSpPr txBox="1"/>
          <p:nvPr/>
        </p:nvSpPr>
        <p:spPr>
          <a:xfrm>
            <a:off x="668692" y="1820813"/>
            <a:ext cx="11218508" cy="2638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整数类型（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Integer Types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包括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TINYINT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SMALLINT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MEDIUMINT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BIGINT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等，用于存储整数。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浮点数类型（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Floating-Point Types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包括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FLOAT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DOUBLE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等，用于存储浮点数。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定点数类型（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Fixed-Point Types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包括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DECIMAL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NUMERIC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等，用于存储精确的小数。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字符串类型（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String Types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包括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CHAR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VARCHAR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TEXT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BLOB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等，用于存储字符串或二进制数据。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日期和时间类型（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Date and Time Types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包括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DATE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TIME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DATETIME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TIMESTAMP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等，用于存储日期和时间。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枚举类型（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Enumeration Types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用于存储枚举值。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集合类型（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Set Types</a:t>
            </a:r>
            <a:r>
              <a:rPr lang="zh-CN" altLang="e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）：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用于存储一组可能的值。</a:t>
            </a:r>
            <a:endParaRPr lang="en" altLang="zh-CN" sz="1600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A48481-FA5A-F3AC-2F9E-3A336453645A}"/>
              </a:ext>
            </a:extLst>
          </p:cNvPr>
          <p:cNvSpPr txBox="1"/>
          <p:nvPr/>
        </p:nvSpPr>
        <p:spPr>
          <a:xfrm>
            <a:off x="668692" y="4458843"/>
            <a:ext cx="10721798" cy="419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MySQL</a:t>
            </a:r>
            <a:r>
              <a:rPr lang="zh-CN" altLang="en-US" sz="1600" b="1" dirty="0">
                <a:solidFill>
                  <a:schemeClr val="bg1"/>
                </a:solidFill>
                <a:effectLst/>
                <a:latin typeface="Menlo" panose="020B0609030804020204" pitchFamily="49" charset="0"/>
              </a:rPr>
              <a:t>常用的数据类型 </a:t>
            </a:r>
            <a:endParaRPr lang="en" altLang="zh-CN" sz="1600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6A9588-4C4C-25F8-A435-622D468C3D8C}"/>
              </a:ext>
            </a:extLst>
          </p:cNvPr>
          <p:cNvSpPr txBox="1"/>
          <p:nvPr/>
        </p:nvSpPr>
        <p:spPr>
          <a:xfrm>
            <a:off x="668692" y="4878060"/>
            <a:ext cx="11218508" cy="1522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数字常用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INT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或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BIGINT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存储，不建议用小数，小数可能造成精度丢失。解决方案是将小数转为整数（最小单位），例如钱转成单位“分”，重量转成单位“微克”。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字符串常用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VARCHAR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，可变长度字符串，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VARCHAR(256)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表示这个字段可以最多存储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256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个字符。</a:t>
            </a:r>
            <a:endParaRPr lang="en" altLang="zh-CN" sz="1600" b="1" dirty="0">
              <a:solidFill>
                <a:schemeClr val="bg1"/>
              </a:solidFill>
              <a:latin typeface="Menlo" panose="020B0609030804020204" pitchFamily="49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" sz="1600" b="1" dirty="0">
                <a:solidFill>
                  <a:srgbClr val="FFE79A"/>
                </a:solidFill>
                <a:latin typeface="Menlo" panose="020B0609030804020204" pitchFamily="49" charset="0"/>
              </a:rPr>
              <a:t>时间</a:t>
            </a:r>
            <a:r>
              <a:rPr lang="zh-CN" altLang="en-US" sz="1600" b="1" dirty="0">
                <a:solidFill>
                  <a:srgbClr val="FFE79A"/>
                </a:solidFill>
                <a:latin typeface="Menlo" panose="020B0609030804020204" pitchFamily="49" charset="0"/>
              </a:rPr>
              <a:t>常用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DATETIME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或 </a:t>
            </a:r>
            <a:r>
              <a:rPr lang="en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TIMESTAMP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，或者用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BIGINT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存储毫秒时间戳。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475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48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7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步：向数据表中插入数据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插入单条数据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插入多条数据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" altLang="zh-CN" sz="1600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9E850C-B026-10F3-533B-35A84D716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945" y="2545070"/>
            <a:ext cx="3886730" cy="111954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203BDE6-B54C-6668-EB06-5ACFF8B0A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562" y="2545070"/>
            <a:ext cx="5331493" cy="11189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E192B08-BDFB-73B7-7BD4-BD50DB5AC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945" y="4581032"/>
            <a:ext cx="3580884" cy="17167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3987B36-8D3C-B16D-1EED-DF27596BB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082" y="4581032"/>
            <a:ext cx="6140673" cy="143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0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1157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7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步：向数据表中插入数据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插入数据时，有些字段不能为空且没有默认值，则必须要设置值，否则会无法插入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" altLang="zh-CN" sz="1600" b="1" dirty="0">
              <a:solidFill>
                <a:schemeClr val="bg1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0A637F-E782-0D2A-48BA-107A0F446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72" y="2756593"/>
            <a:ext cx="4869831" cy="91862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BE83398-16FD-D1E4-D2F5-F7BA47533BA4}"/>
              </a:ext>
            </a:extLst>
          </p:cNvPr>
          <p:cNvSpPr txBox="1"/>
          <p:nvPr/>
        </p:nvSpPr>
        <p:spPr>
          <a:xfrm>
            <a:off x="562140" y="2305139"/>
            <a:ext cx="4596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age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无默认值，插入时没有给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age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赋值，插入失败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17862EA-9F0B-E4C1-B58D-6D74217B5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4349010"/>
            <a:ext cx="3893610" cy="19150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A89B15A-9A77-4B5B-F5B9-E3480824F819}"/>
              </a:ext>
            </a:extLst>
          </p:cNvPr>
          <p:cNvSpPr txBox="1"/>
          <p:nvPr/>
        </p:nvSpPr>
        <p:spPr>
          <a:xfrm>
            <a:off x="562140" y="3842838"/>
            <a:ext cx="6506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country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有默认值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’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中国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’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，插入时没有给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country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字段赋值，使用默认值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E19CA5B-BFB9-B85D-77F9-4D091AA21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771" y="2768924"/>
            <a:ext cx="5249297" cy="91862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BB48091-AD5E-BF26-228A-AB4ABE075997}"/>
              </a:ext>
            </a:extLst>
          </p:cNvPr>
          <p:cNvSpPr txBox="1"/>
          <p:nvPr/>
        </p:nvSpPr>
        <p:spPr>
          <a:xfrm>
            <a:off x="6261532" y="2305139"/>
            <a:ext cx="5331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i="0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不能给 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not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null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 字段赋值为 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null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，即使这个字段有默认值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03FD7E-7A7D-DA0C-58C9-10B6EA231FD0}"/>
              </a:ext>
            </a:extLst>
          </p:cNvPr>
          <p:cNvSpPr txBox="1"/>
          <p:nvPr/>
        </p:nvSpPr>
        <p:spPr>
          <a:xfrm>
            <a:off x="5549403" y="4349010"/>
            <a:ext cx="5973905" cy="1899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思考：为什么我们插入数据时不给 </a:t>
            </a: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字段赋值？</a:t>
            </a:r>
            <a:endParaRPr lang="en-US" altLang="zh-CN" sz="1600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是主键，主键不能够重复，自己给主键赋值可能出现重复；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我们将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设置为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auto_increment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，不赋值则使用默认值，每次自增，保证了主键不重复，这是常用的主键解决方案；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如果不希望使用数据库自增主键，需要使用分布式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生成器。 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151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398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8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步：从数据表中查询数据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）基本的查询语法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2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）返回部分字段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3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）返回所有字段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C48919-EEA3-442D-A65F-B74FB8AA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42" y="3662667"/>
            <a:ext cx="4061466" cy="12759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2A6613-F4CE-B1F3-CA83-69F9AE97C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41" y="5383391"/>
            <a:ext cx="4089281" cy="119157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63045BD-CCFD-F14F-2FB5-533CF17C98A5}"/>
              </a:ext>
            </a:extLst>
          </p:cNvPr>
          <p:cNvSpPr txBox="1"/>
          <p:nvPr/>
        </p:nvSpPr>
        <p:spPr>
          <a:xfrm>
            <a:off x="5427308" y="1816673"/>
            <a:ext cx="6096000" cy="295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4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）使用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where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语句过滤符合条件的数据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5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order by 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对返回结果进行排序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可以根据一个字段排序，也可以根据多个字段排序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可以指定升序（</a:t>
            </a:r>
            <a:r>
              <a:rPr lang="en-US" altLang="zh-CN" sz="14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asc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）或降序（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desc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），默认为升序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F4013E3-0569-FDB6-0327-B1E038A9B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30564"/>
            <a:ext cx="4628800" cy="12920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8A4C73E-7D68-F598-89FD-C612F13CB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011" y="2187484"/>
            <a:ext cx="4350818" cy="96023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F79DA4E-63D5-212B-59AB-6E2931E06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867966"/>
            <a:ext cx="4757057" cy="142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67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139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8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步：从数据表中查询数据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6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）使用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limit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offset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限制数据的返回条数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limit 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设定返回的记录数，不设置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limit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返回所有符合条件的数据；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offset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设定开始查询的数据偏移量。默认情况下偏移量为 </a:t>
            </a:r>
            <a:r>
              <a:rPr lang="en-US" altLang="zh-CN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0</a:t>
            </a:r>
            <a:r>
              <a:rPr lang="zh-CN" altLang="en-US" sz="1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sz="14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8149F7D-1698-B106-5323-99F281882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91" y="2882285"/>
            <a:ext cx="6069840" cy="15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01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336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9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步：更新数据表中的数据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更新基本语法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只更新符合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条件的数据行，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语句不是必填，但强烈建议填写，没有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语句则全表更新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9696DED-8409-22EA-3566-2E807DD8E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2277182"/>
            <a:ext cx="5473700" cy="901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2A68B0-D8C3-ABB0-0086-5268E3B8D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3756069"/>
            <a:ext cx="5499547" cy="196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22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336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10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步：删除数据表中的数据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删除基本语法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只删除符合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条件的数据行，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语句不是必填，但强烈建议填写，没有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where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语句则全表删除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216F14-987F-0F86-C83C-DBE121AF3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0" y="2400199"/>
            <a:ext cx="3302000" cy="685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7BAD7D-CD9E-F368-071F-EC662488F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3838619"/>
            <a:ext cx="58801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03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3738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11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步：修改表结构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添加字段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2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2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lvl="2">
              <a:lnSpc>
                <a:spcPct val="150000"/>
              </a:lnSpc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删除字段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D1AC26A-C6E5-D9F7-10E7-926977816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3" y="2400300"/>
            <a:ext cx="4006516" cy="1409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D23FA82-0779-9699-8A2F-59840B8E2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539" y="2400300"/>
            <a:ext cx="5482367" cy="15567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F16FA7D-02F8-259F-250C-1FBA4A9A1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539" y="4512120"/>
            <a:ext cx="5393090" cy="19331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5C7BBB-693D-7196-11F0-C15E4171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543" y="4512120"/>
            <a:ext cx="3797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03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2260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11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步：修改表结构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变更字段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变更字段可以用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modify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change</a:t>
            </a: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modify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不可以修改字段名称，只能修改字段类型、属性、注释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1200150" lvl="2" indent="-285750">
              <a:lnSpc>
                <a:spcPct val="150000"/>
              </a:lnSpc>
              <a:buFontTx/>
              <a:buChar char="-"/>
            </a:pP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change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可以修改字段名称、类型、属性、注释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86C5728-6B67-477A-6489-042E65418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70" y="3975224"/>
            <a:ext cx="4851791" cy="22399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0B60B62-5942-D46C-987B-FADE4CB81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75224"/>
            <a:ext cx="5459186" cy="224249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01D007E-9A5F-8FE9-820D-49D787D4AB41}"/>
              </a:ext>
            </a:extLst>
          </p:cNvPr>
          <p:cNvSpPr txBox="1"/>
          <p:nvPr/>
        </p:nvSpPr>
        <p:spPr>
          <a:xfrm>
            <a:off x="413470" y="3493131"/>
            <a:ext cx="3836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modify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 修改字段类型、属性、注释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CED145-EB15-E1B0-189E-E736CCFE6610}"/>
              </a:ext>
            </a:extLst>
          </p:cNvPr>
          <p:cNvSpPr txBox="1"/>
          <p:nvPr/>
        </p:nvSpPr>
        <p:spPr>
          <a:xfrm>
            <a:off x="6029591" y="3493131"/>
            <a:ext cx="4507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使用 </a:t>
            </a:r>
            <a:r>
              <a:rPr lang="en-US" altLang="zh-CN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change</a:t>
            </a:r>
            <a:r>
              <a:rPr lang="zh-CN" altLang="en-US" sz="1600" b="1" dirty="0">
                <a:solidFill>
                  <a:schemeClr val="accent2"/>
                </a:solidFill>
                <a:latin typeface="Helvetica Neue" panose="02000503000000020004" pitchFamily="2" charset="0"/>
              </a:rPr>
              <a:t> 修改字段名称、类型、属性、注释</a:t>
            </a:r>
            <a:endParaRPr lang="zh-CN" altLang="en-US" sz="1600" b="1" i="0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120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12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步：清空表数据（不删除表）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CAD992A-1E71-CF76-C279-FC9637C2F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21" y="2751735"/>
            <a:ext cx="4914900" cy="2463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296017F-1107-3C62-3CA8-0924BBE10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21" y="2078135"/>
            <a:ext cx="28194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01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13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步：删除表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C507B7-FA65-3E47-539E-945A66C24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721013"/>
            <a:ext cx="4546600" cy="1104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F869935-63B4-68A8-B48B-E00E51A04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92" y="2075474"/>
            <a:ext cx="35052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91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4800" b="1" dirty="0">
                <a:latin typeface="Helvetica Neue" panose="02000503000000020004" pitchFamily="2" charset="0"/>
              </a:rPr>
              <a:t>MySQL</a:t>
            </a:r>
            <a:r>
              <a:rPr lang="zh-CN" altLang="en-US" sz="4800" b="1" dirty="0">
                <a:latin typeface="Helvetica Neue" panose="02000503000000020004" pitchFamily="2" charset="0"/>
              </a:rPr>
              <a:t> 基本操作实战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78B13-7BD8-D25A-7ADD-682EF09DC889}"/>
              </a:ext>
            </a:extLst>
          </p:cNvPr>
          <p:cNvSpPr txBox="1"/>
          <p:nvPr/>
        </p:nvSpPr>
        <p:spPr>
          <a:xfrm>
            <a:off x="668692" y="1401596"/>
            <a:ext cx="10721798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14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步：删除数据库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B82D890-7C2F-53B3-AAD2-2E9251A52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79" y="1994936"/>
            <a:ext cx="3314700" cy="3937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45A68B-BA88-FFE2-5FCD-740CCEC84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9" y="2727778"/>
            <a:ext cx="56388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68023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67101</TotalTime>
  <Words>1518</Words>
  <Application>Microsoft Macintosh PowerPoint</Application>
  <PresentationFormat>宽屏</PresentationFormat>
  <Paragraphs>163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Menlo</vt:lpstr>
      <vt:lpstr>Wingdings</vt:lpstr>
      <vt:lpstr>饥人谷2020</vt:lpstr>
      <vt:lpstr>饥人谷2019浅色主题​​</vt:lpstr>
      <vt:lpstr>MySQL 的基本概念和基本操作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686</cp:revision>
  <dcterms:created xsi:type="dcterms:W3CDTF">2021-12-14T08:53:33Z</dcterms:created>
  <dcterms:modified xsi:type="dcterms:W3CDTF">2023-06-11T06:34:37Z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agleCloud">
    <vt:lpwstr>61676334b4e8422151e43967553014381f5e06876ebe2bbce66cedec39aecaac9e60da91a32bcea9066488722440b91e34e6fad3f2c8a633b2343188eb14b8ca39364240fb3cb2ed3f5b47b5a74b7b5103e0ea68b0db6ee782673491502157f37bcb9c5d2ee0791f61a51da3002f5ae6dcfb636c2e36fd27a8e74f484e592c6</vt:lpwstr>
  </property>
  <property fmtid="{D5CDD505-2E9C-101B-9397-08002B2CF9AE}" pid="3" name="EagleCloud1">
    <vt:lpwstr>c62209c9595ad58fdd8f336497f2320c803153dc4c267aa8b6c135973893ba012144e4100a4c93a7818780a176da2b295d2d4431860dfc99ddb680da24bc2e890555453fe70b1f0eb3b1e839343e9498377e3b28e7eb46a3630addcad188ef06f0c1da235b16cbf13f20443ff0367dc118f35959b705f240623675195244d44</vt:lpwstr>
  </property>
  <property fmtid="{D5CDD505-2E9C-101B-9397-08002B2CF9AE}" pid="4" name="EagleCloud2">
    <vt:lpwstr>972c20d613c2c913bcdaae44a9787a3c9564541d57b285fb8bad77c0ead7624e53e4531826e354954814ae545be9377fecf3bd8dae62c47dffb93cf4048f38afb5</vt:lpwstr>
  </property>
</Properties>
</file>