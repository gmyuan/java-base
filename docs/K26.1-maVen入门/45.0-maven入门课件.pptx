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29"/>
  </p:notesMasterIdLst>
  <p:sldIdLst>
    <p:sldId id="256" r:id="rId3"/>
    <p:sldId id="331" r:id="rId4"/>
    <p:sldId id="360" r:id="rId5"/>
    <p:sldId id="387" r:id="rId6"/>
    <p:sldId id="401" r:id="rId7"/>
    <p:sldId id="389" r:id="rId8"/>
    <p:sldId id="390" r:id="rId9"/>
    <p:sldId id="383" r:id="rId10"/>
    <p:sldId id="402" r:id="rId11"/>
    <p:sldId id="391" r:id="rId12"/>
    <p:sldId id="392" r:id="rId13"/>
    <p:sldId id="403" r:id="rId14"/>
    <p:sldId id="399" r:id="rId15"/>
    <p:sldId id="398" r:id="rId16"/>
    <p:sldId id="397" r:id="rId17"/>
    <p:sldId id="408" r:id="rId18"/>
    <p:sldId id="393" r:id="rId19"/>
    <p:sldId id="394" r:id="rId20"/>
    <p:sldId id="404" r:id="rId21"/>
    <p:sldId id="405" r:id="rId22"/>
    <p:sldId id="407" r:id="rId23"/>
    <p:sldId id="395" r:id="rId24"/>
    <p:sldId id="406" r:id="rId25"/>
    <p:sldId id="409" r:id="rId26"/>
    <p:sldId id="410" r:id="rId27"/>
    <p:sldId id="41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8" autoAdjust="0"/>
    <p:restoredTop sz="96067"/>
  </p:normalViewPr>
  <p:slideViewPr>
    <p:cSldViewPr snapToGrid="0">
      <p:cViewPr varScale="1">
        <p:scale>
          <a:sx n="113" d="100"/>
          <a:sy n="113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4/24/23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Maven</a:t>
            </a:r>
            <a:r>
              <a:rPr lang="zh-CN" altLang="en-US" dirty="0"/>
              <a:t>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在本节课中，你将学到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33D74E-DF54-69E0-616C-7BE9C9CADF93}"/>
              </a:ext>
            </a:extLst>
          </p:cNvPr>
          <p:cNvSpPr txBox="1"/>
          <p:nvPr/>
        </p:nvSpPr>
        <p:spPr>
          <a:xfrm>
            <a:off x="646038" y="1278854"/>
            <a:ext cx="7140473" cy="465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的概念与作用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下载与安装（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acOS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、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Windows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）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基本概念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基本概念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坐标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仓库配置（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MacOS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Windows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创建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工程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Maven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项目结构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om.xml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配置文件的结构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项目构建与生命周期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依赖管理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的概念与作用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B7F430-E02F-290E-40A3-F0C3C192E158}"/>
              </a:ext>
            </a:extLst>
          </p:cNvPr>
          <p:cNvSpPr txBox="1"/>
          <p:nvPr/>
        </p:nvSpPr>
        <p:spPr>
          <a:xfrm>
            <a:off x="668681" y="2579015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有什么用？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B98030-5B59-8445-8CD0-B3F29BD21D41}"/>
              </a:ext>
            </a:extLst>
          </p:cNvPr>
          <p:cNvSpPr txBox="1"/>
          <p:nvPr/>
        </p:nvSpPr>
        <p:spPr>
          <a:xfrm>
            <a:off x="668690" y="1320369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是什么？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E5D949-405B-0EBD-2703-31C3ED551DC8}"/>
              </a:ext>
            </a:extLst>
          </p:cNvPr>
          <p:cNvSpPr txBox="1"/>
          <p:nvPr/>
        </p:nvSpPr>
        <p:spPr>
          <a:xfrm>
            <a:off x="668682" y="1921424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是一个项目管理工具。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DD0E4D-DF7E-F634-813F-4CBB916AC8FE}"/>
              </a:ext>
            </a:extLst>
          </p:cNvPr>
          <p:cNvSpPr txBox="1"/>
          <p:nvPr/>
        </p:nvSpPr>
        <p:spPr>
          <a:xfrm>
            <a:off x="668681" y="3236606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可以对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项目进行构建、依赖管理。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C1BEAE2-9E3F-10E1-472B-21EC164D6819}"/>
              </a:ext>
            </a:extLst>
          </p:cNvPr>
          <p:cNvSpPr txBox="1"/>
          <p:nvPr/>
        </p:nvSpPr>
        <p:spPr>
          <a:xfrm>
            <a:off x="668680" y="3894197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什么是构建（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build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）？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30BB18-546F-7D62-1182-DAABE8E20849}"/>
              </a:ext>
            </a:extLst>
          </p:cNvPr>
          <p:cNvSpPr txBox="1"/>
          <p:nvPr/>
        </p:nvSpPr>
        <p:spPr>
          <a:xfrm>
            <a:off x="668680" y="4495252"/>
            <a:ext cx="11218512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构建是以源代码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(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例如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代码、配置文件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) 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为原材料，生产出可以运行的项目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(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例如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war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包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) 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的过程。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4757C81-C511-B01C-92F0-A6818A7D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473" y="606739"/>
            <a:ext cx="3488971" cy="101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8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下载与安装</a:t>
            </a:r>
            <a:r>
              <a:rPr lang="en-US" altLang="zh-CN" dirty="0"/>
              <a:t>-MacOS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7BD996-10B0-B74F-F09A-C844AB6A8095}"/>
              </a:ext>
            </a:extLst>
          </p:cNvPr>
          <p:cNvSpPr txBox="1"/>
          <p:nvPr/>
        </p:nvSpPr>
        <p:spPr>
          <a:xfrm>
            <a:off x="668692" y="1425222"/>
            <a:ext cx="10642775" cy="327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第一步：打开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官网，下载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 (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bin.tar.gz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第二步：将压缩包移动到目标文件夹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(~/Library)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，可以用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命令，也可以手动剪切粘贴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第三步：解压压缩包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(tar -</a:t>
            </a:r>
            <a:r>
              <a:rPr lang="en-US" altLang="zh-CN" sz="20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zxvf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第四步：配置环境变量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，编辑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~/.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bash_profile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vim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命令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export M2_HOME=/Users/</a:t>
            </a:r>
            <a:r>
              <a:rPr lang="en" altLang="zh-CN" sz="2000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vincent</a:t>
            </a: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/Library/apache-maven-3.9.1</a:t>
            </a:r>
          </a:p>
          <a:p>
            <a:pPr>
              <a:lnSpc>
                <a:spcPct val="150000"/>
              </a:lnSpc>
            </a:pP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export PATH=$PATH:$M2_HOME/bin</a:t>
            </a:r>
          </a:p>
          <a:p>
            <a:pPr>
              <a:lnSpc>
                <a:spcPct val="150000"/>
              </a:lnSpc>
            </a:pPr>
            <a:r>
              <a:rPr lang="zh-CN" altLang="e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五步：在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~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目录下执行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–version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，验证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安装完成且环境变量配置完成</a:t>
            </a:r>
            <a:endParaRPr lang="en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0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下载与安装</a:t>
            </a:r>
            <a:r>
              <a:rPr lang="en-US" altLang="zh-CN" dirty="0"/>
              <a:t>-Windows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7BD996-10B0-B74F-F09A-C844AB6A8095}"/>
              </a:ext>
            </a:extLst>
          </p:cNvPr>
          <p:cNvSpPr txBox="1"/>
          <p:nvPr/>
        </p:nvSpPr>
        <p:spPr>
          <a:xfrm>
            <a:off x="668692" y="1425222"/>
            <a:ext cx="10642775" cy="327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第一步：打开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官网，下载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 (bin. zip)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第二步：将压缩包移动到目标文件夹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(C:\Software)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第三步：解压压缩包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第四步：配置环境变量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M2_HOME= C:\Software\apache-maven-3.9.1-bin\apache-maven-3.9.1</a:t>
            </a:r>
          </a:p>
          <a:p>
            <a:pPr>
              <a:lnSpc>
                <a:spcPct val="150000"/>
              </a:lnSpc>
            </a:pP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PATH </a:t>
            </a:r>
            <a:r>
              <a:rPr lang="zh-CN" altLang="e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增加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一项 </a:t>
            </a:r>
            <a:r>
              <a:rPr lang="en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%M2_HOME%\bin</a:t>
            </a:r>
          </a:p>
          <a:p>
            <a:pPr>
              <a:lnSpc>
                <a:spcPct val="150000"/>
              </a:lnSpc>
            </a:pPr>
            <a:r>
              <a:rPr lang="zh-CN" altLang="e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五步：在 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C:\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目录下执行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–version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，验证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安装完成且环境变量配置完成</a:t>
            </a:r>
            <a:endParaRPr lang="en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7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基本概念</a:t>
            </a:r>
            <a:r>
              <a:rPr lang="en-US" altLang="zh-CN" dirty="0"/>
              <a:t>-</a:t>
            </a:r>
            <a:r>
              <a:rPr lang="zh-CN" altLang="en-US" dirty="0"/>
              <a:t>仓库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299F7F-9CED-FAA5-C5E1-FFFA60D29C91}"/>
              </a:ext>
            </a:extLst>
          </p:cNvPr>
          <p:cNvSpPr txBox="1"/>
          <p:nvPr/>
        </p:nvSpPr>
        <p:spPr>
          <a:xfrm>
            <a:off x="668692" y="1259475"/>
            <a:ext cx="10642775" cy="336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仓库：用于存储资源，各种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包。 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仓库分类：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本地仓库：自己电脑上的仓储，从远程仓库获取资源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远程仓库：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中央仓库：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团队维护的仓库，包含所有开源资源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私服：公司或其他组织维护的仓库，包含从中央仓库获取的资源和内部资源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为什么要有私服？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提升本地资源获取速度，本地仓库直接从私服获取资源，不需要每次都请求中央仓库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保存内部资源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AEC144-6BD4-6F19-5AEB-B08C8EC9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144" y="4845853"/>
            <a:ext cx="7227711" cy="15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0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基本概念</a:t>
            </a:r>
            <a:r>
              <a:rPr lang="en-US" altLang="zh-CN" dirty="0"/>
              <a:t>-</a:t>
            </a:r>
            <a:r>
              <a:rPr lang="zh-CN" altLang="en-US" dirty="0"/>
              <a:t>坐标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52A202-1E9D-322C-2599-08014B90AAB3}"/>
              </a:ext>
            </a:extLst>
          </p:cNvPr>
          <p:cNvSpPr txBox="1"/>
          <p:nvPr/>
        </p:nvSpPr>
        <p:spPr>
          <a:xfrm>
            <a:off x="668692" y="1259475"/>
            <a:ext cx="10642775" cy="2802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坐标的作用：用于描述资源在仓库中的位置，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根据坐标来定位资源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坐标的组成：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groupId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：组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，隶属的组织名称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(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通常是域名反写，例如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com.jirengu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artifactId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：项目名称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例如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bank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hotel)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version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：版本号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E35355-B936-F354-0A90-4575F6C84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57" y="4310778"/>
            <a:ext cx="10747810" cy="18080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A6F755-85B2-49FD-F00B-EAB39A0E2333}"/>
              </a:ext>
            </a:extLst>
          </p:cNvPr>
          <p:cNvSpPr txBox="1"/>
          <p:nvPr/>
        </p:nvSpPr>
        <p:spPr>
          <a:xfrm>
            <a:off x="668692" y="3743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https://mvnrepository.com/</a:t>
            </a:r>
          </a:p>
        </p:txBody>
      </p:sp>
    </p:spTree>
    <p:extLst>
      <p:ext uri="{BB962C8B-B14F-4D97-AF65-F5344CB8AC3E}">
        <p14:creationId xmlns:p14="http://schemas.microsoft.com/office/powerpoint/2010/main" val="314751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仓库配置</a:t>
            </a:r>
            <a:r>
              <a:rPr lang="en-US" altLang="zh-CN" dirty="0"/>
              <a:t>-MacOS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D411D7-2E29-C455-672E-0B28D9659FCB}"/>
              </a:ext>
            </a:extLst>
          </p:cNvPr>
          <p:cNvSpPr txBox="1"/>
          <p:nvPr/>
        </p:nvSpPr>
        <p:spPr>
          <a:xfrm>
            <a:off x="668692" y="1425222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(1)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本地仓库配置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1" y="3429000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(2)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远程仓库配置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2E93F6-7DAE-E2F7-F547-05E05523BF52}"/>
              </a:ext>
            </a:extLst>
          </p:cNvPr>
          <p:cNvSpPr txBox="1"/>
          <p:nvPr/>
        </p:nvSpPr>
        <p:spPr>
          <a:xfrm>
            <a:off x="5215466" y="467936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&lt;mirror&gt;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&lt;id&gt;alimaven&lt;/id&gt;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&lt;name&gt;aliyun maven&lt;/name&gt;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&lt;url&gt;https://maven.aliyun.com/repository/public&lt;/url&gt;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&lt;mirrorOf&gt;</a:t>
            </a:r>
            <a:r>
              <a:rPr lang="en-US" altLang="zh-CN" dirty="0">
                <a:solidFill>
                  <a:schemeClr val="bg1"/>
                </a:solidFill>
              </a:rPr>
              <a:t>central</a:t>
            </a:r>
            <a:r>
              <a:rPr lang="zh-CN" altLang="en-US" dirty="0">
                <a:solidFill>
                  <a:schemeClr val="bg1"/>
                </a:solidFill>
              </a:rPr>
              <a:t>&lt;/mirrorOf&gt;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&lt;/mirror&gt;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9504B7-9726-05B4-D939-CF7F07C9562C}"/>
              </a:ext>
            </a:extLst>
          </p:cNvPr>
          <p:cNvSpPr txBox="1"/>
          <p:nvPr/>
        </p:nvSpPr>
        <p:spPr>
          <a:xfrm>
            <a:off x="668691" y="4036002"/>
            <a:ext cx="9175220" cy="1879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仓库能提供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仓库的所有资源，那么可以认为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的镜像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配置镜像，加快资源获取速度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镜像不是私服，镜像也对外公开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修改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settings.xml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文件配置镜像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6B65B-35DD-5B87-9575-EDD6F4E3C487}"/>
              </a:ext>
            </a:extLst>
          </p:cNvPr>
          <p:cNvSpPr txBox="1"/>
          <p:nvPr/>
        </p:nvSpPr>
        <p:spPr>
          <a:xfrm>
            <a:off x="668690" y="1951693"/>
            <a:ext cx="10789532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通常不需要配置，因为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初次使用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时，会在默认位置自动创建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默认本地仓库位置为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~/.m2/repository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M2_HOME/conf/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settings.xml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里配置仓库位置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如果要手动配置本地仓库，到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~/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目录下输入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命令，创建一个空的本地仓库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5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仓库配置</a:t>
            </a:r>
            <a:r>
              <a:rPr lang="en-US" altLang="zh-CN" dirty="0"/>
              <a:t>-Windows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D411D7-2E29-C455-672E-0B28D9659FCB}"/>
              </a:ext>
            </a:extLst>
          </p:cNvPr>
          <p:cNvSpPr txBox="1"/>
          <p:nvPr/>
        </p:nvSpPr>
        <p:spPr>
          <a:xfrm>
            <a:off x="668692" y="1425222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(1)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本地仓库配置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1" y="3303202"/>
            <a:ext cx="1064277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(2)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远程仓库配置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2E93F6-7DAE-E2F7-F547-05E05523BF52}"/>
              </a:ext>
            </a:extLst>
          </p:cNvPr>
          <p:cNvSpPr txBox="1"/>
          <p:nvPr/>
        </p:nvSpPr>
        <p:spPr>
          <a:xfrm>
            <a:off x="5215466" y="467936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&lt;mirror&gt;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&lt;id&gt;alimaven&lt;/id&gt;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&lt;name&gt;aliyun maven&lt;/name&gt;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&lt;url&gt;https://maven.aliyun.com/repository/public&lt;/url&gt;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   &lt;mirrorOf&gt;</a:t>
            </a:r>
            <a:r>
              <a:rPr lang="en-US" altLang="zh-CN" dirty="0">
                <a:solidFill>
                  <a:schemeClr val="bg1"/>
                </a:solidFill>
              </a:rPr>
              <a:t>central</a:t>
            </a:r>
            <a:r>
              <a:rPr lang="zh-CN" altLang="en-US" dirty="0">
                <a:solidFill>
                  <a:schemeClr val="bg1"/>
                </a:solidFill>
              </a:rPr>
              <a:t>&lt;/mirrorOf&gt;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   &lt;/mirror&gt;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9504B7-9726-05B4-D939-CF7F07C9562C}"/>
              </a:ext>
            </a:extLst>
          </p:cNvPr>
          <p:cNvSpPr txBox="1"/>
          <p:nvPr/>
        </p:nvSpPr>
        <p:spPr>
          <a:xfrm>
            <a:off x="668691" y="3941140"/>
            <a:ext cx="9175220" cy="1530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仓库能提供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仓库的所有资源，那么可以认为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的镜像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配置镜像，加快资源获取速度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镜像不是私服，镜像也对外公开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修改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settings.xml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文件配置镜像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6B65B-35DD-5B87-9575-EDD6F4E3C487}"/>
              </a:ext>
            </a:extLst>
          </p:cNvPr>
          <p:cNvSpPr txBox="1"/>
          <p:nvPr/>
        </p:nvSpPr>
        <p:spPr>
          <a:xfrm>
            <a:off x="668691" y="2032224"/>
            <a:ext cx="10789532" cy="1160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通常不需要配置，因为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初次使用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时，会在默认位置自动创建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默认本地仓库位置为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C:\Users\username\.m2\repository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M2_HOME\conf\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settings.xml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里配置仓库位置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如果要手动配置本地仓库，到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C:\Users\username\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目录下输入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命令，创建一个空的本地仓库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83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IDEA</a:t>
            </a:r>
            <a:r>
              <a:rPr lang="zh-CN" altLang="en-US" dirty="0"/>
              <a:t>创建 </a:t>
            </a:r>
            <a:r>
              <a:rPr lang="en-US" altLang="zh-CN" dirty="0"/>
              <a:t>Maven</a:t>
            </a:r>
            <a:r>
              <a:rPr lang="zh-CN" altLang="en-US" dirty="0"/>
              <a:t> 工程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02B095-9EA5-8107-28DE-71BEED1FC90E}"/>
              </a:ext>
            </a:extLst>
          </p:cNvPr>
          <p:cNvSpPr txBox="1"/>
          <p:nvPr/>
        </p:nvSpPr>
        <p:spPr>
          <a:xfrm>
            <a:off x="668691" y="1534858"/>
            <a:ext cx="10789532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第一步：创建一个空项目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第二步：修改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配置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第三步：新建模块，选择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，修改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groupId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artifactId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67DD060-2978-5520-335D-BE9DA20ADE61}"/>
              </a:ext>
            </a:extLst>
          </p:cNvPr>
          <p:cNvSpPr txBox="1">
            <a:spLocks/>
          </p:cNvSpPr>
          <p:nvPr/>
        </p:nvSpPr>
        <p:spPr>
          <a:xfrm>
            <a:off x="668691" y="3429714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IDEA</a:t>
            </a:r>
            <a:r>
              <a:rPr lang="zh-CN" altLang="en-US" dirty="0"/>
              <a:t>创建 </a:t>
            </a:r>
            <a:r>
              <a:rPr lang="en-US" altLang="zh-CN" dirty="0"/>
              <a:t>Maven</a:t>
            </a:r>
            <a:r>
              <a:rPr lang="zh-CN" altLang="en-US" dirty="0"/>
              <a:t> 工程 </a:t>
            </a:r>
            <a:r>
              <a:rPr lang="en-US" altLang="zh-CN" dirty="0"/>
              <a:t>–</a:t>
            </a:r>
            <a:r>
              <a:rPr lang="zh-CN" altLang="en-US" dirty="0"/>
              <a:t> 使用原型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81521F-11F9-0AFE-B5B4-3FD1357462F9}"/>
              </a:ext>
            </a:extLst>
          </p:cNvPr>
          <p:cNvSpPr txBox="1"/>
          <p:nvPr/>
        </p:nvSpPr>
        <p:spPr>
          <a:xfrm>
            <a:off x="668691" y="4396591"/>
            <a:ext cx="10789532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非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项目，使用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quickstart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原型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项目，使用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原型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543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项目结构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D411D7-2E29-C455-672E-0B28D9659FCB}"/>
              </a:ext>
            </a:extLst>
          </p:cNvPr>
          <p:cNvSpPr txBox="1"/>
          <p:nvPr/>
        </p:nvSpPr>
        <p:spPr>
          <a:xfrm>
            <a:off x="668692" y="1425222"/>
            <a:ext cx="2164819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(1)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非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096000" y="1425221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(2)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 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DCA214-4DCA-7F91-55E8-DDBEAD38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14" y="2314221"/>
            <a:ext cx="3918855" cy="36575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307502-5786-1100-D727-9D4911A8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65" y="2314221"/>
            <a:ext cx="3917244" cy="41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5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单元测试简单介绍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4596B7-6D6F-3C54-57EE-1FA836581CF3}"/>
              </a:ext>
            </a:extLst>
          </p:cNvPr>
          <p:cNvSpPr txBox="1"/>
          <p:nvPr/>
        </p:nvSpPr>
        <p:spPr>
          <a:xfrm>
            <a:off x="668691" y="1534858"/>
            <a:ext cx="10789532" cy="2802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什么是单元测试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(unit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testing)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？</a:t>
            </a:r>
            <a:endParaRPr lang="en-US" altLang="zh-CN" sz="20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对软件中的最小可测试单元进行检查和验证。最小可测试单元的大小或者范围很难界定，一般就是指对我们所写的方法进行功能测试。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为什么要进行单元测试？</a:t>
            </a:r>
            <a:endParaRPr lang="en-US" altLang="zh-CN" sz="20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单元测试是程序员对代码进行的自我检查。任何代码都有可能存在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bug(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逻辑错误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，单元测试可以帮助我们在开发时发现这些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bug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，尽可能避免在实际生产环境中出现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bug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62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err="1"/>
              <a:t>pom.xml</a:t>
            </a:r>
            <a:r>
              <a:rPr lang="zh-CN" altLang="en-US" dirty="0"/>
              <a:t> 配置文件的结构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189A07-B869-78B8-B1B8-1069193B7CF6}"/>
              </a:ext>
            </a:extLst>
          </p:cNvPr>
          <p:cNvSpPr txBox="1"/>
          <p:nvPr/>
        </p:nvSpPr>
        <p:spPr>
          <a:xfrm>
            <a:off x="668692" y="1378394"/>
            <a:ext cx="4174242" cy="4484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 (Project Object Model)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，项目对象模型。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将项目开发和管理过程抽象成一个项目对象模型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(POM)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配置文件描述了项目的信息，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通过加载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掌握项目信息。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一个基础的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文件结构可以分为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大块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基本信息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坐标配置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依赖配置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3B5511-6810-80F3-4C26-CA2CB6B37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734" y="1501421"/>
            <a:ext cx="6641516" cy="405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20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项目构建与生命周期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732FB7-C00B-9241-8955-B9021D8C1EF3}"/>
              </a:ext>
            </a:extLst>
          </p:cNvPr>
          <p:cNvSpPr txBox="1"/>
          <p:nvPr/>
        </p:nvSpPr>
        <p:spPr>
          <a:xfrm>
            <a:off x="668692" y="1410368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(1)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什么是生命周期？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745AFD-2866-3DB2-219F-8D61E9E0A69A}"/>
              </a:ext>
            </a:extLst>
          </p:cNvPr>
          <p:cNvSpPr txBox="1"/>
          <p:nvPr/>
        </p:nvSpPr>
        <p:spPr>
          <a:xfrm>
            <a:off x="668692" y="2004800"/>
            <a:ext cx="9310686" cy="115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生命周期用来表示一个生物从出生到死亡的过程。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在软件开发领域，生命周期用来表示一个对象从创建到销毁的过程。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用生命周期定义了项目构建和发布的过程，定义了生命周期包含哪些阶段。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F2216F-B4FD-5B7D-D2D1-4F795A9D92C9}"/>
              </a:ext>
            </a:extLst>
          </p:cNvPr>
          <p:cNvSpPr txBox="1"/>
          <p:nvPr/>
        </p:nvSpPr>
        <p:spPr>
          <a:xfrm>
            <a:off x="668692" y="3157616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(2)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生命周期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71EF45-AC33-26D1-0DCA-D8424216B886}"/>
              </a:ext>
            </a:extLst>
          </p:cNvPr>
          <p:cNvSpPr txBox="1"/>
          <p:nvPr/>
        </p:nvSpPr>
        <p:spPr>
          <a:xfrm>
            <a:off x="668692" y="3662049"/>
            <a:ext cx="7820552" cy="226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clean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：项目清理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pre-clean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执行一些需要在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clean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之前完成的工作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clean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移除所有上一次构建生成的文件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post-clean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执行一些需要在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clean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之后立刻完成的工作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default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或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build) :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项目部署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重点！！！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site :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项目站点文档创建的处理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使用较少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6153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项目构建与生命周期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9824A0-6303-E77A-22E2-E1FB6D7645D4}"/>
              </a:ext>
            </a:extLst>
          </p:cNvPr>
          <p:cNvSpPr txBox="1"/>
          <p:nvPr/>
        </p:nvSpPr>
        <p:spPr>
          <a:xfrm>
            <a:off x="668692" y="1317547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(3)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default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生命周期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570B0B-BCD2-AF8B-5913-1EEDAEB4A47F}"/>
              </a:ext>
            </a:extLst>
          </p:cNvPr>
          <p:cNvSpPr txBox="1"/>
          <p:nvPr/>
        </p:nvSpPr>
        <p:spPr>
          <a:xfrm>
            <a:off x="668692" y="5845038"/>
            <a:ext cx="972405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在一个生命周期中，运行某个阶段的时候，它之前的所有阶段都会被运行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C24B85-C6E3-2EDC-A5D9-3A832695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074677"/>
            <a:ext cx="8188021" cy="3614923"/>
          </a:xfrm>
          <a:prstGeom prst="rect">
            <a:avLst/>
          </a:prstGeom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3CF040-B32A-160F-DE45-FD43D4A851BD}"/>
              </a:ext>
            </a:extLst>
          </p:cNvPr>
          <p:cNvSpPr/>
          <p:nvPr/>
        </p:nvSpPr>
        <p:spPr>
          <a:xfrm>
            <a:off x="9873553" y="625423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validate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CC24D55-5882-A1D6-9CDE-31FFB2E2D645}"/>
              </a:ext>
            </a:extLst>
          </p:cNvPr>
          <p:cNvSpPr/>
          <p:nvPr/>
        </p:nvSpPr>
        <p:spPr>
          <a:xfrm>
            <a:off x="9873553" y="1515936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compile</a:t>
            </a:r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1EAA5F0-9C35-C1CD-AA34-5BFCB99E9101}"/>
              </a:ext>
            </a:extLst>
          </p:cNvPr>
          <p:cNvSpPr/>
          <p:nvPr/>
        </p:nvSpPr>
        <p:spPr>
          <a:xfrm>
            <a:off x="9873553" y="2406449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test</a:t>
            </a:r>
            <a:endParaRPr kumimoji="1"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82D7F19-90EA-9772-86E3-2659C540E9B7}"/>
              </a:ext>
            </a:extLst>
          </p:cNvPr>
          <p:cNvSpPr/>
          <p:nvPr/>
        </p:nvSpPr>
        <p:spPr>
          <a:xfrm>
            <a:off x="9873553" y="3296962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package</a:t>
            </a:r>
            <a:endParaRPr kumimoji="1" lang="zh-CN" altLang="en-US" sz="1600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D95E74F-4AA3-E1EB-A662-246AA78CF1A3}"/>
              </a:ext>
            </a:extLst>
          </p:cNvPr>
          <p:cNvSpPr/>
          <p:nvPr/>
        </p:nvSpPr>
        <p:spPr>
          <a:xfrm>
            <a:off x="9873553" y="4191375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verify</a:t>
            </a:r>
            <a:endParaRPr kumimoji="1" lang="zh-CN" altLang="en-US" sz="16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BF7626F-BFDA-D423-0925-766CF216A902}"/>
              </a:ext>
            </a:extLst>
          </p:cNvPr>
          <p:cNvSpPr/>
          <p:nvPr/>
        </p:nvSpPr>
        <p:spPr>
          <a:xfrm>
            <a:off x="9873553" y="5085788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install</a:t>
            </a:r>
            <a:endParaRPr kumimoji="1" lang="zh-CN" altLang="en-US" sz="1600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2E40B11-A7F1-D68A-5D75-D3C774F83037}"/>
              </a:ext>
            </a:extLst>
          </p:cNvPr>
          <p:cNvSpPr/>
          <p:nvPr/>
        </p:nvSpPr>
        <p:spPr>
          <a:xfrm>
            <a:off x="9873553" y="5980201"/>
            <a:ext cx="1038386" cy="580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deploy</a:t>
            </a:r>
            <a:endParaRPr kumimoji="1" lang="zh-CN" altLang="en-US" sz="1600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2A57E907-7F7C-4A25-94D1-199E62F0180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392746" y="1205680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2E2AF9F1-DD01-2A9B-869C-5C0DFC22E394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10392746" y="2096193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A2E24A19-4EC2-CBAC-EE19-ADE087CF4619}"/>
              </a:ext>
            </a:extLst>
          </p:cNvPr>
          <p:cNvCxnSpPr>
            <a:cxnSpLocks/>
          </p:cNvCxnSpPr>
          <p:nvPr/>
        </p:nvCxnSpPr>
        <p:spPr>
          <a:xfrm>
            <a:off x="10392746" y="3881119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FC53351F-EB13-3998-8A3E-AA63F652D833}"/>
              </a:ext>
            </a:extLst>
          </p:cNvPr>
          <p:cNvCxnSpPr>
            <a:cxnSpLocks/>
          </p:cNvCxnSpPr>
          <p:nvPr/>
        </p:nvCxnSpPr>
        <p:spPr>
          <a:xfrm>
            <a:off x="10392746" y="2986706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59B91EBE-D0B6-BA3A-33B2-95B36886564C}"/>
              </a:ext>
            </a:extLst>
          </p:cNvPr>
          <p:cNvCxnSpPr>
            <a:cxnSpLocks/>
          </p:cNvCxnSpPr>
          <p:nvPr/>
        </p:nvCxnSpPr>
        <p:spPr>
          <a:xfrm>
            <a:off x="10392746" y="4775532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F0BCAB83-2602-FA51-57E3-8A6B99C3D676}"/>
              </a:ext>
            </a:extLst>
          </p:cNvPr>
          <p:cNvCxnSpPr>
            <a:cxnSpLocks/>
          </p:cNvCxnSpPr>
          <p:nvPr/>
        </p:nvCxnSpPr>
        <p:spPr>
          <a:xfrm>
            <a:off x="10392746" y="5669945"/>
            <a:ext cx="0" cy="310256"/>
          </a:xfrm>
          <a:prstGeom prst="line">
            <a:avLst/>
          </a:prstGeom>
          <a:ln w="254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15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项目构建与生命周期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9824A0-6303-E77A-22E2-E1FB6D7645D4}"/>
              </a:ext>
            </a:extLst>
          </p:cNvPr>
          <p:cNvSpPr txBox="1"/>
          <p:nvPr/>
        </p:nvSpPr>
        <p:spPr>
          <a:xfrm>
            <a:off x="668692" y="1317547"/>
            <a:ext cx="6138508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(4)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如何运行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生命周期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C70749-FC84-02BA-BC45-5A8BB7F023A6}"/>
              </a:ext>
            </a:extLst>
          </p:cNvPr>
          <p:cNvSpPr txBox="1"/>
          <p:nvPr/>
        </p:nvSpPr>
        <p:spPr>
          <a:xfrm>
            <a:off x="668692" y="2004800"/>
            <a:ext cx="2943752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方法一：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侧边栏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D67091-DEDC-754C-A433-456E003E8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609659"/>
            <a:ext cx="4504793" cy="29778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BBCD234-1E1F-A0C0-6779-D74FBE68E2C5}"/>
              </a:ext>
            </a:extLst>
          </p:cNvPr>
          <p:cNvSpPr txBox="1"/>
          <p:nvPr/>
        </p:nvSpPr>
        <p:spPr>
          <a:xfrm>
            <a:off x="6096000" y="2004800"/>
            <a:ext cx="3694463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方法二：命令行执行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命令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例如：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clean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package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239AB4-006B-8BD0-234B-8826124DCF1F}"/>
              </a:ext>
            </a:extLst>
          </p:cNvPr>
          <p:cNvSpPr txBox="1"/>
          <p:nvPr/>
        </p:nvSpPr>
        <p:spPr>
          <a:xfrm>
            <a:off x="6096000" y="2978990"/>
            <a:ext cx="3694463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方法三：配置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Configuration</a:t>
            </a: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C4B4A4-18B0-3EA1-D3C7-0949B45D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37691"/>
            <a:ext cx="5276040" cy="267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15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(1)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依赖配置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BFA1EF-17EA-726F-30A1-79D938E0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41" y="2077499"/>
            <a:ext cx="5219700" cy="36068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DC2E6FB-2D42-CC18-CD04-69B28B05AAC7}"/>
              </a:ext>
            </a:extLst>
          </p:cNvPr>
          <p:cNvSpPr txBox="1"/>
          <p:nvPr/>
        </p:nvSpPr>
        <p:spPr>
          <a:xfrm>
            <a:off x="6629223" y="2090481"/>
            <a:ext cx="4964465" cy="115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&lt;dependencies&gt;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标签下配置依赖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一个依赖配置一个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&lt;dependency&gt;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每个依赖配置都需要指定坐标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08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35194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(2)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依赖传递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45D4F4-7445-E27B-339E-2159124DD432}"/>
              </a:ext>
            </a:extLst>
          </p:cNvPr>
          <p:cNvSpPr txBox="1"/>
          <p:nvPr/>
        </p:nvSpPr>
        <p:spPr>
          <a:xfrm>
            <a:off x="668692" y="1824802"/>
            <a:ext cx="9310686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依赖具有传递性：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直接依赖：通过依赖配置直接建立的依赖关系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间接依赖：所依赖的资源依赖其他资源，当前项目间接依赖其他资源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AD7BD24-6F4D-E6A3-F3CC-0C4E5320F408}"/>
              </a:ext>
            </a:extLst>
          </p:cNvPr>
          <p:cNvSpPr/>
          <p:nvPr/>
        </p:nvSpPr>
        <p:spPr>
          <a:xfrm>
            <a:off x="1538819" y="4118302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BEC4308-2111-6CC4-D8A5-935989472EF0}"/>
              </a:ext>
            </a:extLst>
          </p:cNvPr>
          <p:cNvSpPr/>
          <p:nvPr/>
        </p:nvSpPr>
        <p:spPr>
          <a:xfrm>
            <a:off x="3457931" y="3429001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maven04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92C6905-CD8F-9208-91C2-848E73A4BF48}"/>
              </a:ext>
            </a:extLst>
          </p:cNvPr>
          <p:cNvSpPr/>
          <p:nvPr/>
        </p:nvSpPr>
        <p:spPr>
          <a:xfrm>
            <a:off x="5506865" y="3429000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maven03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7F71E7-E4CB-6D33-95AE-99DFAE81B95B}"/>
              </a:ext>
            </a:extLst>
          </p:cNvPr>
          <p:cNvSpPr/>
          <p:nvPr/>
        </p:nvSpPr>
        <p:spPr>
          <a:xfrm>
            <a:off x="7555799" y="3428999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maven06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565DA73-5CEE-5FB1-CDE8-E0F00A93C191}"/>
              </a:ext>
            </a:extLst>
          </p:cNvPr>
          <p:cNvSpPr/>
          <p:nvPr/>
        </p:nvSpPr>
        <p:spPr>
          <a:xfrm>
            <a:off x="3457931" y="4745945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maven02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C259FE7-F43B-657D-ABF7-0478ED6FB16F}"/>
              </a:ext>
            </a:extLst>
          </p:cNvPr>
          <p:cNvSpPr/>
          <p:nvPr/>
        </p:nvSpPr>
        <p:spPr>
          <a:xfrm>
            <a:off x="5506865" y="4745944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6BAE8D6-CB43-CB37-57C9-C2FB9C1AB72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636200" y="3742822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AD3BFA8-773E-881D-53F4-576DA5EA2DD6}"/>
              </a:ext>
            </a:extLst>
          </p:cNvPr>
          <p:cNvCxnSpPr/>
          <p:nvPr/>
        </p:nvCxnSpPr>
        <p:spPr>
          <a:xfrm flipV="1">
            <a:off x="4636199" y="5059765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1D322BB-22DD-B8C4-ED48-A0BD55D0948A}"/>
              </a:ext>
            </a:extLst>
          </p:cNvPr>
          <p:cNvCxnSpPr/>
          <p:nvPr/>
        </p:nvCxnSpPr>
        <p:spPr>
          <a:xfrm flipV="1">
            <a:off x="6685134" y="3742820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4DCF9D39-7E42-2B5D-F798-E9C496C4D8B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2717088" y="3742823"/>
            <a:ext cx="740843" cy="689301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26DCD48B-7AC3-34C9-A576-1334F3A5AFF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721863" y="4432121"/>
            <a:ext cx="736068" cy="627646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9FA9B1E-B9E8-13B0-FC88-61E473C43B43}"/>
              </a:ext>
            </a:extLst>
          </p:cNvPr>
          <p:cNvSpPr txBox="1"/>
          <p:nvPr/>
        </p:nvSpPr>
        <p:spPr>
          <a:xfrm>
            <a:off x="668692" y="5745245"/>
            <a:ext cx="1040570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对于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maven05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maven04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maven02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是直接依赖，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maven03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01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maven06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是间接依赖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260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35194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(3)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依赖冲突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F4128B-2707-0FC5-B1E1-323E3C0EAFCB}"/>
              </a:ext>
            </a:extLst>
          </p:cNvPr>
          <p:cNvSpPr txBox="1"/>
          <p:nvPr/>
        </p:nvSpPr>
        <p:spPr>
          <a:xfrm>
            <a:off x="668692" y="1824802"/>
            <a:ext cx="9310686" cy="189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依赖冲突的概念：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包之间的间接依赖，导致项目依赖同一种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包的多个版本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当发生依赖冲突是会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会选择哪个版本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路径优先：层级越浅，优先级越高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声明优先：层级相同时，配置顺序靠前的覆盖靠后的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同一个配置文件中：靠后的覆盖靠前的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7F0DD79-3BA7-1164-E3C1-7EF51749BFE6}"/>
              </a:ext>
            </a:extLst>
          </p:cNvPr>
          <p:cNvSpPr/>
          <p:nvPr/>
        </p:nvSpPr>
        <p:spPr>
          <a:xfrm>
            <a:off x="1090797" y="4634139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49C80D-8B04-DD0E-635F-17EDA840D765}"/>
              </a:ext>
            </a:extLst>
          </p:cNvPr>
          <p:cNvSpPr/>
          <p:nvPr/>
        </p:nvSpPr>
        <p:spPr>
          <a:xfrm>
            <a:off x="3009909" y="3944838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maven04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3AB332F-5DF9-A51D-C2BD-16CCBE7B38BB}"/>
              </a:ext>
            </a:extLst>
          </p:cNvPr>
          <p:cNvSpPr/>
          <p:nvPr/>
        </p:nvSpPr>
        <p:spPr>
          <a:xfrm>
            <a:off x="5058843" y="3944837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maven03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11351EF-FEC9-1D01-E84D-F9BFA94447D5}"/>
              </a:ext>
            </a:extLst>
          </p:cNvPr>
          <p:cNvSpPr/>
          <p:nvPr/>
        </p:nvSpPr>
        <p:spPr>
          <a:xfrm>
            <a:off x="7107777" y="3944836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C6CF9F7-6FE1-55B8-77BC-6537017D5026}"/>
              </a:ext>
            </a:extLst>
          </p:cNvPr>
          <p:cNvSpPr/>
          <p:nvPr/>
        </p:nvSpPr>
        <p:spPr>
          <a:xfrm>
            <a:off x="3009909" y="5261782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maven02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A27EE86-6E55-497F-351B-6D315CB3D35C}"/>
              </a:ext>
            </a:extLst>
          </p:cNvPr>
          <p:cNvSpPr/>
          <p:nvPr/>
        </p:nvSpPr>
        <p:spPr>
          <a:xfrm>
            <a:off x="5058843" y="5261781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D32CB25-3A17-BBC8-D5A6-07AB7F3CE3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188178" y="4258659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163A85-F8EF-D94F-9B2F-FAEDE1B3BC9B}"/>
              </a:ext>
            </a:extLst>
          </p:cNvPr>
          <p:cNvCxnSpPr/>
          <p:nvPr/>
        </p:nvCxnSpPr>
        <p:spPr>
          <a:xfrm flipV="1">
            <a:off x="4188177" y="5575602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DB33E5C-C8CD-A5F1-D52A-75F391FBFBAB}"/>
              </a:ext>
            </a:extLst>
          </p:cNvPr>
          <p:cNvCxnSpPr/>
          <p:nvPr/>
        </p:nvCxnSpPr>
        <p:spPr>
          <a:xfrm flipV="1">
            <a:off x="6237112" y="4258657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4CDE7A85-45E5-7620-AF61-2764757FAA85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269066" y="4258660"/>
            <a:ext cx="740843" cy="689301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E1C874E9-B77A-55C4-AA83-26EF3E52B3E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273841" y="4947958"/>
            <a:ext cx="736068" cy="627646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7599157-F1A3-C1BE-634E-5C18F63F2234}"/>
              </a:ext>
            </a:extLst>
          </p:cNvPr>
          <p:cNvSpPr txBox="1"/>
          <p:nvPr/>
        </p:nvSpPr>
        <p:spPr>
          <a:xfrm>
            <a:off x="6775185" y="4634139"/>
            <a:ext cx="188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version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=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1.1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E4E3CF-2C70-7077-B6E2-EA168E4170FD}"/>
              </a:ext>
            </a:extLst>
          </p:cNvPr>
          <p:cNvSpPr txBox="1"/>
          <p:nvPr/>
        </p:nvSpPr>
        <p:spPr>
          <a:xfrm>
            <a:off x="4104931" y="5962685"/>
            <a:ext cx="3086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层级更浅，使用此版本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50123E4-4266-DC3F-DAFB-8D8BF495D967}"/>
              </a:ext>
            </a:extLst>
          </p:cNvPr>
          <p:cNvSpPr txBox="1"/>
          <p:nvPr/>
        </p:nvSpPr>
        <p:spPr>
          <a:xfrm>
            <a:off x="661032" y="3812903"/>
            <a:ext cx="35194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路径优先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83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35194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声明优先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7F0DD79-3BA7-1164-E3C1-7EF51749BFE6}"/>
              </a:ext>
            </a:extLst>
          </p:cNvPr>
          <p:cNvSpPr/>
          <p:nvPr/>
        </p:nvSpPr>
        <p:spPr>
          <a:xfrm>
            <a:off x="949685" y="2452979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49C80D-8B04-DD0E-635F-17EDA840D765}"/>
              </a:ext>
            </a:extLst>
          </p:cNvPr>
          <p:cNvSpPr/>
          <p:nvPr/>
        </p:nvSpPr>
        <p:spPr>
          <a:xfrm>
            <a:off x="2868797" y="1763678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maven03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3AB332F-5DF9-A51D-C2BD-16CCBE7B38BB}"/>
              </a:ext>
            </a:extLst>
          </p:cNvPr>
          <p:cNvSpPr/>
          <p:nvPr/>
        </p:nvSpPr>
        <p:spPr>
          <a:xfrm>
            <a:off x="4917731" y="1763677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C6CF9F7-6FE1-55B8-77BC-6537017D5026}"/>
              </a:ext>
            </a:extLst>
          </p:cNvPr>
          <p:cNvSpPr/>
          <p:nvPr/>
        </p:nvSpPr>
        <p:spPr>
          <a:xfrm>
            <a:off x="2868797" y="3080622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maven02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A27EE86-6E55-497F-351B-6D315CB3D35C}"/>
              </a:ext>
            </a:extLst>
          </p:cNvPr>
          <p:cNvSpPr/>
          <p:nvPr/>
        </p:nvSpPr>
        <p:spPr>
          <a:xfrm>
            <a:off x="4917731" y="3080621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D32CB25-3A17-BBC8-D5A6-07AB7F3CE34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047066" y="2077499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163A85-F8EF-D94F-9B2F-FAEDE1B3BC9B}"/>
              </a:ext>
            </a:extLst>
          </p:cNvPr>
          <p:cNvCxnSpPr/>
          <p:nvPr/>
        </p:nvCxnSpPr>
        <p:spPr>
          <a:xfrm flipV="1">
            <a:off x="4047065" y="3394442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4CDE7A85-45E5-7620-AF61-2764757FAA85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127954" y="2077500"/>
            <a:ext cx="740843" cy="689301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>
            <a:extLst>
              <a:ext uri="{FF2B5EF4-FFF2-40B4-BE49-F238E27FC236}">
                <a16:creationId xmlns:a16="http://schemas.microsoft.com/office/drawing/2014/main" id="{E1C874E9-B77A-55C4-AA83-26EF3E52B3E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132729" y="2766798"/>
            <a:ext cx="736068" cy="627646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7599157-F1A3-C1BE-634E-5C18F63F2234}"/>
              </a:ext>
            </a:extLst>
          </p:cNvPr>
          <p:cNvSpPr txBox="1"/>
          <p:nvPr/>
        </p:nvSpPr>
        <p:spPr>
          <a:xfrm>
            <a:off x="6108332" y="1892832"/>
            <a:ext cx="1883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version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=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1.1</a:t>
            </a:r>
          </a:p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声明在先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E4E3CF-2C70-7077-B6E2-EA168E4170FD}"/>
              </a:ext>
            </a:extLst>
          </p:cNvPr>
          <p:cNvSpPr txBox="1"/>
          <p:nvPr/>
        </p:nvSpPr>
        <p:spPr>
          <a:xfrm>
            <a:off x="5506863" y="3225165"/>
            <a:ext cx="3086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D9874B-468F-8172-A95C-972634A2F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934" y="1498835"/>
            <a:ext cx="3245684" cy="23666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A7881FA-BF4F-2D26-DE2D-8638876318EF}"/>
              </a:ext>
            </a:extLst>
          </p:cNvPr>
          <p:cNvSpPr txBox="1"/>
          <p:nvPr/>
        </p:nvSpPr>
        <p:spPr>
          <a:xfrm>
            <a:off x="668692" y="3838983"/>
            <a:ext cx="3519486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同一个配置文件中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E7AF0F22-B9D1-0735-BB29-7CEA51B30EB4}"/>
              </a:ext>
            </a:extLst>
          </p:cNvPr>
          <p:cNvSpPr/>
          <p:nvPr/>
        </p:nvSpPr>
        <p:spPr>
          <a:xfrm>
            <a:off x="949685" y="5149454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7F67A32-8606-85C8-15FC-57932BC63489}"/>
              </a:ext>
            </a:extLst>
          </p:cNvPr>
          <p:cNvSpPr/>
          <p:nvPr/>
        </p:nvSpPr>
        <p:spPr>
          <a:xfrm>
            <a:off x="2868797" y="4460153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9682CF1-4BEC-65CB-80AE-369660180189}"/>
              </a:ext>
            </a:extLst>
          </p:cNvPr>
          <p:cNvSpPr/>
          <p:nvPr/>
        </p:nvSpPr>
        <p:spPr>
          <a:xfrm>
            <a:off x="2868797" y="5777097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28" name="肘形连接符 27">
            <a:extLst>
              <a:ext uri="{FF2B5EF4-FFF2-40B4-BE49-F238E27FC236}">
                <a16:creationId xmlns:a16="http://schemas.microsoft.com/office/drawing/2014/main" id="{E87F1208-0DF8-D491-078F-31EC5F61D378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2127954" y="4773975"/>
            <a:ext cx="740843" cy="689301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E8E4997F-7F1D-2B15-3BF6-1243BB16DEA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132729" y="5463273"/>
            <a:ext cx="736068" cy="627646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52931AEF-FDFF-35F7-6BF8-7EF0435E3A51}"/>
              </a:ext>
            </a:extLst>
          </p:cNvPr>
          <p:cNvSpPr txBox="1"/>
          <p:nvPr/>
        </p:nvSpPr>
        <p:spPr>
          <a:xfrm>
            <a:off x="4410104" y="4581547"/>
            <a:ext cx="188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version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=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1.1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0E86D5-166D-0D9E-04D7-C592AD0A62E8}"/>
              </a:ext>
            </a:extLst>
          </p:cNvPr>
          <p:cNvSpPr txBox="1"/>
          <p:nvPr/>
        </p:nvSpPr>
        <p:spPr>
          <a:xfrm>
            <a:off x="3808637" y="5898491"/>
            <a:ext cx="3086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靠后的覆盖靠前的配置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198C811A-9FF1-5882-8409-F5200D0C2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099" y="4279951"/>
            <a:ext cx="3100216" cy="236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90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3184241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(4)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发现依赖冲突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95D490-A76B-BE2D-A2BD-AFD9FBA9AA96}"/>
              </a:ext>
            </a:extLst>
          </p:cNvPr>
          <p:cNvSpPr txBox="1"/>
          <p:nvPr/>
        </p:nvSpPr>
        <p:spPr>
          <a:xfrm>
            <a:off x="668691" y="1824802"/>
            <a:ext cx="9622183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方法一：命令行输入命令  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mvn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-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Dverbose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dependency:tree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-1081650" y="531964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616F43-5542-C363-A785-214A88D8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56" y="2398390"/>
            <a:ext cx="7772400" cy="14777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5D649DD-E57D-EA4E-B32E-3C6CDD36A2E1}"/>
              </a:ext>
            </a:extLst>
          </p:cNvPr>
          <p:cNvSpPr txBox="1"/>
          <p:nvPr/>
        </p:nvSpPr>
        <p:spPr>
          <a:xfrm>
            <a:off x="668690" y="3986545"/>
            <a:ext cx="9622183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方法二：使用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插件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Helper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推荐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FA9E77-C3EE-6C4D-52EF-28F11AAA4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56" y="4560133"/>
            <a:ext cx="6785995" cy="18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0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(5)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解决依赖冲突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95D490-A76B-BE2D-A2BD-AFD9FBA9AA96}"/>
              </a:ext>
            </a:extLst>
          </p:cNvPr>
          <p:cNvSpPr txBox="1"/>
          <p:nvPr/>
        </p:nvSpPr>
        <p:spPr>
          <a:xfrm>
            <a:off x="668692" y="1824802"/>
            <a:ext cx="10854616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方法一：直接依赖正确版本的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包。根据路径优先原则，直接依赖的层级最浅，使用的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包版本一定是直接依赖的版本。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94A62E-2710-CD24-7D33-307F2F3FE34A}"/>
              </a:ext>
            </a:extLst>
          </p:cNvPr>
          <p:cNvSpPr/>
          <p:nvPr/>
        </p:nvSpPr>
        <p:spPr>
          <a:xfrm>
            <a:off x="668692" y="4432120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F21B3A7-75C9-020C-AC8D-6A379023E982}"/>
              </a:ext>
            </a:extLst>
          </p:cNvPr>
          <p:cNvSpPr/>
          <p:nvPr/>
        </p:nvSpPr>
        <p:spPr>
          <a:xfrm>
            <a:off x="2650586" y="3115178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maven04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2E3787-9576-1288-AA3D-3426ECFB714E}"/>
              </a:ext>
            </a:extLst>
          </p:cNvPr>
          <p:cNvSpPr/>
          <p:nvPr/>
        </p:nvSpPr>
        <p:spPr>
          <a:xfrm>
            <a:off x="4699520" y="3115177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maven03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4C2CD71-3874-24AA-CAF3-12A570286A95}"/>
              </a:ext>
            </a:extLst>
          </p:cNvPr>
          <p:cNvSpPr/>
          <p:nvPr/>
        </p:nvSpPr>
        <p:spPr>
          <a:xfrm>
            <a:off x="6748454" y="3115176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891088A-1EA1-0421-BAB0-8DC817438F58}"/>
              </a:ext>
            </a:extLst>
          </p:cNvPr>
          <p:cNvSpPr/>
          <p:nvPr/>
        </p:nvSpPr>
        <p:spPr>
          <a:xfrm>
            <a:off x="2650586" y="4432122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maven02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010593E-C845-E3D9-A52B-E9B42391BD49}"/>
              </a:ext>
            </a:extLst>
          </p:cNvPr>
          <p:cNvSpPr/>
          <p:nvPr/>
        </p:nvSpPr>
        <p:spPr>
          <a:xfrm>
            <a:off x="4699520" y="4432121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224C503-D349-7AB5-5FB7-29D5BDFA8F88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828855" y="3428999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FA51E60-FD33-0185-5FBB-F42412D54223}"/>
              </a:ext>
            </a:extLst>
          </p:cNvPr>
          <p:cNvCxnSpPr/>
          <p:nvPr/>
        </p:nvCxnSpPr>
        <p:spPr>
          <a:xfrm flipV="1">
            <a:off x="3828854" y="4745942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D2538B6-39FD-6C68-BB7C-D382A84E0115}"/>
              </a:ext>
            </a:extLst>
          </p:cNvPr>
          <p:cNvCxnSpPr/>
          <p:nvPr/>
        </p:nvCxnSpPr>
        <p:spPr>
          <a:xfrm flipV="1">
            <a:off x="5877789" y="3428997"/>
            <a:ext cx="870665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2622DA4D-469F-45EA-57B1-BC6422D465E5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846961" y="3429000"/>
            <a:ext cx="803625" cy="1316942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>
            <a:extLst>
              <a:ext uri="{FF2B5EF4-FFF2-40B4-BE49-F238E27FC236}">
                <a16:creationId xmlns:a16="http://schemas.microsoft.com/office/drawing/2014/main" id="{6F8A8CB8-23BA-7681-68E7-6381E71369DC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846961" y="4745942"/>
            <a:ext cx="803625" cy="2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DD56074-752B-CC23-2886-ED3342FF7F3C}"/>
              </a:ext>
            </a:extLst>
          </p:cNvPr>
          <p:cNvSpPr txBox="1"/>
          <p:nvPr/>
        </p:nvSpPr>
        <p:spPr>
          <a:xfrm>
            <a:off x="6408343" y="3787717"/>
            <a:ext cx="188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version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=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1.1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BFD0F-D1AE-15DA-3ACE-BE2BA28CD75C}"/>
              </a:ext>
            </a:extLst>
          </p:cNvPr>
          <p:cNvSpPr txBox="1"/>
          <p:nvPr/>
        </p:nvSpPr>
        <p:spPr>
          <a:xfrm>
            <a:off x="3745608" y="5089069"/>
            <a:ext cx="3086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C62FA0A-2A2D-A79C-F992-F8158E14316B}"/>
              </a:ext>
            </a:extLst>
          </p:cNvPr>
          <p:cNvSpPr/>
          <p:nvPr/>
        </p:nvSpPr>
        <p:spPr>
          <a:xfrm>
            <a:off x="2653974" y="5749064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8802B06A-9684-5EAE-C1C0-713D28577718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1846961" y="4745942"/>
            <a:ext cx="807013" cy="1316944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BCDCE88-25CA-F7CC-2D09-970020EF8F24}"/>
              </a:ext>
            </a:extLst>
          </p:cNvPr>
          <p:cNvSpPr txBox="1"/>
          <p:nvPr/>
        </p:nvSpPr>
        <p:spPr>
          <a:xfrm>
            <a:off x="1696674" y="6364194"/>
            <a:ext cx="3086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1012248" y="595620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5551BF8-C170-AFDB-C574-864A71C8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610" y="3114550"/>
            <a:ext cx="3262874" cy="32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51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2526065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(5)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解决依赖冲突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95D490-A76B-BE2D-A2BD-AFD9FBA9AA96}"/>
              </a:ext>
            </a:extLst>
          </p:cNvPr>
          <p:cNvSpPr txBox="1"/>
          <p:nvPr/>
        </p:nvSpPr>
        <p:spPr>
          <a:xfrm>
            <a:off x="668692" y="1824802"/>
            <a:ext cx="6119566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方法二：依赖排除。使用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exclusion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排除掉不希望存在的传递性依赖。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-1081650" y="531964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5102E04-0BAE-F923-488F-DB67EBD8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874" y="1725543"/>
            <a:ext cx="4429506" cy="4220073"/>
          </a:xfrm>
          <a:prstGeom prst="rect">
            <a:avLst/>
          </a:prstGeom>
        </p:spPr>
      </p:pic>
      <p:sp>
        <p:nvSpPr>
          <p:cNvPr id="21" name="圆角矩形 20">
            <a:extLst>
              <a:ext uri="{FF2B5EF4-FFF2-40B4-BE49-F238E27FC236}">
                <a16:creationId xmlns:a16="http://schemas.microsoft.com/office/drawing/2014/main" id="{35CB2CF0-575D-13B6-B3F0-B53286F5C16A}"/>
              </a:ext>
            </a:extLst>
          </p:cNvPr>
          <p:cNvSpPr/>
          <p:nvPr/>
        </p:nvSpPr>
        <p:spPr>
          <a:xfrm>
            <a:off x="384770" y="3919900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maven05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A12512D-1375-303F-2CDE-28023B351DA1}"/>
              </a:ext>
            </a:extLst>
          </p:cNvPr>
          <p:cNvSpPr/>
          <p:nvPr/>
        </p:nvSpPr>
        <p:spPr>
          <a:xfrm>
            <a:off x="2027114" y="3207939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maven04</a:t>
            </a:r>
            <a:endParaRPr kumimoji="1" lang="zh-CN" altLang="en-US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20CCAD8A-91F7-F616-46D8-3EFC47B1B49D}"/>
              </a:ext>
            </a:extLst>
          </p:cNvPr>
          <p:cNvSpPr/>
          <p:nvPr/>
        </p:nvSpPr>
        <p:spPr>
          <a:xfrm>
            <a:off x="3852933" y="3207938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maven03</a:t>
            </a:r>
            <a:endParaRPr kumimoji="1" lang="zh-CN" altLang="en-US" dirty="0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2BD4D73-AC20-080B-DB71-2DAEED7DB491}"/>
              </a:ext>
            </a:extLst>
          </p:cNvPr>
          <p:cNvSpPr/>
          <p:nvPr/>
        </p:nvSpPr>
        <p:spPr>
          <a:xfrm>
            <a:off x="5678752" y="3207937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E8ED07AC-6F62-5DE8-0B89-8E8CE9325811}"/>
              </a:ext>
            </a:extLst>
          </p:cNvPr>
          <p:cNvSpPr/>
          <p:nvPr/>
        </p:nvSpPr>
        <p:spPr>
          <a:xfrm>
            <a:off x="2027114" y="4524883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maven02</a:t>
            </a:r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3EEC1DC-1AB2-E5C6-2884-68BDFB44CC62}"/>
              </a:ext>
            </a:extLst>
          </p:cNvPr>
          <p:cNvSpPr/>
          <p:nvPr/>
        </p:nvSpPr>
        <p:spPr>
          <a:xfrm>
            <a:off x="3852933" y="4524882"/>
            <a:ext cx="1178269" cy="6276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maven01</a:t>
            </a:r>
            <a:endParaRPr kumimoji="1" lang="zh-CN" altLang="en-US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AFD74A7E-3175-26B8-1D3B-90F3A97C8CBA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3205383" y="3521760"/>
            <a:ext cx="647550" cy="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E998C8C-BC33-4F84-9F2A-5D5067CC392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205382" y="4838704"/>
            <a:ext cx="647551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D3BF16D-93FD-67D8-7B28-ECC6C75F7938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040080" y="3521759"/>
            <a:ext cx="638672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0F85CEF2-60F7-D8FC-720F-91FF31C706B0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1563039" y="3521761"/>
            <a:ext cx="464075" cy="711961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>
            <a:extLst>
              <a:ext uri="{FF2B5EF4-FFF2-40B4-BE49-F238E27FC236}">
                <a16:creationId xmlns:a16="http://schemas.microsoft.com/office/drawing/2014/main" id="{006B9A65-420C-0BCA-D498-16B587855BA5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1563039" y="4233722"/>
            <a:ext cx="464075" cy="604983"/>
          </a:xfrm>
          <a:prstGeom prst="bentConnector3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F5EC97A-5DDE-F3DA-BCC7-B94125F823EA}"/>
              </a:ext>
            </a:extLst>
          </p:cNvPr>
          <p:cNvSpPr txBox="1"/>
          <p:nvPr/>
        </p:nvSpPr>
        <p:spPr>
          <a:xfrm>
            <a:off x="5326308" y="3897240"/>
            <a:ext cx="188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</a:rPr>
              <a:t>version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=</a:t>
            </a:r>
            <a:r>
              <a:rPr kumimoji="1" lang="zh-CN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zh-CN" b="1" dirty="0">
                <a:solidFill>
                  <a:schemeClr val="bg1"/>
                </a:solidFill>
              </a:rPr>
              <a:t>1.1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75ABA82-18EF-585B-588B-910650A212F6}"/>
              </a:ext>
            </a:extLst>
          </p:cNvPr>
          <p:cNvSpPr txBox="1"/>
          <p:nvPr/>
        </p:nvSpPr>
        <p:spPr>
          <a:xfrm>
            <a:off x="2899021" y="5280375"/>
            <a:ext cx="3086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</a:rPr>
              <a:t>version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=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</a:rPr>
              <a:t>1.0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DCE1E75-415E-2699-9E6D-3978297955B2}"/>
              </a:ext>
            </a:extLst>
          </p:cNvPr>
          <p:cNvSpPr txBox="1"/>
          <p:nvPr/>
        </p:nvSpPr>
        <p:spPr>
          <a:xfrm>
            <a:off x="2023648" y="4271667"/>
            <a:ext cx="3086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排除此传递依赖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A73896B-0ECC-7415-7738-0D6845D70EAA}"/>
              </a:ext>
            </a:extLst>
          </p:cNvPr>
          <p:cNvGrpSpPr/>
          <p:nvPr/>
        </p:nvGrpSpPr>
        <p:grpSpPr>
          <a:xfrm>
            <a:off x="3434121" y="4706129"/>
            <a:ext cx="265146" cy="265147"/>
            <a:chOff x="2710529" y="5653621"/>
            <a:chExt cx="265146" cy="265147"/>
          </a:xfrm>
        </p:grpSpPr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2EB00449-F0A6-FE95-DE14-4B7C15F74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0529" y="5658200"/>
              <a:ext cx="265146" cy="26056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353C84D8-4A0E-88C5-6135-6FF9C5EA4D2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712818" y="5655910"/>
              <a:ext cx="265146" cy="26056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7683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Maven</a:t>
            </a:r>
            <a:r>
              <a:rPr lang="zh-CN" altLang="en-US" dirty="0"/>
              <a:t>依赖管理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62E824-6E81-66F1-5AED-3A4B63C66DEA}"/>
              </a:ext>
            </a:extLst>
          </p:cNvPr>
          <p:cNvSpPr txBox="1"/>
          <p:nvPr/>
        </p:nvSpPr>
        <p:spPr>
          <a:xfrm>
            <a:off x="668692" y="1320369"/>
            <a:ext cx="7154508" cy="50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(6) 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快照版本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(SNAPSHOT)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vs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正式版本</a:t>
            </a:r>
            <a:r>
              <a:rPr lang="en-US" altLang="zh-CN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(release)</a:t>
            </a:r>
            <a:r>
              <a:rPr lang="zh-CN" altLang="en-US" sz="20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i="0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-1081650" y="531964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3E8A4-64EE-9E02-E4DD-28F459FDBCAA}"/>
              </a:ext>
            </a:extLst>
          </p:cNvPr>
          <p:cNvSpPr txBox="1"/>
          <p:nvPr/>
        </p:nvSpPr>
        <p:spPr>
          <a:xfrm>
            <a:off x="668692" y="1824802"/>
            <a:ext cx="10854616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快照版本号以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SNAPSHOT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结尾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例如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1.0-SNAPSHOT)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，是开发调试阶段使用的版本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开发阶段可能会进行快节奏的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bug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修复或改进，会需要频繁将资源发布到远程仓库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同一个快照版本可以多次发布到远程仓库，新的覆盖旧的。非快照版本版本号不能冲突。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资源依赖方如果使用的是快照版本，那么每次构建都会从自动获取最新快照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快照版本可以解决两个问题：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避免版本号爆炸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提升团队间开发合作效率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8A6E8C-0505-4E3F-0BDA-FC3F4E378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222" y="3531256"/>
            <a:ext cx="5455355" cy="287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16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Maven</a:t>
            </a:r>
            <a:r>
              <a:rPr lang="zh-CN" altLang="en-US" dirty="0"/>
              <a:t> 配置对新项目生效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-1081650" y="531964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3E8A4-64EE-9E02-E4DD-28F459FDBCAA}"/>
              </a:ext>
            </a:extLst>
          </p:cNvPr>
          <p:cNvSpPr txBox="1"/>
          <p:nvPr/>
        </p:nvSpPr>
        <p:spPr>
          <a:xfrm>
            <a:off x="668692" y="1407113"/>
            <a:ext cx="10854616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我们之前在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IntelliJ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Settings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Build, Execution, Deployment -&gt; Maven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中修改了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但这么修改只对当前项目生效，新创建的项目仍然是默认的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9B5D2E-7709-4119-366C-B031E54BD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56" y="2344402"/>
            <a:ext cx="6594211" cy="398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5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Maven</a:t>
            </a:r>
            <a:r>
              <a:rPr lang="zh-CN" altLang="en-US" dirty="0"/>
              <a:t> 配置对新项目生效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860E0B-5AD6-B0B9-87D9-909F5FCBE849}"/>
              </a:ext>
            </a:extLst>
          </p:cNvPr>
          <p:cNvSpPr txBox="1"/>
          <p:nvPr/>
        </p:nvSpPr>
        <p:spPr>
          <a:xfrm>
            <a:off x="-1081650" y="5319646"/>
            <a:ext cx="1306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</a:rPr>
              <a:t>直接依赖</a:t>
            </a:r>
            <a:endParaRPr kumimoji="1"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3E8A4-64EE-9E02-E4DD-28F459FDBCAA}"/>
              </a:ext>
            </a:extLst>
          </p:cNvPr>
          <p:cNvSpPr txBox="1"/>
          <p:nvPr/>
        </p:nvSpPr>
        <p:spPr>
          <a:xfrm>
            <a:off x="668692" y="1407113"/>
            <a:ext cx="10854616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在修改对新项目生效，需要修改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File -&gt; New Projects Setup -&gt; Settings for New Projects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配置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重启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(File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Invalid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Caches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and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restart)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，创建新工程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7C4034-78A6-A9AD-B376-5F68E4206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2" y="2289821"/>
            <a:ext cx="4525240" cy="38356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1964A4-61D0-E920-1AB3-62F7807CD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86" y="2289821"/>
            <a:ext cx="6089322" cy="36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15970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27904</TotalTime>
  <Words>1950</Words>
  <Application>Microsoft Macintosh PowerPoint</Application>
  <PresentationFormat>宽屏</PresentationFormat>
  <Paragraphs>237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Maven介绍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302</cp:revision>
  <dcterms:created xsi:type="dcterms:W3CDTF">2021-12-14T08:53:33Z</dcterms:created>
  <dcterms:modified xsi:type="dcterms:W3CDTF">2023-04-23T17:18:03Z</dcterms:modified>
</cp:coreProperties>
</file>