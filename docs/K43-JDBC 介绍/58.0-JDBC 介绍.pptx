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notesMasterIdLst>
    <p:notesMasterId r:id="rId24"/>
  </p:notesMasterIdLst>
  <p:sldIdLst>
    <p:sldId id="256" r:id="rId3"/>
    <p:sldId id="331" r:id="rId4"/>
    <p:sldId id="414" r:id="rId5"/>
    <p:sldId id="511" r:id="rId6"/>
    <p:sldId id="537" r:id="rId7"/>
    <p:sldId id="538" r:id="rId8"/>
    <p:sldId id="539" r:id="rId9"/>
    <p:sldId id="540" r:id="rId10"/>
    <p:sldId id="541" r:id="rId11"/>
    <p:sldId id="542" r:id="rId12"/>
    <p:sldId id="543" r:id="rId13"/>
    <p:sldId id="544" r:id="rId14"/>
    <p:sldId id="545" r:id="rId15"/>
    <p:sldId id="548" r:id="rId16"/>
    <p:sldId id="546" r:id="rId17"/>
    <p:sldId id="549" r:id="rId18"/>
    <p:sldId id="551" r:id="rId19"/>
    <p:sldId id="552" r:id="rId20"/>
    <p:sldId id="553" r:id="rId21"/>
    <p:sldId id="547" r:id="rId22"/>
    <p:sldId id="554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79A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84" autoAdjust="0"/>
    <p:restoredTop sz="95908"/>
  </p:normalViewPr>
  <p:slideViewPr>
    <p:cSldViewPr snapToGrid="0">
      <p:cViewPr varScale="1">
        <p:scale>
          <a:sx n="113" d="100"/>
          <a:sy n="113" d="100"/>
        </p:scale>
        <p:origin x="208" y="328"/>
      </p:cViewPr>
      <p:guideLst/>
    </p:cSldViewPr>
  </p:slideViewPr>
  <p:outlineViewPr>
    <p:cViewPr>
      <p:scale>
        <a:sx n="33" d="100"/>
        <a:sy n="33" d="100"/>
      </p:scale>
      <p:origin x="0" y="-46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34C0-42CF-994A-B498-2C2DAA802C99}" type="datetimeFigureOut">
              <a:rPr lang="en-CN" smtClean="0"/>
              <a:t>7/8/23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22EA6-FE1A-C745-BE27-F2AA48395E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899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66399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2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lang="zh-CN" altLang="en-US" dirty="0" smtClean="0"/>
            </a:lvl1pPr>
            <a:lvl2pPr>
              <a:lnSpc>
                <a:spcPct val="100000"/>
              </a:lnSpc>
              <a:defRPr lang="zh-CN" altLang="en-US" dirty="0" smtClean="0"/>
            </a:lvl2pPr>
            <a:lvl3pPr>
              <a:lnSpc>
                <a:spcPct val="100000"/>
              </a:lnSpc>
              <a:defRPr lang="zh-CN" altLang="en-US" dirty="0" smtClean="0"/>
            </a:lvl3pPr>
            <a:lvl4pPr>
              <a:lnSpc>
                <a:spcPct val="100000"/>
              </a:lnSpc>
              <a:defRPr lang="zh-CN" altLang="en-US" dirty="0" smtClean="0"/>
            </a:lvl4pPr>
            <a:lvl5pPr>
              <a:lnSpc>
                <a:spcPct val="100000"/>
              </a:lnSpc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366928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9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marL="0" indent="0" algn="ctr">
              <a:buNone/>
              <a:defRPr/>
            </a:lvl2pPr>
            <a:lvl3pPr marL="0" indent="0" algn="ctr">
              <a:buNone/>
              <a:defRPr/>
            </a:lvl3pPr>
            <a:lvl4pPr marL="0" indent="0" algn="ctr">
              <a:buNone/>
              <a:defRPr/>
            </a:lvl4pPr>
            <a:lvl5pPr marL="0" indent="0" algn="ctr">
              <a:buNone/>
              <a:defRPr/>
            </a:lvl5pPr>
          </a:lstStyle>
          <a:p>
            <a:pPr lvl="0"/>
            <a:r>
              <a:rPr lang="zh-CN" altLang="en-US" dirty="0"/>
              <a:t>背景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2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4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15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>
                <a:solidFill>
                  <a:srgbClr val="2B4576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09546"/>
            <a:ext cx="10515600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0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25041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21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>
              <a:buSzPct val="100000"/>
              <a:defRPr lang="zh-CN" altLang="en-US" dirty="0" smtClean="0"/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75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3"/>
          </p:nvPr>
        </p:nvSpPr>
        <p:spPr>
          <a:xfrm>
            <a:off x="0" y="3"/>
            <a:ext cx="12192000" cy="6857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38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57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3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4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84F88"/>
            </a:gs>
            <a:gs pos="100000">
              <a:srgbClr val="1E2C6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FC00A0-87D4-4A61-9BF9-412D314D1DAF}"/>
              </a:ext>
            </a:extLst>
          </p:cNvPr>
          <p:cNvSpPr txBox="1"/>
          <p:nvPr/>
        </p:nvSpPr>
        <p:spPr>
          <a:xfrm>
            <a:off x="5546971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48837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9" r:id="rId3"/>
    <p:sldLayoutId id="2147483675" r:id="rId4"/>
    <p:sldLayoutId id="2147483678" r:id="rId5"/>
    <p:sldLayoutId id="2147483677" r:id="rId6"/>
    <p:sldLayoutId id="2147483679" r:id="rId7"/>
    <p:sldLayoutId id="2147483680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-360000" algn="l" defTabSz="6858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lang="zh-CN" altLang="en-US" sz="3600" kern="1200" dirty="0" smtClean="0">
          <a:solidFill>
            <a:srgbClr val="FFDE85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100000"/>
        <a:buFont typeface="Wingdings" panose="05000000000000000000" pitchFamily="2" charset="2"/>
        <a:buChar char="ü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9FCFF"/>
            </a:gs>
            <a:gs pos="100000">
              <a:srgbClr val="EBF7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1130"/>
            <a:ext cx="10515600" cy="5380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4C8E59-2062-4974-9D8C-C0D011B313F2}"/>
              </a:ext>
            </a:extLst>
          </p:cNvPr>
          <p:cNvSpPr txBox="1"/>
          <p:nvPr/>
        </p:nvSpPr>
        <p:spPr>
          <a:xfrm>
            <a:off x="5363962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95339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90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36000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50000"/>
        <a:buFont typeface="Wingdings" panose="05000000000000000000" pitchFamily="2" charset="2"/>
        <a:buChar char="ü"/>
        <a:defRPr sz="24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92940"/>
            <a:ext cx="10515600" cy="757130"/>
          </a:xfrm>
        </p:spPr>
        <p:txBody>
          <a:bodyPr/>
          <a:lstStyle/>
          <a:p>
            <a:r>
              <a:rPr lang="en-US" altLang="zh-CN" dirty="0"/>
              <a:t>JDBC</a:t>
            </a:r>
            <a:r>
              <a:rPr lang="zh-CN" altLang="en-US" dirty="0"/>
              <a:t>介绍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FB9298-51D4-4A02-B053-F474455D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66399"/>
            <a:ext cx="10515600" cy="461665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罗辑</a:t>
            </a:r>
          </a:p>
        </p:txBody>
      </p:sp>
    </p:spTree>
    <p:extLst>
      <p:ext uri="{BB962C8B-B14F-4D97-AF65-F5344CB8AC3E}">
        <p14:creationId xmlns:p14="http://schemas.microsoft.com/office/powerpoint/2010/main" val="355670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512988" y="521724"/>
            <a:ext cx="766016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本节课的主要内容包括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C06F9D-3597-D8B9-1E43-941F7E21AB78}"/>
              </a:ext>
            </a:extLst>
          </p:cNvPr>
          <p:cNvSpPr txBox="1"/>
          <p:nvPr/>
        </p:nvSpPr>
        <p:spPr>
          <a:xfrm>
            <a:off x="634749" y="1278854"/>
            <a:ext cx="7140473" cy="1889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什么是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JDBC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JDBC 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入门程序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JDBC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API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数据库连接池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50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1" dirty="0">
                <a:latin typeface="Helvetica Neue" panose="02000503000000020004" pitchFamily="2" charset="0"/>
              </a:rPr>
              <a:t>什么是</a:t>
            </a:r>
            <a:r>
              <a:rPr lang="en-US" altLang="zh-CN" b="1" dirty="0">
                <a:latin typeface="Helvetica Neue" panose="02000503000000020004" pitchFamily="2" charset="0"/>
              </a:rPr>
              <a:t>JDBC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8B13-7BD8-D25A-7ADD-682EF09DC889}"/>
              </a:ext>
            </a:extLst>
          </p:cNvPr>
          <p:cNvSpPr txBox="1"/>
          <p:nvPr/>
        </p:nvSpPr>
        <p:spPr>
          <a:xfrm>
            <a:off x="668692" y="1401596"/>
            <a:ext cx="10721798" cy="189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JDBC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：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Database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Connectivity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，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数据库连接。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JDBC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是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语言访问关系型数据库的标准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API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。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JDBC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是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官方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(Sun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公司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)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定义的一套操作数据库的规范，即定义了一组接口和类。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各数据库厂商实现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JDBC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接口，提供数据库驱动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jar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包。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程序员面向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JDBC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接口编程，真正执行代码时使用的是数据驱动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jar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包中的实现类。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FA48204-A65C-A367-BDA1-1C1FFABCB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3377292"/>
            <a:ext cx="7549270" cy="238144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86BD809-D909-8F5B-AA49-FE686834FE3B}"/>
              </a:ext>
            </a:extLst>
          </p:cNvPr>
          <p:cNvSpPr txBox="1"/>
          <p:nvPr/>
        </p:nvSpPr>
        <p:spPr>
          <a:xfrm>
            <a:off x="668692" y="5842950"/>
            <a:ext cx="10721798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程序员面向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JDBC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接口编程，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代码与具体的数据软件是解耦合的，将来切换底层数据库软件，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代码可以基本不变。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92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b="1" dirty="0">
                <a:latin typeface="Helvetica Neue" panose="02000503000000020004" pitchFamily="2" charset="0"/>
              </a:rPr>
              <a:t>JDBC</a:t>
            </a:r>
            <a:r>
              <a:rPr lang="zh-CN" altLang="en-US" b="1" dirty="0">
                <a:latin typeface="Helvetica Neue" panose="02000503000000020004" pitchFamily="2" charset="0"/>
              </a:rPr>
              <a:t>入门程序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C5C315-FECC-F543-3078-37BDD6F51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044" y="2867941"/>
            <a:ext cx="5836356" cy="347402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1EB0569-EACC-E9A0-5BD0-D6B9057B2CD5}"/>
              </a:ext>
            </a:extLst>
          </p:cNvPr>
          <p:cNvSpPr txBox="1"/>
          <p:nvPr/>
        </p:nvSpPr>
        <p:spPr>
          <a:xfrm>
            <a:off x="736776" y="1527517"/>
            <a:ext cx="3677180" cy="2268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0.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引入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MySQL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驱动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jar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包依赖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1.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注册驱动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2.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获取连接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3.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定义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语句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4.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执行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语句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5.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释放资源</a:t>
            </a:r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01E757F-6079-6B58-372B-1525E187D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044" y="1611424"/>
            <a:ext cx="5837857" cy="105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36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b="1" dirty="0">
                <a:latin typeface="Helvetica Neue" panose="02000503000000020004" pitchFamily="2" charset="0"/>
              </a:rPr>
              <a:t>JDBC</a:t>
            </a:r>
            <a:r>
              <a:rPr lang="zh-CN" altLang="en-US" b="1" dirty="0">
                <a:latin typeface="Helvetica Neue" panose="02000503000000020004" pitchFamily="2" charset="0"/>
              </a:rPr>
              <a:t>入门程序 </a:t>
            </a:r>
            <a:r>
              <a:rPr lang="en-US" altLang="zh-CN" b="1" dirty="0">
                <a:latin typeface="Helvetica Neue" panose="02000503000000020004" pitchFamily="2" charset="0"/>
              </a:rPr>
              <a:t>–</a:t>
            </a:r>
            <a:r>
              <a:rPr lang="zh-CN" altLang="en-US" b="1" dirty="0">
                <a:latin typeface="Helvetica Neue" panose="02000503000000020004" pitchFamily="2" charset="0"/>
              </a:rPr>
              <a:t> 注册驱动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1799174-38D2-6D1D-BD4F-A7DEF9CB4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1" y="2706248"/>
            <a:ext cx="5754686" cy="171757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B1DBF7D-411A-DAC5-F24C-8A18878B56E4}"/>
              </a:ext>
            </a:extLst>
          </p:cNvPr>
          <p:cNvSpPr txBox="1"/>
          <p:nvPr/>
        </p:nvSpPr>
        <p:spPr>
          <a:xfrm>
            <a:off x="668692" y="1317380"/>
            <a:ext cx="10845975" cy="424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使用 </a:t>
            </a:r>
            <a:r>
              <a:rPr lang="en-US" altLang="zh-CN" sz="1600" b="1" dirty="0" err="1">
                <a:solidFill>
                  <a:srgbClr val="FFE79A"/>
                </a:solidFill>
                <a:latin typeface="Helvetica Neue" panose="02000503000000020004" pitchFamily="2" charset="0"/>
              </a:rPr>
              <a:t>Class.forname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加载类，注册驱动。</a:t>
            </a:r>
            <a:endParaRPr lang="zh-CN" altLang="en-US" sz="1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5EE0E1-3EC9-ECE9-7630-69AD326DE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1" y="1765859"/>
            <a:ext cx="5619219" cy="49235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03CBFE6-465D-170E-4E48-32B62A3CBAAF}"/>
              </a:ext>
            </a:extLst>
          </p:cNvPr>
          <p:cNvSpPr txBox="1"/>
          <p:nvPr/>
        </p:nvSpPr>
        <p:spPr>
          <a:xfrm>
            <a:off x="668691" y="2227892"/>
            <a:ext cx="10845975" cy="424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类加载会执行类的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static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代码块，在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Driver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类的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static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代码块中注册驱动。 </a:t>
            </a:r>
            <a:endParaRPr lang="zh-CN" altLang="en-US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E55D3DB-E75D-325D-C4FB-7B2391501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91" y="5104267"/>
            <a:ext cx="4214901" cy="140160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5AC3657-E10F-14AA-7D27-BBBB88F661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0555" y="5090545"/>
            <a:ext cx="4873978" cy="90014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1E75FB8-8334-3AD6-20CE-E91DCB88C724}"/>
              </a:ext>
            </a:extLst>
          </p:cNvPr>
          <p:cNvSpPr txBox="1"/>
          <p:nvPr/>
        </p:nvSpPr>
        <p:spPr>
          <a:xfrm>
            <a:off x="668691" y="4610157"/>
            <a:ext cx="11264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jdbc4.0</a:t>
            </a:r>
            <a:r>
              <a:rPr lang="zh-CN" altLang="en-US" sz="1400" b="1" dirty="0">
                <a:solidFill>
                  <a:srgbClr val="FFE79A"/>
                </a:solidFill>
                <a:latin typeface="Helvetica Neue" panose="02000503000000020004" pitchFamily="2" charset="0"/>
              </a:rPr>
              <a:t>不再需要显示调用</a:t>
            </a:r>
            <a:r>
              <a:rPr lang="en" altLang="zh-CN" sz="1400" b="1" dirty="0" err="1">
                <a:solidFill>
                  <a:srgbClr val="FFE79A"/>
                </a:solidFill>
                <a:latin typeface="Helvetica Neue" panose="02000503000000020004" pitchFamily="2" charset="0"/>
              </a:rPr>
              <a:t>Class.forName</a:t>
            </a:r>
            <a:r>
              <a:rPr lang="en" altLang="zh-CN" sz="1400" b="1" dirty="0">
                <a:solidFill>
                  <a:srgbClr val="FFE79A"/>
                </a:solidFill>
                <a:latin typeface="Helvetica Neue" panose="02000503000000020004" pitchFamily="2" charset="0"/>
              </a:rPr>
              <a:t>()</a:t>
            </a:r>
            <a:r>
              <a:rPr lang="zh-CN" altLang="en-US" sz="1400" b="1" dirty="0">
                <a:solidFill>
                  <a:srgbClr val="FFE79A"/>
                </a:solidFill>
                <a:latin typeface="Helvetica Neue" panose="02000503000000020004" pitchFamily="2" charset="0"/>
              </a:rPr>
              <a:t>注册驱动而是自动调用驱动</a:t>
            </a:r>
            <a:r>
              <a:rPr lang="en" altLang="zh-CN" sz="14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jar</a:t>
            </a:r>
            <a:r>
              <a:rPr lang="zh-CN" altLang="en-US" sz="1400" b="1" dirty="0">
                <a:solidFill>
                  <a:srgbClr val="FFE79A"/>
                </a:solidFill>
                <a:latin typeface="Helvetica Neue" panose="02000503000000020004" pitchFamily="2" charset="0"/>
              </a:rPr>
              <a:t>包下</a:t>
            </a:r>
            <a:r>
              <a:rPr lang="en" altLang="zh-CN" sz="1400" b="1" dirty="0">
                <a:solidFill>
                  <a:srgbClr val="FFE79A"/>
                </a:solidFill>
                <a:latin typeface="Helvetica Neue" panose="02000503000000020004" pitchFamily="2" charset="0"/>
              </a:rPr>
              <a:t>META-INF\services\java .</a:t>
            </a:r>
            <a:r>
              <a:rPr lang="en" altLang="zh-CN" sz="1400" b="1" dirty="0" err="1">
                <a:solidFill>
                  <a:srgbClr val="FFE79A"/>
                </a:solidFill>
                <a:latin typeface="Helvetica Neue" panose="02000503000000020004" pitchFamily="2" charset="0"/>
              </a:rPr>
              <a:t>sql.Driver</a:t>
            </a:r>
            <a:r>
              <a:rPr lang="zh-CN" altLang="en-US" sz="1400" b="1" dirty="0">
                <a:solidFill>
                  <a:srgbClr val="FFE79A"/>
                </a:solidFill>
                <a:latin typeface="Helvetica Neue" panose="02000503000000020004" pitchFamily="2" charset="0"/>
              </a:rPr>
              <a:t>文本中的类名完成注册</a:t>
            </a:r>
          </a:p>
        </p:txBody>
      </p:sp>
    </p:spTree>
    <p:extLst>
      <p:ext uri="{BB962C8B-B14F-4D97-AF65-F5344CB8AC3E}">
        <p14:creationId xmlns:p14="http://schemas.microsoft.com/office/powerpoint/2010/main" val="1212006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b="1" dirty="0">
                <a:latin typeface="Helvetica Neue" panose="02000503000000020004" pitchFamily="2" charset="0"/>
              </a:rPr>
              <a:t>JDBC</a:t>
            </a:r>
            <a:r>
              <a:rPr lang="zh-CN" altLang="en-US" b="1" dirty="0">
                <a:latin typeface="Helvetica Neue" panose="02000503000000020004" pitchFamily="2" charset="0"/>
              </a:rPr>
              <a:t>入门程序 </a:t>
            </a:r>
            <a:r>
              <a:rPr lang="en-US" altLang="zh-CN" b="1" dirty="0">
                <a:latin typeface="Helvetica Neue" panose="02000503000000020004" pitchFamily="2" charset="0"/>
              </a:rPr>
              <a:t>–</a:t>
            </a:r>
            <a:r>
              <a:rPr lang="zh-CN" altLang="en-US" b="1" dirty="0">
                <a:latin typeface="Helvetica Neue" panose="02000503000000020004" pitchFamily="2" charset="0"/>
              </a:rPr>
              <a:t> 获取连接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81FCA45-ECAD-669F-3EC1-7CB443AB7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1471993"/>
            <a:ext cx="8652364" cy="154214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A59A86D-49FA-EEB9-4210-2603EB64831A}"/>
              </a:ext>
            </a:extLst>
          </p:cNvPr>
          <p:cNvSpPr txBox="1"/>
          <p:nvPr/>
        </p:nvSpPr>
        <p:spPr>
          <a:xfrm>
            <a:off x="668692" y="3168746"/>
            <a:ext cx="10845975" cy="1901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 err="1">
                <a:solidFill>
                  <a:srgbClr val="FFE79A"/>
                </a:solidFill>
                <a:latin typeface="Helvetica Neue" panose="02000503000000020004" pitchFamily="2" charset="0"/>
              </a:rPr>
              <a:t>url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的格式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语法  </a:t>
            </a:r>
            <a:r>
              <a:rPr lang="en-US" altLang="zh-CN" sz="1600" dirty="0" err="1">
                <a:solidFill>
                  <a:schemeClr val="bg1"/>
                </a:solidFill>
                <a:latin typeface="Helvetica Neue" panose="02000503000000020004" pitchFamily="2" charset="0"/>
              </a:rPr>
              <a:t>jdbc:mysql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://</a:t>
            </a:r>
            <a:r>
              <a:rPr lang="en-US" altLang="zh-CN" sz="1600" dirty="0" err="1">
                <a:solidFill>
                  <a:schemeClr val="bg1"/>
                </a:solidFill>
                <a:latin typeface="Helvetica Neue" panose="02000503000000020004" pitchFamily="2" charset="0"/>
              </a:rPr>
              <a:t>ip</a:t>
            </a:r>
            <a:r>
              <a:rPr lang="zh-CN" altLang="en-US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地址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域名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):</a:t>
            </a:r>
            <a:r>
              <a:rPr lang="zh-CN" altLang="en-US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端口号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数据库名称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?</a:t>
            </a:r>
            <a:r>
              <a:rPr lang="zh-CN" altLang="en-US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参数名称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1=</a:t>
            </a:r>
            <a:r>
              <a:rPr lang="zh-CN" altLang="en-US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参数值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1&amp;</a:t>
            </a:r>
            <a:r>
              <a:rPr lang="zh-CN" altLang="en-US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参数名称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2=</a:t>
            </a:r>
            <a:r>
              <a:rPr lang="zh-CN" altLang="en-US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参数值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2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例子，以下两个例子中，域名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localhost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和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IP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地址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127.0.0.1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都指向本机  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sz="1600" dirty="0" err="1">
                <a:solidFill>
                  <a:schemeClr val="bg1"/>
                </a:solidFill>
                <a:latin typeface="Helvetica Neue" panose="02000503000000020004" pitchFamily="2" charset="0"/>
              </a:rPr>
              <a:t>jdbc:mysql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://localhost:3306/school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sz="1600" dirty="0" err="1">
                <a:solidFill>
                  <a:schemeClr val="bg1"/>
                </a:solidFill>
                <a:latin typeface="Helvetica Neue" panose="02000503000000020004" pitchFamily="2" charset="0"/>
              </a:rPr>
              <a:t>jdbc:mysql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://127.0.0.1:3306/school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22446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b="1" dirty="0">
                <a:latin typeface="Helvetica Neue" panose="02000503000000020004" pitchFamily="2" charset="0"/>
              </a:rPr>
              <a:t>JDBC</a:t>
            </a:r>
            <a:r>
              <a:rPr lang="zh-CN" altLang="en-US" b="1" dirty="0">
                <a:latin typeface="Helvetica Neue" panose="02000503000000020004" pitchFamily="2" charset="0"/>
              </a:rPr>
              <a:t>入门程序 </a:t>
            </a:r>
            <a:r>
              <a:rPr lang="en-US" altLang="zh-CN" b="1" dirty="0">
                <a:latin typeface="Helvetica Neue" panose="02000503000000020004" pitchFamily="2" charset="0"/>
              </a:rPr>
              <a:t>–</a:t>
            </a:r>
            <a:r>
              <a:rPr lang="zh-CN" altLang="en-US" b="1" dirty="0">
                <a:latin typeface="Helvetica Neue" panose="02000503000000020004" pitchFamily="2" charset="0"/>
              </a:rPr>
              <a:t> 定义</a:t>
            </a:r>
            <a:r>
              <a:rPr lang="en-US" altLang="zh-CN" b="1" dirty="0">
                <a:latin typeface="Helvetica Neue" panose="02000503000000020004" pitchFamily="2" charset="0"/>
              </a:rPr>
              <a:t>SQL</a:t>
            </a:r>
            <a:r>
              <a:rPr lang="zh-CN" altLang="en-US" b="1" dirty="0">
                <a:latin typeface="Helvetica Neue" panose="02000503000000020004" pitchFamily="2" charset="0"/>
              </a:rPr>
              <a:t>语句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B8A4165-022F-AFCC-021A-35D8C669B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1559982"/>
            <a:ext cx="8452032" cy="75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9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b="1" dirty="0">
                <a:latin typeface="Helvetica Neue" panose="02000503000000020004" pitchFamily="2" charset="0"/>
              </a:rPr>
              <a:t>JDBC</a:t>
            </a:r>
            <a:r>
              <a:rPr lang="zh-CN" altLang="en-US" b="1" dirty="0">
                <a:latin typeface="Helvetica Neue" panose="02000503000000020004" pitchFamily="2" charset="0"/>
              </a:rPr>
              <a:t>入门程序 </a:t>
            </a:r>
            <a:r>
              <a:rPr lang="en-US" altLang="zh-CN" b="1" dirty="0">
                <a:latin typeface="Helvetica Neue" panose="02000503000000020004" pitchFamily="2" charset="0"/>
              </a:rPr>
              <a:t>–</a:t>
            </a:r>
            <a:r>
              <a:rPr lang="zh-CN" altLang="en-US" b="1" dirty="0">
                <a:latin typeface="Helvetica Neue" panose="02000503000000020004" pitchFamily="2" charset="0"/>
              </a:rPr>
              <a:t> 执行</a:t>
            </a:r>
            <a:r>
              <a:rPr lang="en-US" altLang="zh-CN" b="1" dirty="0">
                <a:latin typeface="Helvetica Neue" panose="02000503000000020004" pitchFamily="2" charset="0"/>
              </a:rPr>
              <a:t>SQL</a:t>
            </a:r>
            <a:r>
              <a:rPr lang="zh-CN" altLang="en-US" b="1" dirty="0">
                <a:latin typeface="Helvetica Neue" panose="02000503000000020004" pitchFamily="2" charset="0"/>
              </a:rPr>
              <a:t>语句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D5AD6D-899A-55A7-AFFB-A760C8EF8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1500527"/>
            <a:ext cx="7402864" cy="110042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6D841E1-77BB-8E3D-6B14-1D3A7ACAF7F2}"/>
              </a:ext>
            </a:extLst>
          </p:cNvPr>
          <p:cNvSpPr txBox="1"/>
          <p:nvPr/>
        </p:nvSpPr>
        <p:spPr>
          <a:xfrm>
            <a:off x="668692" y="2784100"/>
            <a:ext cx="10845975" cy="793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调用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Connection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的 </a:t>
            </a:r>
            <a:r>
              <a:rPr lang="en-US" altLang="zh-CN" sz="1600" b="1" dirty="0" err="1">
                <a:solidFill>
                  <a:srgbClr val="FFE79A"/>
                </a:solidFill>
                <a:latin typeface="Helvetica Neue" panose="02000503000000020004" pitchFamily="2" charset="0"/>
              </a:rPr>
              <a:t>createStatement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方法 获取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Statement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使用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Statement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执行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语句</a:t>
            </a:r>
          </a:p>
        </p:txBody>
      </p:sp>
    </p:spTree>
    <p:extLst>
      <p:ext uri="{BB962C8B-B14F-4D97-AF65-F5344CB8AC3E}">
        <p14:creationId xmlns:p14="http://schemas.microsoft.com/office/powerpoint/2010/main" val="1775670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b="1" dirty="0">
                <a:latin typeface="Helvetica Neue" panose="02000503000000020004" pitchFamily="2" charset="0"/>
              </a:rPr>
              <a:t>JDBC</a:t>
            </a:r>
            <a:r>
              <a:rPr lang="zh-CN" altLang="en-US" b="1" dirty="0">
                <a:latin typeface="Helvetica Neue" panose="02000503000000020004" pitchFamily="2" charset="0"/>
              </a:rPr>
              <a:t>入门程序 </a:t>
            </a:r>
            <a:r>
              <a:rPr lang="en-US" altLang="zh-CN" b="1" dirty="0">
                <a:latin typeface="Helvetica Neue" panose="02000503000000020004" pitchFamily="2" charset="0"/>
              </a:rPr>
              <a:t>–</a:t>
            </a:r>
            <a:r>
              <a:rPr lang="zh-CN" altLang="en-US" b="1" dirty="0">
                <a:latin typeface="Helvetica Neue" panose="02000503000000020004" pitchFamily="2" charset="0"/>
              </a:rPr>
              <a:t> 释放资源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D841E1-77BB-8E3D-6B14-1D3A7ACAF7F2}"/>
              </a:ext>
            </a:extLst>
          </p:cNvPr>
          <p:cNvSpPr txBox="1"/>
          <p:nvPr/>
        </p:nvSpPr>
        <p:spPr>
          <a:xfrm>
            <a:off x="668692" y="2635513"/>
            <a:ext cx="10845975" cy="793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关闭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Statement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关闭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Connection</a:t>
            </a:r>
            <a:endParaRPr lang="zh-CN" altLang="en-US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11A354B-595E-8E06-E0DC-775B544D4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1587190"/>
            <a:ext cx="58293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44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b="1" dirty="0">
                <a:latin typeface="Helvetica Neue" panose="02000503000000020004" pitchFamily="2" charset="0"/>
              </a:rPr>
              <a:t>JDBC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API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-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 err="1">
                <a:latin typeface="Helvetica Neue" panose="02000503000000020004" pitchFamily="2" charset="0"/>
              </a:rPr>
              <a:t>DriverManager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3397F4-6353-2F29-261E-5B65613FAF6F}"/>
              </a:ext>
            </a:extLst>
          </p:cNvPr>
          <p:cNvSpPr txBox="1"/>
          <p:nvPr/>
        </p:nvSpPr>
        <p:spPr>
          <a:xfrm>
            <a:off x="668692" y="1317380"/>
            <a:ext cx="10845975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 err="1">
                <a:solidFill>
                  <a:srgbClr val="FFE79A"/>
                </a:solidFill>
                <a:latin typeface="Helvetica Neue" panose="02000503000000020004" pitchFamily="2" charset="0"/>
              </a:rPr>
              <a:t>DriverManager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的作用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注册驱动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7C5B4F-09A8-3569-CE02-4815C26A2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2230806"/>
            <a:ext cx="5799841" cy="168769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A70A538-31C0-1898-EE97-CD0A3F863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2" y="4763978"/>
            <a:ext cx="7200900" cy="1397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C9728BF-5BE5-F70C-E364-B7981903870C}"/>
              </a:ext>
            </a:extLst>
          </p:cNvPr>
          <p:cNvSpPr txBox="1"/>
          <p:nvPr/>
        </p:nvSpPr>
        <p:spPr>
          <a:xfrm>
            <a:off x="668692" y="42725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zh-CN" altLang="en-US" sz="1800" b="1" dirty="0">
                <a:solidFill>
                  <a:srgbClr val="FFE79A"/>
                </a:solidFill>
                <a:latin typeface="Helvetica Neue" panose="02000503000000020004" pitchFamily="2" charset="0"/>
              </a:rPr>
              <a:t>获取数据库连接</a:t>
            </a:r>
            <a:endParaRPr lang="en-US" altLang="zh-CN" sz="18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643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b="1" dirty="0">
                <a:latin typeface="Helvetica Neue" panose="02000503000000020004" pitchFamily="2" charset="0"/>
              </a:rPr>
              <a:t>JDBC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API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-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Connection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DFB619-EBF7-4B6E-35CD-FC953DE8F85C}"/>
              </a:ext>
            </a:extLst>
          </p:cNvPr>
          <p:cNvSpPr txBox="1"/>
          <p:nvPr/>
        </p:nvSpPr>
        <p:spPr>
          <a:xfrm>
            <a:off x="668692" y="1317380"/>
            <a:ext cx="10845975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Connection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（数据库连接） 的作用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获取执行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的对象，包括：普通执行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对象，预编译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的执行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对象（防止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注入）。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EE0DCB-A237-532A-6AA5-7AA280645253}"/>
              </a:ext>
            </a:extLst>
          </p:cNvPr>
          <p:cNvSpPr txBox="1"/>
          <p:nvPr/>
        </p:nvSpPr>
        <p:spPr>
          <a:xfrm>
            <a:off x="668692" y="3789254"/>
            <a:ext cx="4987041" cy="1711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800" b="1" dirty="0">
                <a:solidFill>
                  <a:srgbClr val="FFE79A"/>
                </a:solidFill>
                <a:latin typeface="Helvetica Neue" panose="02000503000000020004" pitchFamily="2" charset="0"/>
              </a:rPr>
              <a:t>进行事务管理</a:t>
            </a:r>
            <a:endParaRPr lang="en-US" altLang="zh-CN" sz="18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开启事务：</a:t>
            </a:r>
            <a:r>
              <a:rPr lang="en" altLang="zh-CN" sz="1800" dirty="0" err="1">
                <a:solidFill>
                  <a:srgbClr val="A9B7C6"/>
                </a:solidFill>
                <a:effectLst/>
                <a:latin typeface="JetBrains Mono"/>
              </a:rPr>
              <a:t>setAutoCommit</a:t>
            </a:r>
            <a:r>
              <a:rPr lang="en" altLang="zh-CN" sz="18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" altLang="zh-CN" sz="1800" dirty="0">
                <a:solidFill>
                  <a:srgbClr val="CC7832"/>
                </a:solidFill>
                <a:effectLst/>
                <a:latin typeface="JetBrains Mono"/>
              </a:rPr>
              <a:t>false</a:t>
            </a:r>
            <a:r>
              <a:rPr lang="en" altLang="zh-CN" sz="1800" dirty="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" altLang="zh-CN" sz="1800" dirty="0">
                <a:solidFill>
                  <a:srgbClr val="CC7832"/>
                </a:solidFill>
                <a:effectLst/>
                <a:latin typeface="JetBrains Mono"/>
              </a:rPr>
              <a:t>;</a:t>
            </a:r>
            <a:endParaRPr lang="en" altLang="zh-CN" sz="1800" dirty="0">
              <a:solidFill>
                <a:srgbClr val="A9B7C6"/>
              </a:solidFill>
              <a:effectLst/>
              <a:latin typeface="JetBrains Mono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提交事务：</a:t>
            </a:r>
            <a:r>
              <a:rPr lang="en" altLang="zh-CN" sz="1800" dirty="0">
                <a:solidFill>
                  <a:srgbClr val="A9B7C6"/>
                </a:solidFill>
                <a:effectLst/>
                <a:latin typeface="JetBrains Mono"/>
              </a:rPr>
              <a:t>commit()</a:t>
            </a:r>
            <a:r>
              <a:rPr lang="en" altLang="zh-CN" sz="1800" dirty="0">
                <a:solidFill>
                  <a:srgbClr val="CC7832"/>
                </a:solidFill>
                <a:effectLst/>
                <a:latin typeface="JetBrains Mono"/>
              </a:rPr>
              <a:t>;</a:t>
            </a:r>
            <a:endParaRPr lang="en" altLang="zh-CN" sz="1800" dirty="0">
              <a:solidFill>
                <a:srgbClr val="A9B7C6"/>
              </a:solidFill>
              <a:effectLst/>
              <a:latin typeface="JetBrains Mono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回滚事务：</a:t>
            </a:r>
            <a:r>
              <a:rPr lang="en" altLang="zh-CN" sz="1800" dirty="0">
                <a:solidFill>
                  <a:srgbClr val="A9B7C6"/>
                </a:solidFill>
                <a:effectLst/>
                <a:latin typeface="JetBrains Mono"/>
              </a:rPr>
              <a:t>rollback()</a:t>
            </a:r>
            <a:r>
              <a:rPr lang="en" altLang="zh-CN" sz="1800" dirty="0">
                <a:solidFill>
                  <a:srgbClr val="CC7832"/>
                </a:solidFill>
                <a:effectLst/>
                <a:latin typeface="JetBrains Mono"/>
              </a:rPr>
              <a:t>;</a:t>
            </a:r>
            <a:endParaRPr lang="en" altLang="zh-CN" sz="1800" dirty="0">
              <a:solidFill>
                <a:srgbClr val="A9B7C6"/>
              </a:solidFill>
              <a:effectLst/>
              <a:latin typeface="JetBrains Mono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9EE228-D033-5D05-B294-6133A2A4A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68" y="2224904"/>
            <a:ext cx="5715000" cy="584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94786EA-0DAA-1C11-978F-74B442F6C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68" y="2988029"/>
            <a:ext cx="7200900" cy="622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2D2637C-332D-204E-9D49-F2EA55BE8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111" y="3789254"/>
            <a:ext cx="3937000" cy="25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33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b="1" dirty="0">
                <a:latin typeface="Helvetica Neue" panose="02000503000000020004" pitchFamily="2" charset="0"/>
              </a:rPr>
              <a:t>JDBC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API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-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Statement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3DC800B-3ACE-4827-511F-1DE44DC3CF6E}"/>
              </a:ext>
            </a:extLst>
          </p:cNvPr>
          <p:cNvSpPr txBox="1"/>
          <p:nvPr/>
        </p:nvSpPr>
        <p:spPr>
          <a:xfrm>
            <a:off x="668692" y="1317380"/>
            <a:ext cx="10845975" cy="1204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Statement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的作用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执行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语句，可以执行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DDL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、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DML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、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DQL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。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sz="1800" dirty="0" err="1">
                <a:solidFill>
                  <a:schemeClr val="bg1"/>
                </a:solidFill>
                <a:effectLst/>
                <a:latin typeface="JetBrains Mono"/>
              </a:rPr>
              <a:t>executeUpdate</a:t>
            </a:r>
            <a:r>
              <a:rPr lang="zh-CN" altLang="en-US" sz="1800" dirty="0">
                <a:solidFill>
                  <a:srgbClr val="A9B7C6"/>
                </a:solidFill>
                <a:effectLst/>
                <a:latin typeface="JetBrains Mono"/>
              </a:rPr>
              <a:t>  </a:t>
            </a:r>
            <a:r>
              <a:rPr lang="zh-CN" altLang="e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执行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DDL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和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DML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（插入数据、更新数据、删除数据）</a:t>
            </a:r>
            <a:endParaRPr lang="en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424446-7309-204A-2E00-C987DD5EE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1" y="2600486"/>
            <a:ext cx="7507112" cy="238004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E156004-7383-6DF0-D645-423E68D4F51E}"/>
              </a:ext>
            </a:extLst>
          </p:cNvPr>
          <p:cNvSpPr txBox="1"/>
          <p:nvPr/>
        </p:nvSpPr>
        <p:spPr>
          <a:xfrm>
            <a:off x="668691" y="5134745"/>
            <a:ext cx="9423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" altLang="zh-CN" sz="2000" dirty="0" err="1">
                <a:solidFill>
                  <a:schemeClr val="bg1"/>
                </a:solidFill>
                <a:effectLst/>
                <a:latin typeface="JetBrains Mono"/>
              </a:rPr>
              <a:t>executeQuery</a:t>
            </a:r>
            <a:r>
              <a:rPr lang="zh-CN" altLang="en-US" sz="2000" dirty="0">
                <a:solidFill>
                  <a:srgbClr val="A9B7C6"/>
                </a:solidFill>
                <a:effectLst/>
                <a:latin typeface="JetBrains Mono"/>
              </a:rPr>
              <a:t>  </a:t>
            </a:r>
            <a:r>
              <a:rPr lang="zh-CN" altLang="en" sz="1800" b="1" dirty="0">
                <a:solidFill>
                  <a:srgbClr val="FFE79A"/>
                </a:solidFill>
                <a:latin typeface="Helvetica Neue" panose="02000503000000020004" pitchFamily="2" charset="0"/>
              </a:rPr>
              <a:t>执行</a:t>
            </a:r>
            <a:r>
              <a:rPr lang="zh-CN" altLang="en-US" sz="18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800" b="1" dirty="0">
                <a:solidFill>
                  <a:srgbClr val="FFE79A"/>
                </a:solidFill>
                <a:latin typeface="Helvetica Neue" panose="02000503000000020004" pitchFamily="2" charset="0"/>
              </a:rPr>
              <a:t>DQL</a:t>
            </a:r>
            <a:r>
              <a:rPr lang="zh-CN" altLang="en-US" sz="18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，查询数据</a:t>
            </a:r>
            <a:endParaRPr lang="en-US" altLang="zh-CN" sz="18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7EF35A4-2BF3-2816-F400-8EB08D3D1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1" y="5689067"/>
            <a:ext cx="7507112" cy="82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20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b="1" dirty="0">
                <a:latin typeface="Helvetica Neue" panose="02000503000000020004" pitchFamily="2" charset="0"/>
              </a:rPr>
              <a:t>JDBC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API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-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 err="1">
                <a:latin typeface="Helvetica Neue" panose="02000503000000020004" pitchFamily="2" charset="0"/>
              </a:rPr>
              <a:t>ResultSet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D588B5A-92EB-2885-52B3-D56F054848D0}"/>
              </a:ext>
            </a:extLst>
          </p:cNvPr>
          <p:cNvSpPr txBox="1"/>
          <p:nvPr/>
        </p:nvSpPr>
        <p:spPr>
          <a:xfrm>
            <a:off x="668692" y="1317380"/>
            <a:ext cx="11083041" cy="3420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 err="1">
                <a:solidFill>
                  <a:srgbClr val="FFE79A"/>
                </a:solidFill>
                <a:latin typeface="Helvetica Neue" panose="02000503000000020004" pitchFamily="2" charset="0"/>
              </a:rPr>
              <a:t>ResultSet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（结果集）的作用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封装了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select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语句的查询结果，我们从结果集中获取查询到的数据结果。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 err="1">
                <a:solidFill>
                  <a:srgbClr val="FFE79A"/>
                </a:solidFill>
                <a:latin typeface="Helvetica Neue" panose="02000503000000020004" pitchFamily="2" charset="0"/>
              </a:rPr>
              <a:t>ResultSet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的核心方法，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next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和 </a:t>
            </a:r>
            <a:r>
              <a:rPr lang="en-US" altLang="zh-CN" sz="1600" b="1" dirty="0" err="1">
                <a:solidFill>
                  <a:srgbClr val="FFE79A"/>
                </a:solidFill>
                <a:latin typeface="Helvetica Neue" panose="02000503000000020004" pitchFamily="2" charset="0"/>
              </a:rPr>
              <a:t>getXxx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next()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，</a:t>
            </a:r>
            <a:r>
              <a:rPr lang="en-US" altLang="zh-CN" sz="1600" b="1" dirty="0" err="1">
                <a:solidFill>
                  <a:srgbClr val="FFE79A"/>
                </a:solidFill>
                <a:latin typeface="Helvetica Neue" panose="02000503000000020004" pitchFamily="2" charset="0"/>
              </a:rPr>
              <a:t>ResultSet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读取数据的方式类型迭代器，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next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将光标从当前行向后移一位，返回结果表示当前行是否为有效行。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dirty="0" err="1">
                <a:solidFill>
                  <a:schemeClr val="bg1"/>
                </a:solidFill>
                <a:latin typeface="Helvetica Neue" panose="02000503000000020004" pitchFamily="2" charset="0"/>
              </a:rPr>
              <a:t>getXxx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参数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)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，获取数据，</a:t>
            </a:r>
            <a:r>
              <a:rPr lang="en-US" altLang="zh-CN" sz="1600" b="1" dirty="0" err="1">
                <a:solidFill>
                  <a:srgbClr val="FFE79A"/>
                </a:solidFill>
                <a:latin typeface="Helvetica Neue" panose="02000503000000020004" pitchFamily="2" charset="0"/>
              </a:rPr>
              <a:t>Xxx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表示数据类型，例如 </a:t>
            </a:r>
            <a:r>
              <a:rPr lang="en-US" altLang="zh-CN" sz="1600" dirty="0" err="1">
                <a:solidFill>
                  <a:schemeClr val="bg1"/>
                </a:solidFill>
                <a:latin typeface="Helvetica Neue" panose="02000503000000020004" pitchFamily="2" charset="0"/>
              </a:rPr>
              <a:t>getInt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,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有两种参数类型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String</a:t>
            </a: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latin typeface="Helvetica Neue" panose="02000503000000020004" pitchFamily="2" charset="0"/>
              </a:rPr>
              <a:t>columLabel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，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latin typeface="Helvetica Neue" panose="02000503000000020004" pitchFamily="2" charset="0"/>
              </a:rPr>
              <a:t>columLabel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是列的名称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int</a:t>
            </a: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en" altLang="zh-CN" sz="1800" dirty="0" err="1">
                <a:solidFill>
                  <a:schemeClr val="bg1"/>
                </a:solidFill>
                <a:effectLst/>
                <a:latin typeface="JetBrains Mono"/>
              </a:rPr>
              <a:t>columnIndex</a:t>
            </a:r>
            <a:r>
              <a:rPr lang="zh-CN" altLang="en-US" sz="1800" b="1" dirty="0">
                <a:solidFill>
                  <a:srgbClr val="FFE79A"/>
                </a:solidFill>
                <a:effectLst/>
                <a:latin typeface="JetBrains Mono"/>
              </a:rPr>
              <a:t>，</a:t>
            </a:r>
            <a:r>
              <a:rPr lang="en" altLang="zh-CN" sz="1800" dirty="0">
                <a:solidFill>
                  <a:schemeClr val="bg1"/>
                </a:solidFill>
                <a:effectLst/>
                <a:latin typeface="JetBrains Mono"/>
              </a:rPr>
              <a:t> </a:t>
            </a:r>
            <a:r>
              <a:rPr lang="en" altLang="zh-CN" sz="1800" dirty="0" err="1">
                <a:solidFill>
                  <a:schemeClr val="bg1"/>
                </a:solidFill>
                <a:effectLst/>
                <a:latin typeface="JetBrains Mono"/>
              </a:rPr>
              <a:t>columnIndex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JetBrains Mono"/>
              </a:rPr>
              <a:t> </a:t>
            </a:r>
            <a:r>
              <a:rPr lang="zh-CN" altLang="en-US" sz="1800" b="1" dirty="0">
                <a:solidFill>
                  <a:srgbClr val="FFE79A"/>
                </a:solidFill>
                <a:effectLst/>
                <a:latin typeface="JetBrains Mono"/>
              </a:rPr>
              <a:t>是返回列（不是数据库中列的顺序）的编号，从</a:t>
            </a:r>
            <a:r>
              <a:rPr lang="en-US" altLang="zh-CN" sz="1800" b="1" dirty="0">
                <a:solidFill>
                  <a:srgbClr val="FFE79A"/>
                </a:solidFill>
                <a:effectLst/>
                <a:latin typeface="JetBrains Mono"/>
              </a:rPr>
              <a:t>1</a:t>
            </a:r>
            <a:r>
              <a:rPr lang="zh-CN" altLang="en-US" sz="1800" b="1" dirty="0">
                <a:solidFill>
                  <a:srgbClr val="FFE79A"/>
                </a:solidFill>
                <a:effectLst/>
                <a:latin typeface="JetBrains Mono"/>
              </a:rPr>
              <a:t>开始</a:t>
            </a:r>
            <a:endParaRPr lang="en" altLang="zh-CN" sz="1800" b="1" dirty="0">
              <a:solidFill>
                <a:srgbClr val="FFE79A"/>
              </a:solidFill>
              <a:effectLst/>
              <a:latin typeface="JetBrains Mono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4421D2-0E5B-9A4C-9CC0-62F53FF2E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3747526"/>
            <a:ext cx="5562600" cy="3556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31DF770-71DC-9CD2-3C9F-11786F877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2" y="4917145"/>
            <a:ext cx="5562600" cy="36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30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b="1" dirty="0">
                <a:latin typeface="Helvetica Neue" panose="02000503000000020004" pitchFamily="2" charset="0"/>
              </a:rPr>
              <a:t>JDBC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API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-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 err="1">
                <a:latin typeface="Helvetica Neue" panose="02000503000000020004" pitchFamily="2" charset="0"/>
              </a:rPr>
              <a:t>ResultSet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D588B5A-92EB-2885-52B3-D56F054848D0}"/>
              </a:ext>
            </a:extLst>
          </p:cNvPr>
          <p:cNvSpPr txBox="1"/>
          <p:nvPr/>
        </p:nvSpPr>
        <p:spPr>
          <a:xfrm>
            <a:off x="668692" y="1317380"/>
            <a:ext cx="11083041" cy="42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从 </a:t>
            </a:r>
            <a:r>
              <a:rPr lang="en-US" altLang="zh-CN" sz="1600" b="1" dirty="0" err="1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ResultSet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 中读取结果代码示例</a:t>
            </a:r>
            <a:endParaRPr lang="en" altLang="zh-CN" sz="1800" b="1" dirty="0">
              <a:solidFill>
                <a:srgbClr val="FFE79A"/>
              </a:solidFill>
              <a:effectLst/>
              <a:latin typeface="JetBrains Mono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FDA029-0A6E-E383-B474-3BF1C8D02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1852070"/>
            <a:ext cx="6815841" cy="312209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980B12-399A-5772-E284-CA2D9FD79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2" y="5683848"/>
            <a:ext cx="6815841" cy="51985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687D19A-681B-EE7A-3392-0A0668C85439}"/>
              </a:ext>
            </a:extLst>
          </p:cNvPr>
          <p:cNvSpPr txBox="1"/>
          <p:nvPr/>
        </p:nvSpPr>
        <p:spPr>
          <a:xfrm>
            <a:off x="668691" y="5119158"/>
            <a:ext cx="11083041" cy="42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输出结果</a:t>
            </a:r>
            <a:endParaRPr lang="en" altLang="zh-CN" sz="1800" b="1" dirty="0">
              <a:solidFill>
                <a:srgbClr val="FFE79A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003710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b="1" dirty="0">
                <a:latin typeface="Helvetica Neue" panose="02000503000000020004" pitchFamily="2" charset="0"/>
              </a:rPr>
              <a:t>JDBC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API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-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 err="1">
                <a:latin typeface="Helvetica Neue" panose="02000503000000020004" pitchFamily="2" charset="0"/>
              </a:rPr>
              <a:t>PreparedStatement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7CC985-3BF7-E234-E112-99A09496F467}"/>
              </a:ext>
            </a:extLst>
          </p:cNvPr>
          <p:cNvSpPr txBox="1"/>
          <p:nvPr/>
        </p:nvSpPr>
        <p:spPr>
          <a:xfrm>
            <a:off x="668692" y="1317380"/>
            <a:ext cx="11083041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 err="1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PreparedStatement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的作用：</a:t>
            </a:r>
            <a:endParaRPr lang="en-US" altLang="zh-CN" sz="1600" b="1" dirty="0">
              <a:solidFill>
                <a:srgbClr val="FFE79A"/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预编译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语句并执行，预防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注入问题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B39193-41E9-1BB9-D81B-735304E3DEA5}"/>
              </a:ext>
            </a:extLst>
          </p:cNvPr>
          <p:cNvSpPr txBox="1"/>
          <p:nvPr/>
        </p:nvSpPr>
        <p:spPr>
          <a:xfrm>
            <a:off x="668692" y="2108750"/>
            <a:ext cx="11083041" cy="115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什么是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注入问题？</a:t>
            </a:r>
            <a:endParaRPr lang="en-US" altLang="zh-CN" sz="1600" b="1" dirty="0">
              <a:solidFill>
                <a:srgbClr val="FFE79A"/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攻击者通过在应用程序中注入恶意的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代码来执行未经授权的数据库操作。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 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注入演示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1C127BB-F978-67FF-30B4-A43751FB7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3349977"/>
            <a:ext cx="9617674" cy="307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51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b="1" dirty="0">
                <a:latin typeface="Helvetica Neue" panose="02000503000000020004" pitchFamily="2" charset="0"/>
              </a:rPr>
              <a:t>JDBC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API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-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 err="1">
                <a:latin typeface="Helvetica Neue" panose="02000503000000020004" pitchFamily="2" charset="0"/>
              </a:rPr>
              <a:t>PreparedStatement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B39193-41E9-1BB9-D81B-735304E3DEA5}"/>
              </a:ext>
            </a:extLst>
          </p:cNvPr>
          <p:cNvSpPr txBox="1"/>
          <p:nvPr/>
        </p:nvSpPr>
        <p:spPr>
          <a:xfrm>
            <a:off x="668692" y="1317380"/>
            <a:ext cx="7301263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注入分析：为什么输出了错误的密码数据库仍能返回数据？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打印最终执行的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endParaRPr lang="en-US" altLang="zh-CN" sz="1600" b="1" dirty="0">
              <a:solidFill>
                <a:srgbClr val="FFE79A"/>
              </a:solidFill>
              <a:effectLst/>
              <a:latin typeface="Helvetica Neue" panose="02000503000000020004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B0E685-DA9F-4E42-8159-ED1606148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2196459"/>
            <a:ext cx="9561360" cy="366119"/>
          </a:xfrm>
          <a:prstGeom prst="rect">
            <a:avLst/>
          </a:prstGeom>
        </p:spPr>
      </p:pic>
      <p:sp>
        <p:nvSpPr>
          <p:cNvPr id="8" name="右大括号 7">
            <a:extLst>
              <a:ext uri="{FF2B5EF4-FFF2-40B4-BE49-F238E27FC236}">
                <a16:creationId xmlns:a16="http://schemas.microsoft.com/office/drawing/2014/main" id="{90CA6D7B-8C6B-7947-29B4-35587C4F416A}"/>
              </a:ext>
            </a:extLst>
          </p:cNvPr>
          <p:cNvSpPr/>
          <p:nvPr/>
        </p:nvSpPr>
        <p:spPr>
          <a:xfrm rot="5400000">
            <a:off x="6328211" y="926361"/>
            <a:ext cx="335505" cy="3783358"/>
          </a:xfrm>
          <a:prstGeom prst="rightBrace">
            <a:avLst/>
          </a:prstGeom>
          <a:ln w="25400">
            <a:solidFill>
              <a:srgbClr val="FFE7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9" name="右大括号 8">
            <a:extLst>
              <a:ext uri="{FF2B5EF4-FFF2-40B4-BE49-F238E27FC236}">
                <a16:creationId xmlns:a16="http://schemas.microsoft.com/office/drawing/2014/main" id="{075C2F7C-4744-BC52-DE54-AD282C2B10E1}"/>
              </a:ext>
            </a:extLst>
          </p:cNvPr>
          <p:cNvSpPr/>
          <p:nvPr/>
        </p:nvSpPr>
        <p:spPr>
          <a:xfrm rot="5400000">
            <a:off x="9254570" y="2383439"/>
            <a:ext cx="335506" cy="869198"/>
          </a:xfrm>
          <a:prstGeom prst="rightBrace">
            <a:avLst/>
          </a:prstGeom>
          <a:ln w="25400">
            <a:solidFill>
              <a:srgbClr val="FFE7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D8F09C6-A9C5-CAFF-57CD-5CB4D3EEF68D}"/>
              </a:ext>
            </a:extLst>
          </p:cNvPr>
          <p:cNvSpPr txBox="1"/>
          <p:nvPr/>
        </p:nvSpPr>
        <p:spPr>
          <a:xfrm>
            <a:off x="5483050" y="3073502"/>
            <a:ext cx="2025825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结果为 </a:t>
            </a:r>
            <a:r>
              <a:rPr lang="en-US" altLang="zh-CN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false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AB8C6B-6EA1-5DC9-5ECF-400930AA84CC}"/>
              </a:ext>
            </a:extLst>
          </p:cNvPr>
          <p:cNvSpPr txBox="1"/>
          <p:nvPr/>
        </p:nvSpPr>
        <p:spPr>
          <a:xfrm>
            <a:off x="8409410" y="3073502"/>
            <a:ext cx="2025825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结果为 </a:t>
            </a:r>
            <a:r>
              <a:rPr lang="en-US" altLang="zh-CN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true</a:t>
            </a:r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E043DBC0-3EA1-FD56-192D-979ECBF29478}"/>
              </a:ext>
            </a:extLst>
          </p:cNvPr>
          <p:cNvSpPr/>
          <p:nvPr/>
        </p:nvSpPr>
        <p:spPr>
          <a:xfrm rot="5400000">
            <a:off x="7798984" y="2367940"/>
            <a:ext cx="335506" cy="2941548"/>
          </a:xfrm>
          <a:prstGeom prst="rightBrace">
            <a:avLst/>
          </a:prstGeom>
          <a:ln w="25400">
            <a:solidFill>
              <a:srgbClr val="FFE7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1A1EC1-EC99-179B-DA24-ED59375A81DE}"/>
              </a:ext>
            </a:extLst>
          </p:cNvPr>
          <p:cNvSpPr txBox="1"/>
          <p:nvPr/>
        </p:nvSpPr>
        <p:spPr>
          <a:xfrm>
            <a:off x="6724832" y="4094174"/>
            <a:ext cx="2475612" cy="414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f</a:t>
            </a:r>
            <a:r>
              <a:rPr lang="en-US" altLang="zh-CN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alse</a:t>
            </a:r>
            <a:r>
              <a:rPr lang="zh-CN" altLang="en-US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or</a:t>
            </a:r>
            <a:r>
              <a:rPr lang="zh-CN" altLang="en-US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true</a:t>
            </a:r>
            <a:r>
              <a:rPr lang="zh-CN" altLang="en-US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=</a:t>
            </a:r>
            <a:r>
              <a:rPr lang="zh-CN" altLang="en-US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true</a:t>
            </a:r>
            <a:r>
              <a:rPr lang="zh-CN" altLang="en-US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endParaRPr lang="en-US" altLang="zh-CN" sz="1600" b="1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480371-F7EC-2599-9A58-9C229A60587B}"/>
              </a:ext>
            </a:extLst>
          </p:cNvPr>
          <p:cNvSpPr txBox="1"/>
          <p:nvPr/>
        </p:nvSpPr>
        <p:spPr>
          <a:xfrm>
            <a:off x="668692" y="4686048"/>
            <a:ext cx="9561359" cy="1160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or</a:t>
            </a: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 本来是参数值字符串的一部分，</a:t>
            </a: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注入攻击者让它成为了 </a:t>
            </a: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 语句的一部分。</a:t>
            </a:r>
            <a:endParaRPr lang="en-US" altLang="zh-CN" sz="1600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由于最终执行的 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where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 条件后永远为 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true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，相当于没有 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where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 条件，会返回表中所有数据。</a:t>
            </a:r>
            <a:endParaRPr lang="en-US" altLang="zh-CN" sz="1600" b="1" dirty="0">
              <a:solidFill>
                <a:srgbClr val="FFE79A"/>
              </a:solidFill>
              <a:effectLst/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注入让用户名密码校验失效了，</a:t>
            </a:r>
            <a:endParaRPr lang="en-US" altLang="zh-CN" sz="1600" b="1" dirty="0">
              <a:solidFill>
                <a:srgbClr val="FFE79A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112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b="1" dirty="0">
                <a:latin typeface="Helvetica Neue" panose="02000503000000020004" pitchFamily="2" charset="0"/>
              </a:rPr>
              <a:t>JDBC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API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-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 err="1">
                <a:latin typeface="Helvetica Neue" panose="02000503000000020004" pitchFamily="2" charset="0"/>
              </a:rPr>
              <a:t>PreparedStatement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B39193-41E9-1BB9-D81B-735304E3DEA5}"/>
              </a:ext>
            </a:extLst>
          </p:cNvPr>
          <p:cNvSpPr txBox="1"/>
          <p:nvPr/>
        </p:nvSpPr>
        <p:spPr>
          <a:xfrm>
            <a:off x="668693" y="1317380"/>
            <a:ext cx="9096196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使用 </a:t>
            </a:r>
            <a:r>
              <a:rPr lang="en-US" altLang="zh-CN" sz="1600" b="1" dirty="0" err="1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PreparedStatement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 解决 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 注入问题</a:t>
            </a:r>
            <a:endParaRPr lang="en-US" altLang="zh-CN" sz="1600" b="1" dirty="0">
              <a:solidFill>
                <a:srgbClr val="FFE79A"/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第一步：获取 </a:t>
            </a:r>
            <a:r>
              <a:rPr lang="en-US" altLang="zh-CN" sz="1600" b="1" dirty="0" err="1">
                <a:solidFill>
                  <a:srgbClr val="FFE79A"/>
                </a:solidFill>
                <a:latin typeface="Helvetica Neue" panose="02000503000000020004" pitchFamily="2" charset="0"/>
              </a:rPr>
              <a:t>PrepareStatement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对象，从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Connection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获取，需要传入待执行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E0E79C4-6581-E958-E0FD-75CC4BA81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2201993"/>
            <a:ext cx="7772400" cy="5364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79118CD-2405-F2F8-F81D-FC6D8D58C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2" y="2884072"/>
            <a:ext cx="7772400" cy="4707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1954A80-8FA1-547C-E952-941879F01596}"/>
              </a:ext>
            </a:extLst>
          </p:cNvPr>
          <p:cNvSpPr txBox="1"/>
          <p:nvPr/>
        </p:nvSpPr>
        <p:spPr>
          <a:xfrm>
            <a:off x="668692" y="3354809"/>
            <a:ext cx="9570330" cy="115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第二步：为 </a:t>
            </a:r>
            <a:r>
              <a:rPr lang="en-US" altLang="zh-CN" sz="1600" b="1" dirty="0" err="1">
                <a:solidFill>
                  <a:srgbClr val="FFE79A"/>
                </a:solidFill>
                <a:latin typeface="Helvetica Neue" panose="02000503000000020004" pitchFamily="2" charset="0"/>
              </a:rPr>
              <a:t>PrepareStatement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对象赋值：用数值替换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中的占位符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?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，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dirty="0" err="1">
                <a:solidFill>
                  <a:schemeClr val="bg1"/>
                </a:solidFill>
                <a:latin typeface="Helvetica Neue" panose="02000503000000020004" pitchFamily="2" charset="0"/>
              </a:rPr>
              <a:t>setXxx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参数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1, </a:t>
            </a:r>
            <a:r>
              <a:rPr lang="zh-CN" altLang="en-US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参数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2)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参数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1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：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?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位置的编号，从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1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开始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参数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2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：替换？的数值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267ED44-E81A-49EA-FE7F-271B437BE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92" y="4588120"/>
            <a:ext cx="6143270" cy="170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291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b="1" dirty="0">
                <a:latin typeface="Helvetica Neue" panose="02000503000000020004" pitchFamily="2" charset="0"/>
              </a:rPr>
              <a:t>JDBC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API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-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 err="1">
                <a:latin typeface="Helvetica Neue" panose="02000503000000020004" pitchFamily="2" charset="0"/>
              </a:rPr>
              <a:t>PreparedStatement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B39193-41E9-1BB9-D81B-735304E3DEA5}"/>
              </a:ext>
            </a:extLst>
          </p:cNvPr>
          <p:cNvSpPr txBox="1"/>
          <p:nvPr/>
        </p:nvSpPr>
        <p:spPr>
          <a:xfrm>
            <a:off x="668693" y="1317380"/>
            <a:ext cx="10405706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第三步：执行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，不需要传入待执行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96CC07-173B-5048-AE6A-A932E1466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1757010"/>
            <a:ext cx="6134100" cy="3175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4B3D6F5-1E64-B5D3-2C12-5742A1AA0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2" y="2227856"/>
            <a:ext cx="6134100" cy="36541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1851568-3F58-00DC-EAEE-2208ABF69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92" y="6086184"/>
            <a:ext cx="61341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271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b="1" dirty="0">
                <a:latin typeface="Helvetica Neue" panose="02000503000000020004" pitchFamily="2" charset="0"/>
              </a:rPr>
              <a:t>JDBC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API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-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 err="1">
                <a:latin typeface="Helvetica Neue" panose="02000503000000020004" pitchFamily="2" charset="0"/>
              </a:rPr>
              <a:t>PreparedStatement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B39193-41E9-1BB9-D81B-735304E3DEA5}"/>
              </a:ext>
            </a:extLst>
          </p:cNvPr>
          <p:cNvSpPr txBox="1"/>
          <p:nvPr/>
        </p:nvSpPr>
        <p:spPr>
          <a:xfrm>
            <a:off x="668692" y="1317380"/>
            <a:ext cx="11060463" cy="3376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 err="1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PreparedStatement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 解决 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 注入问题的原理</a:t>
            </a:r>
            <a:endParaRPr lang="en-US" altLang="zh-CN" sz="1600" b="1" dirty="0">
              <a:solidFill>
                <a:srgbClr val="FFE79A"/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预编译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：在创建</a:t>
            </a:r>
            <a:r>
              <a:rPr lang="en-US" altLang="zh-CN" sz="1600" b="1" dirty="0" err="1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PreparedStatement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对象时，数据库会对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语句进行预编译，将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语句解析为一个执行计划，这个执行计划中包含了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语句的结构和参数的占位符。</a:t>
            </a:r>
            <a:endParaRPr lang="en-US" altLang="zh-CN" sz="1600" b="1" dirty="0">
              <a:solidFill>
                <a:srgbClr val="FFE79A"/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参数绑定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：通过调用</a:t>
            </a:r>
            <a:r>
              <a:rPr lang="en-US" altLang="zh-CN" sz="1600" b="1" dirty="0" err="1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PreparedStatement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对象的</a:t>
            </a:r>
            <a:r>
              <a:rPr lang="en-US" altLang="zh-CN" sz="1600" b="1" dirty="0" err="1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setXXX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()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方法，将参数值绑定到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语句的占位符上。这里的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XXX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表示参数的数据类型，例如</a:t>
            </a:r>
            <a:r>
              <a:rPr lang="en-US" altLang="zh-CN" sz="1600" b="1" dirty="0" err="1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setString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()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、</a:t>
            </a:r>
            <a:r>
              <a:rPr lang="en-US" altLang="zh-CN" sz="1600" b="1" dirty="0" err="1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setInt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()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等。</a:t>
            </a:r>
            <a:endParaRPr lang="en-US" altLang="zh-CN" sz="1600" b="1" dirty="0">
              <a:solidFill>
                <a:srgbClr val="FFE79A"/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参数转义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：在绑定参数的过程中，</a:t>
            </a:r>
            <a:r>
              <a:rPr lang="en-US" altLang="zh-CN" sz="1600" b="1" dirty="0" err="1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PreparedStatement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会自动对参数值进行转义处理，将特殊字符进行转义，从而避免了恶意输入中的特殊字符对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语句的影响。</a:t>
            </a:r>
            <a:endParaRPr lang="en-US" altLang="zh-CN" sz="1600" b="1" dirty="0">
              <a:solidFill>
                <a:srgbClr val="FFE79A"/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执行</a:t>
            </a:r>
            <a:r>
              <a:rPr lang="en-US" altLang="zh-CN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语句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：当执行</a:t>
            </a:r>
            <a:r>
              <a:rPr lang="en-US" altLang="zh-CN" sz="1600" b="1" dirty="0" err="1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PreparedStatement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对象的</a:t>
            </a:r>
            <a:r>
              <a:rPr lang="en-US" altLang="zh-CN" sz="1600" b="1" dirty="0" err="1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executeQuery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()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或</a:t>
            </a:r>
            <a:r>
              <a:rPr lang="en-US" altLang="zh-CN" sz="1600" b="1" dirty="0" err="1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executeUpdate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()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方法时，数据库会使用预编译的执行计划和绑定的参数值来执行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语句，而不是直接拼接用户输入的数据。</a:t>
            </a:r>
            <a:endParaRPr lang="en-US" altLang="zh-CN" sz="1600" b="1" dirty="0">
              <a:solidFill>
                <a:srgbClr val="FFE79A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B5DEA0-1875-8B19-810B-0AD6956EAF05}"/>
              </a:ext>
            </a:extLst>
          </p:cNvPr>
          <p:cNvSpPr txBox="1"/>
          <p:nvPr/>
        </p:nvSpPr>
        <p:spPr>
          <a:xfrm>
            <a:off x="668692" y="4773096"/>
            <a:ext cx="108546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由于执行了参数转义，实际执行的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发生了变化，不会发生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注入问题</a:t>
            </a:r>
            <a:endParaRPr lang="zh-CN" altLang="en-US" sz="16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D23D37E-CBCF-D093-84A0-6677265FE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5286624"/>
            <a:ext cx="7772400" cy="101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84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1" dirty="0">
                <a:latin typeface="Helvetica Neue" panose="02000503000000020004" pitchFamily="2" charset="0"/>
              </a:rPr>
              <a:t>数据库连接池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8E541A6-0FED-7CC7-BAC5-4A2FBD1E4902}"/>
              </a:ext>
            </a:extLst>
          </p:cNvPr>
          <p:cNvSpPr txBox="1"/>
          <p:nvPr/>
        </p:nvSpPr>
        <p:spPr>
          <a:xfrm>
            <a:off x="668692" y="1317380"/>
            <a:ext cx="11353975" cy="352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数据库连接池（</a:t>
            </a:r>
            <a:r>
              <a:rPr lang="en" altLang="zh-C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Database Connection Pool</a:t>
            </a:r>
            <a:r>
              <a:rPr lang="zh-CN" altLang="en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）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是一种管理和复用数据库连接的技术，它可以提高数据库访问的性能和效率。每次与数据库建立连接都需要进行网络通信、身份验证等操作，这些操作会消耗较多的时间和资源。而数据库连接池通过预先创建一定数量的数据库连接，并将这些连接保存在连接池中，应用程序在需要访问数据库时，从连接池中获取一个可用的连接，使用完毕后归还给连接池，而不是每次都重新建立连接。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数据库连接池的主要优势包括：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4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提高性能</a:t>
            </a:r>
            <a:r>
              <a:rPr lang="zh-CN" altLang="en-US" sz="14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：连接池中的连接可以被多个线程共享，避免了频繁创建和销毁连接的开销，减少了数据库连接的建立时间，提高了数据库访问的性能和效率。</a:t>
            </a:r>
            <a:endParaRPr lang="en-US" altLang="zh-CN" sz="1400" b="1" dirty="0">
              <a:solidFill>
                <a:srgbClr val="FFE79A"/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4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资源管理</a:t>
            </a:r>
            <a:r>
              <a:rPr lang="zh-CN" altLang="en-US" sz="14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：连接池可以限制同时打开的连接数量，避免了过多的连接占用数据库资源，保护数据库的稳定性和可用性。</a:t>
            </a:r>
            <a:endParaRPr lang="en-US" altLang="zh-CN" sz="1400" b="1" dirty="0">
              <a:solidFill>
                <a:srgbClr val="FFE79A"/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4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连接复用</a:t>
            </a:r>
            <a:r>
              <a:rPr lang="zh-CN" altLang="en-US" sz="14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：连接池会复用已有的连接，避免了频繁的连接建立和断开操作，减少了网络通信和身份验证的开销。</a:t>
            </a:r>
            <a:endParaRPr lang="en-US" altLang="zh-CN" sz="1400" b="1" dirty="0">
              <a:solidFill>
                <a:srgbClr val="FFE79A"/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4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连接管理</a:t>
            </a:r>
            <a:r>
              <a:rPr lang="zh-CN" altLang="en-US" sz="14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：连接池可以对连接进行管理，包括连接的创建、销毁、超时检测等操作，确保连接的可用性和稳定性。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D99331-1A7B-3EDF-2750-371AE8C04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5015645"/>
            <a:ext cx="7772400" cy="140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64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1" dirty="0">
                <a:latin typeface="Helvetica Neue" panose="02000503000000020004" pitchFamily="2" charset="0"/>
              </a:rPr>
              <a:t>数据库连接池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8E541A6-0FED-7CC7-BAC5-4A2FBD1E4902}"/>
              </a:ext>
            </a:extLst>
          </p:cNvPr>
          <p:cNvSpPr txBox="1"/>
          <p:nvPr/>
        </p:nvSpPr>
        <p:spPr>
          <a:xfrm>
            <a:off x="668692" y="1317380"/>
            <a:ext cx="11353975" cy="2268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常用的数据库连接池有 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C3P0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Druid</a:t>
            </a:r>
            <a:r>
              <a:rPr lang="zh-CN" altLang="en-US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（德鲁伊）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等。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下面介绍 </a:t>
            </a:r>
            <a:r>
              <a:rPr lang="en-US" altLang="zh-CN" sz="16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Druid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Helvetica Neue" panose="02000503000000020004" pitchFamily="2" charset="0"/>
              </a:rPr>
              <a:t> 连接池的使用方式</a:t>
            </a:r>
            <a:endParaRPr lang="en-US" altLang="zh-CN" sz="1600" b="1" dirty="0">
              <a:solidFill>
                <a:srgbClr val="FFE79A"/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导入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druid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依赖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jar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包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配置连接池参数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创建连接池对象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从连接池中获取数据库连接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1CFA053-3340-6526-A759-42D9224BD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176" y="1971912"/>
            <a:ext cx="6824132" cy="432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81054"/>
      </p:ext>
    </p:extLst>
  </p:cSld>
  <p:clrMapOvr>
    <a:masterClrMapping/>
  </p:clrMapOvr>
</p:sld>
</file>

<file path=ppt/theme/theme1.xml><?xml version="1.0" encoding="utf-8"?>
<a:theme xmlns:a="http://schemas.openxmlformats.org/drawingml/2006/main" name="饥人谷2020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00"/>
      </a:hlink>
      <a:folHlink>
        <a:srgbClr val="FFFF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饥人谷2020" id="{9EA43CC4-F49E-4AFB-A232-7BBA7D9D7755}" vid="{63A6EB6F-AC6E-43AB-B8C5-02C8C8D42495}"/>
    </a:ext>
  </a:extLst>
</a:theme>
</file>

<file path=ppt/theme/theme2.xml><?xml version="1.0" encoding="utf-8"?>
<a:theme xmlns:a="http://schemas.openxmlformats.org/drawingml/2006/main" name="饥人谷2019浅色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0000"/>
      </a:hlink>
      <a:folHlink>
        <a:srgbClr val="FF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vaScript 入门.pptx" id="{B812C777-9E68-4F43-B758-EBA532ADB484}" vid="{D326234F-4341-4D06-8CC1-2D740558C2C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饥人谷2020</Template>
  <TotalTime>92123</TotalTime>
  <Words>1345</Words>
  <Application>Microsoft Macintosh PowerPoint</Application>
  <PresentationFormat>宽屏</PresentationFormat>
  <Paragraphs>111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等线</vt:lpstr>
      <vt:lpstr>思源黑体</vt:lpstr>
      <vt:lpstr>Microsoft YaHei</vt:lpstr>
      <vt:lpstr>Microsoft YaHei</vt:lpstr>
      <vt:lpstr>JetBrains Mono</vt:lpstr>
      <vt:lpstr>Arial</vt:lpstr>
      <vt:lpstr>Calibri</vt:lpstr>
      <vt:lpstr>Consolas</vt:lpstr>
      <vt:lpstr>Helvetica Neue</vt:lpstr>
      <vt:lpstr>Wingdings</vt:lpstr>
      <vt:lpstr>饥人谷2020</vt:lpstr>
      <vt:lpstr>饥人谷2019浅色主题​​</vt:lpstr>
      <vt:lpstr>JDBC介绍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蓝色PPT</dc:title>
  <dc:creator>方 方</dc:creator>
  <cp:lastModifiedBy>vincent</cp:lastModifiedBy>
  <cp:revision>1042</cp:revision>
  <dcterms:created xsi:type="dcterms:W3CDTF">2021-12-14T08:53:33Z</dcterms:created>
  <dcterms:modified xsi:type="dcterms:W3CDTF">2023-07-08T14:46:44Z</dcterms:modified>
</cp:coreProperties>
</file>