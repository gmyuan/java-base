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22"/>
  </p:notesMasterIdLst>
  <p:sldIdLst>
    <p:sldId id="256" r:id="rId3"/>
    <p:sldId id="331" r:id="rId4"/>
    <p:sldId id="414" r:id="rId5"/>
    <p:sldId id="440" r:id="rId6"/>
    <p:sldId id="441" r:id="rId7"/>
    <p:sldId id="442" r:id="rId8"/>
    <p:sldId id="443" r:id="rId9"/>
    <p:sldId id="444" r:id="rId10"/>
    <p:sldId id="445" r:id="rId11"/>
    <p:sldId id="454" r:id="rId12"/>
    <p:sldId id="453" r:id="rId13"/>
    <p:sldId id="450" r:id="rId14"/>
    <p:sldId id="456" r:id="rId15"/>
    <p:sldId id="447" r:id="rId16"/>
    <p:sldId id="448" r:id="rId17"/>
    <p:sldId id="455" r:id="rId18"/>
    <p:sldId id="457" r:id="rId19"/>
    <p:sldId id="451" r:id="rId20"/>
    <p:sldId id="45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18" autoAdjust="0"/>
    <p:restoredTop sz="96062"/>
  </p:normalViewPr>
  <p:slideViewPr>
    <p:cSldViewPr snapToGrid="0">
      <p:cViewPr varScale="1">
        <p:scale>
          <a:sx n="113" d="100"/>
          <a:sy n="113" d="100"/>
        </p:scale>
        <p:origin x="208" y="296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5/15/23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en-US" altLang="zh-CN" dirty="0"/>
              <a:t>Cookie</a:t>
            </a:r>
            <a:r>
              <a:rPr lang="zh-CN" altLang="en-US" dirty="0"/>
              <a:t> 与 </a:t>
            </a:r>
            <a:r>
              <a:rPr lang="en-US" altLang="zh-CN" dirty="0"/>
              <a:t>Session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本节课的主要内容包括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06F9D-3597-D8B9-1E43-941F7E21AB78}"/>
              </a:ext>
            </a:extLst>
          </p:cNvPr>
          <p:cNvSpPr txBox="1"/>
          <p:nvPr/>
        </p:nvSpPr>
        <p:spPr>
          <a:xfrm>
            <a:off x="646038" y="1154677"/>
            <a:ext cx="7140473" cy="558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的定义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的作用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的属性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实战：用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实现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30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天免登录功能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的定义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的作用与使用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的实现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的过期机制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实战：用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实现购物车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Session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的区别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的定义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1" y="1496641"/>
            <a:ext cx="9118776" cy="2540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是浏览网站时，由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服务器创建，并由浏览器存放在用户计算机或其他设备的小文本文件。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是什么：小文本文件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什么时候使用：浏览网站时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谁创建：服务端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存在哪：客户端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A14A64-510D-336A-B096-B420859A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86" y="560250"/>
            <a:ext cx="1272822" cy="12342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31C1706-347F-6BAB-C194-51690544AB18}"/>
              </a:ext>
            </a:extLst>
          </p:cNvPr>
          <p:cNvSpPr txBox="1"/>
          <p:nvPr/>
        </p:nvSpPr>
        <p:spPr>
          <a:xfrm>
            <a:off x="7283979" y="472164"/>
            <a:ext cx="2808287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的中文直译是曲奇饼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7FF62B-5E92-5010-027D-3F38C0DFB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286" y="2766989"/>
            <a:ext cx="5201181" cy="321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的作用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96402"/>
            <a:ext cx="10699220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的作用是：使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服务器能在浏览器存储状态信息，解决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协议的无状态问题。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6F005D-06AC-74B6-A24A-404CD3FE7C17}"/>
              </a:ext>
            </a:extLst>
          </p:cNvPr>
          <p:cNvSpPr txBox="1"/>
          <p:nvPr/>
        </p:nvSpPr>
        <p:spPr>
          <a:xfrm>
            <a:off x="668692" y="1938628"/>
            <a:ext cx="6488464" cy="1967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协议“无状态”的含义是什么？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每个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请求都是独立的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单个请求包含处理这个请求需要的全部信息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，服务端不记住之前的请求信息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客户端发送请求前建立连接，服务端响应请求之后连接被关闭，下一个请求需要重新建立连接，上一次请求的信息都没有了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E710DAB-EC7E-BEA1-EFF0-955FA7D95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48" y="4330422"/>
            <a:ext cx="1738977" cy="196732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1FE361A-7D9D-4A6D-018C-B1F97610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266" y="4330422"/>
            <a:ext cx="2225483" cy="196732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9343D82-D038-91CF-04A6-96E0EC547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990" y="4350775"/>
            <a:ext cx="3387529" cy="196732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94E49E6-057B-BCE8-D263-7CEB5D29B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011" y="2208557"/>
            <a:ext cx="2628901" cy="410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4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的作用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325D91-AC56-685F-4485-F535DE9A96F3}"/>
              </a:ext>
            </a:extLst>
          </p:cNvPr>
          <p:cNvSpPr txBox="1"/>
          <p:nvPr/>
        </p:nvSpPr>
        <p:spPr>
          <a:xfrm>
            <a:off x="668690" y="1317380"/>
            <a:ext cx="6443307" cy="1576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“无状态”会造成什么问题？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给客户端登录验证造成困难。假设客户端先发送登录请求，再发送其他请求，由于服务端不能记住之前的请求信息，所发送的其他请求并不知道是之前登录的用户发送的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7796B5-AC94-32BE-D600-38971C61215A}"/>
              </a:ext>
            </a:extLst>
          </p:cNvPr>
          <p:cNvSpPr txBox="1"/>
          <p:nvPr/>
        </p:nvSpPr>
        <p:spPr>
          <a:xfrm>
            <a:off x="668689" y="3086397"/>
            <a:ext cx="6443307" cy="3422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为什么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协议设计成“无状态”的？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简化服务器的管理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：服务器不需要为每个客户端记录大量的状态信息，从而可以减轻服务器的负担，提高系统的效率和稳定性。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让</a:t>
            </a:r>
            <a:r>
              <a:rPr lang="en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应用更灵活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：因为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是一种无状态协议，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应用程序可以更容易地水平扩展，支持更多的用户和更大的负载。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提供更好的可读性和可维护性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协议的无状态设计使得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请求和响应之间的关系更加明确和可读，从而使通信更加可维护。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促进协议的发展和演变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：由于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协议的无状态特性，使得协议的设计更具有灵活性和适应性，可以更容易地添加新的特性和功能。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2A1DBC-6F15-656A-0441-F77531A4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171" y="1501420"/>
            <a:ext cx="4254139" cy="316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00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的作用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325D91-AC56-685F-4485-F535DE9A96F3}"/>
              </a:ext>
            </a:extLst>
          </p:cNvPr>
          <p:cNvSpPr txBox="1"/>
          <p:nvPr/>
        </p:nvSpPr>
        <p:spPr>
          <a:xfrm>
            <a:off x="668690" y="1317380"/>
            <a:ext cx="6443307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在无状态协议下如何解决登录验证问题？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4440E6-78A7-2F55-D401-721372BF4F8A}"/>
              </a:ext>
            </a:extLst>
          </p:cNvPr>
          <p:cNvSpPr txBox="1"/>
          <p:nvPr/>
        </p:nvSpPr>
        <p:spPr>
          <a:xfrm>
            <a:off x="668690" y="1842908"/>
            <a:ext cx="5530146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方案一：每次请求都让用户输入登录信息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体验极差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F49351-DB21-5FD9-03C5-F5FBFF28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42" y="2537714"/>
            <a:ext cx="4495095" cy="274210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B605F20-C43A-7CE3-C426-E8CEDB3C09DC}"/>
              </a:ext>
            </a:extLst>
          </p:cNvPr>
          <p:cNvSpPr txBox="1"/>
          <p:nvPr/>
        </p:nvSpPr>
        <p:spPr>
          <a:xfrm>
            <a:off x="5980112" y="1842908"/>
            <a:ext cx="5530146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方案二：将用户信息以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的形式保存的客户端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推荐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2558C36-9BCB-DEAF-6D9D-6C52A5511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37714"/>
            <a:ext cx="4495095" cy="3691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B8A2B47-AB39-E455-C19B-D080370445BA}"/>
              </a:ext>
            </a:extLst>
          </p:cNvPr>
          <p:cNvSpPr txBox="1"/>
          <p:nvPr/>
        </p:nvSpPr>
        <p:spPr>
          <a:xfrm>
            <a:off x="668690" y="5733210"/>
            <a:ext cx="4930599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是无状态的协议，但我们可以采用合适的技术手段让我们开发的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应用是有状态的。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338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的属性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17380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1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Name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7B6BC5-E2F5-E1D5-E2CD-F9F8F9D8AEFF}"/>
              </a:ext>
            </a:extLst>
          </p:cNvPr>
          <p:cNvSpPr txBox="1"/>
          <p:nvPr/>
        </p:nvSpPr>
        <p:spPr>
          <a:xfrm>
            <a:off x="668692" y="5461597"/>
            <a:ext cx="3090508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服务端创建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并返回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E58D57-60D5-E300-A8A0-C307BBAC1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952" y="3535023"/>
            <a:ext cx="4135447" cy="174240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72A46D7-3DE7-E532-9EF3-179177CF584C}"/>
              </a:ext>
            </a:extLst>
          </p:cNvPr>
          <p:cNvSpPr txBox="1"/>
          <p:nvPr/>
        </p:nvSpPr>
        <p:spPr>
          <a:xfrm>
            <a:off x="6798557" y="5461597"/>
            <a:ext cx="5732108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响应头包含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Set-Cookie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字段，指示浏览器保存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D34C7-6E7C-C58D-6178-2D362AC51FF9}"/>
              </a:ext>
            </a:extLst>
          </p:cNvPr>
          <p:cNvSpPr txBox="1"/>
          <p:nvPr/>
        </p:nvSpPr>
        <p:spPr>
          <a:xfrm>
            <a:off x="838026" y="1819852"/>
            <a:ext cx="6838418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的名称，用于在服务器中识别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F87B16-C9CA-DD69-E8D4-C04012586F82}"/>
              </a:ext>
            </a:extLst>
          </p:cNvPr>
          <p:cNvSpPr txBox="1"/>
          <p:nvPr/>
        </p:nvSpPr>
        <p:spPr>
          <a:xfrm>
            <a:off x="668692" y="2281159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2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Value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414E1D-709B-95DF-34E5-D282CF63FD05}"/>
              </a:ext>
            </a:extLst>
          </p:cNvPr>
          <p:cNvSpPr txBox="1"/>
          <p:nvPr/>
        </p:nvSpPr>
        <p:spPr>
          <a:xfrm>
            <a:off x="838026" y="2783631"/>
            <a:ext cx="6838418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的值，用于存储在客户端电脑上的数据。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D52643B-2307-2645-E8E6-91E1E8E88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3535023"/>
            <a:ext cx="5108028" cy="1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51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17380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3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Domain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2019-85CA-7340-5937-29474EF7DDB9}"/>
              </a:ext>
            </a:extLst>
          </p:cNvPr>
          <p:cNvSpPr txBox="1"/>
          <p:nvPr/>
        </p:nvSpPr>
        <p:spPr>
          <a:xfrm>
            <a:off x="838026" y="1819852"/>
            <a:ext cx="10010596" cy="115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所属的域名。此属性用于限制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的作用域，浏览器只会向指定的域名发送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如果不配置，默认为当前的域名。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zh-CN" altLang="e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622CAB-28F6-618F-02A3-B7AFAA369099}"/>
              </a:ext>
            </a:extLst>
          </p:cNvPr>
          <p:cNvSpPr txBox="1"/>
          <p:nvPr/>
        </p:nvSpPr>
        <p:spPr>
          <a:xfrm>
            <a:off x="363893" y="4664685"/>
            <a:ext cx="4445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访问：</a:t>
            </a:r>
            <a:r>
              <a:rPr lang="en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http://localhost:8080/hotel/cookie/create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23FB4A-C965-3ED3-6782-58ECC9D09A36}"/>
              </a:ext>
            </a:extLst>
          </p:cNvPr>
          <p:cNvSpPr txBox="1"/>
          <p:nvPr/>
        </p:nvSpPr>
        <p:spPr>
          <a:xfrm>
            <a:off x="363892" y="5532965"/>
            <a:ext cx="4445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访问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http://localhost:8080/hotel/cookie/query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7D8A5D-ED50-D376-8472-890A6ED10439}"/>
              </a:ext>
            </a:extLst>
          </p:cNvPr>
          <p:cNvSpPr txBox="1"/>
          <p:nvPr/>
        </p:nvSpPr>
        <p:spPr>
          <a:xfrm>
            <a:off x="363892" y="6123622"/>
            <a:ext cx="40500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访问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http://localhost:8080/hotel/</a:t>
            </a:r>
            <a:r>
              <a:rPr lang="en-US" altLang="zh-CN" sz="1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queryRoom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C474B6-E033-332B-8C14-33A4C525EAB3}"/>
              </a:ext>
            </a:extLst>
          </p:cNvPr>
          <p:cNvSpPr txBox="1"/>
          <p:nvPr/>
        </p:nvSpPr>
        <p:spPr>
          <a:xfrm>
            <a:off x="486747" y="4953473"/>
            <a:ext cx="4864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设置</a:t>
            </a:r>
            <a:r>
              <a:rPr lang="en-US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A</a:t>
            </a:r>
            <a:r>
              <a:rPr lang="zh-CN" altLang="en-US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，但不指定</a:t>
            </a:r>
            <a:r>
              <a:rPr lang="en-US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path</a:t>
            </a:r>
            <a:r>
              <a:rPr lang="zh-CN" altLang="en-US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A</a:t>
            </a:r>
            <a:r>
              <a:rPr lang="zh-CN" altLang="en-US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 的所属路径为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81F831-F27B-12E2-F5C3-FAAB643DD591}"/>
              </a:ext>
            </a:extLst>
          </p:cNvPr>
          <p:cNvSpPr txBox="1"/>
          <p:nvPr/>
        </p:nvSpPr>
        <p:spPr>
          <a:xfrm>
            <a:off x="486747" y="5802699"/>
            <a:ext cx="4445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发送</a:t>
            </a:r>
            <a:r>
              <a:rPr lang="en-US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A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FD2CF1-6D71-D7DD-D863-6D281EF70BFA}"/>
              </a:ext>
            </a:extLst>
          </p:cNvPr>
          <p:cNvSpPr txBox="1"/>
          <p:nvPr/>
        </p:nvSpPr>
        <p:spPr>
          <a:xfrm>
            <a:off x="486747" y="6391597"/>
            <a:ext cx="4445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不发送</a:t>
            </a:r>
            <a:r>
              <a:rPr lang="en-US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A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A9824DE-D643-4F08-1D86-D21C060F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545" y="4664685"/>
            <a:ext cx="5620542" cy="84139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5432190-2205-53F9-B27A-5AE3D356596A}"/>
              </a:ext>
            </a:extLst>
          </p:cNvPr>
          <p:cNvSpPr/>
          <p:nvPr/>
        </p:nvSpPr>
        <p:spPr>
          <a:xfrm>
            <a:off x="259643" y="4664685"/>
            <a:ext cx="4944535" cy="2054081"/>
          </a:xfrm>
          <a:prstGeom prst="rect">
            <a:avLst/>
          </a:prstGeom>
          <a:noFill/>
          <a:ln w="254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9D5730-799A-3D44-AD77-4C7F52E8F429}"/>
              </a:ext>
            </a:extLst>
          </p:cNvPr>
          <p:cNvSpPr txBox="1"/>
          <p:nvPr/>
        </p:nvSpPr>
        <p:spPr>
          <a:xfrm>
            <a:off x="668692" y="2660595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4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Path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1541B0-D351-2765-BAE6-48FDC6A535D4}"/>
              </a:ext>
            </a:extLst>
          </p:cNvPr>
          <p:cNvSpPr txBox="1"/>
          <p:nvPr/>
        </p:nvSpPr>
        <p:spPr>
          <a:xfrm>
            <a:off x="866247" y="3158717"/>
            <a:ext cx="10010596" cy="116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所属的路径。此属性用于限制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的作用路径，浏览器只会向指定路径发送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如果不配置，路径默认为“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/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项目名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/…/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当前路径的上一层地址”。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根据情况需要配置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path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，如果希望当前项目所有路径都发送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，使用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getContextPath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F727BE-CAB2-15EC-13CC-E747E7396152}"/>
              </a:ext>
            </a:extLst>
          </p:cNvPr>
          <p:cNvSpPr txBox="1"/>
          <p:nvPr/>
        </p:nvSpPr>
        <p:spPr>
          <a:xfrm>
            <a:off x="486747" y="5222465"/>
            <a:ext cx="4445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b="1" dirty="0">
                <a:solidFill>
                  <a:schemeClr val="bg1"/>
                </a:solidFill>
                <a:latin typeface="Helvetica Neue" panose="02000503000000020004" pitchFamily="2" charset="0"/>
              </a:rPr>
              <a:t>http://localhost:8080/hotel/cookie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66BDB15E-B083-C372-D2F8-2987EE418A78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的属性</a:t>
            </a:r>
          </a:p>
        </p:txBody>
      </p:sp>
    </p:spTree>
    <p:extLst>
      <p:ext uri="{BB962C8B-B14F-4D97-AF65-F5344CB8AC3E}">
        <p14:creationId xmlns:p14="http://schemas.microsoft.com/office/powerpoint/2010/main" val="2296358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17380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5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Max-Age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DCA616-E941-2138-E046-4F844605E04C}"/>
              </a:ext>
            </a:extLst>
          </p:cNvPr>
          <p:cNvSpPr txBox="1"/>
          <p:nvPr/>
        </p:nvSpPr>
        <p:spPr>
          <a:xfrm>
            <a:off x="838025" y="1819852"/>
            <a:ext cx="10654063" cy="2268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的存活时间，单位为秒，表示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x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秒后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会被清除。默认值为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-1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Max-Age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=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负数，表示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只储存在浏览器内存，不储存在客户端电脑。关闭浏览器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就消失，我们把这类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叫做“会话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”。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Max-Age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=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正数，表示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储存在客户端电脑，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x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秒后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会被清除，浏览器关闭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依然有效。这列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叫做“持久性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”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Max-Age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=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0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，删除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，使用场景：退出登录。</a:t>
            </a:r>
            <a:endParaRPr lang="en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189EFB-7388-FBE5-654F-F29770AD1E71}"/>
              </a:ext>
            </a:extLst>
          </p:cNvPr>
          <p:cNvSpPr txBox="1"/>
          <p:nvPr/>
        </p:nvSpPr>
        <p:spPr>
          <a:xfrm>
            <a:off x="699912" y="4042515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6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Expires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D5048D-7EE5-C5F9-F50B-9E8A4DE55D8E}"/>
              </a:ext>
            </a:extLst>
          </p:cNvPr>
          <p:cNvSpPr txBox="1"/>
          <p:nvPr/>
        </p:nvSpPr>
        <p:spPr>
          <a:xfrm>
            <a:off x="838024" y="4591022"/>
            <a:ext cx="10654063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的失效时间，是一个时间对象，表示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什么时刻会失效。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当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Max-Age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=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正数时，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Expires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属性才有意义。</a:t>
            </a:r>
            <a:endParaRPr lang="en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CE28AED-8BF9-4F48-FAFE-476AE6569053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的属性</a:t>
            </a:r>
          </a:p>
        </p:txBody>
      </p:sp>
    </p:spTree>
    <p:extLst>
      <p:ext uri="{BB962C8B-B14F-4D97-AF65-F5344CB8AC3E}">
        <p14:creationId xmlns:p14="http://schemas.microsoft.com/office/powerpoint/2010/main" val="78795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17380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7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Secure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DCA616-E941-2138-E046-4F844605E04C}"/>
              </a:ext>
            </a:extLst>
          </p:cNvPr>
          <p:cNvSpPr txBox="1"/>
          <p:nvPr/>
        </p:nvSpPr>
        <p:spPr>
          <a:xfrm>
            <a:off x="869245" y="1744951"/>
            <a:ext cx="10654063" cy="116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指示浏览器是否仅通过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发送该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，默认值为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false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</a:t>
            </a:r>
            <a:r>
              <a:rPr lang="en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下创建的，且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Secure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=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true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那么之后用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HTTPS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访问时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会被发送到服务器，之后如果用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访问时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不会被发送到服务器。</a:t>
            </a:r>
            <a:endParaRPr lang="en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189EFB-7388-FBE5-654F-F29770AD1E71}"/>
              </a:ext>
            </a:extLst>
          </p:cNvPr>
          <p:cNvSpPr txBox="1"/>
          <p:nvPr/>
        </p:nvSpPr>
        <p:spPr>
          <a:xfrm>
            <a:off x="668692" y="2878595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8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HttpOnly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D5048D-7EE5-C5F9-F50B-9E8A4DE55D8E}"/>
              </a:ext>
            </a:extLst>
          </p:cNvPr>
          <p:cNvSpPr txBox="1"/>
          <p:nvPr/>
        </p:nvSpPr>
        <p:spPr>
          <a:xfrm>
            <a:off x="768968" y="3347157"/>
            <a:ext cx="10654063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指示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是否限制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JavaScript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访问，默认值为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false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如果设置为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true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，则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不能被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JavaScript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访问和修改，从而提高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的安全性。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07725C-9C76-93AD-C028-E08E9084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44" y="4315534"/>
            <a:ext cx="3384019" cy="15880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8D39629-D86F-B185-0846-72FB766D9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635" y="4315534"/>
            <a:ext cx="3024429" cy="158807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E6A3A1F-6E14-5C60-0820-A6EDAA12339E}"/>
              </a:ext>
            </a:extLst>
          </p:cNvPr>
          <p:cNvSpPr txBox="1"/>
          <p:nvPr/>
        </p:nvSpPr>
        <p:spPr>
          <a:xfrm>
            <a:off x="173306" y="5930991"/>
            <a:ext cx="4309708" cy="703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username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没有设置 </a:t>
            </a:r>
            <a:r>
              <a:rPr lang="en-US" altLang="zh-CN" sz="1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HttpOnly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，在浏览器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Console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可以用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JavaScript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访问并修改，不安全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A35547-946E-1550-252B-600AB911553A}"/>
              </a:ext>
            </a:extLst>
          </p:cNvPr>
          <p:cNvSpPr txBox="1"/>
          <p:nvPr/>
        </p:nvSpPr>
        <p:spPr>
          <a:xfrm>
            <a:off x="4727212" y="5928930"/>
            <a:ext cx="5388459" cy="703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age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设置了 </a:t>
            </a:r>
            <a:r>
              <a:rPr lang="en-US" altLang="zh-CN" sz="1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HttpOnly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，在浏览器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Console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不能用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JavaScript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访问并修改，安全性提高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9159249-0A31-6C46-805F-F183AB499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29" y="4341105"/>
            <a:ext cx="4028810" cy="1587825"/>
          </a:xfrm>
          <a:prstGeom prst="rect">
            <a:avLst/>
          </a:prstGeom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861679DD-5890-50DD-003D-D4EF9CBFC773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的属性</a:t>
            </a:r>
          </a:p>
        </p:txBody>
      </p:sp>
    </p:spTree>
    <p:extLst>
      <p:ext uri="{BB962C8B-B14F-4D97-AF65-F5344CB8AC3E}">
        <p14:creationId xmlns:p14="http://schemas.microsoft.com/office/powerpoint/2010/main" val="2070795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E900B93-079E-32ED-43DD-87925349696E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的属性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5CB410-BEAA-F7D7-2DC8-2FB6CFD31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3" y="1658019"/>
            <a:ext cx="10888638" cy="455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58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3349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600" dirty="0"/>
              <a:t>实战：用 </a:t>
            </a:r>
            <a:r>
              <a:rPr lang="en-US" altLang="zh-CN" sz="3600" dirty="0"/>
              <a:t>Cookie</a:t>
            </a:r>
            <a:r>
              <a:rPr lang="zh-CN" altLang="en-US" sz="3600" dirty="0"/>
              <a:t> 实现</a:t>
            </a:r>
            <a:r>
              <a:rPr lang="en-US" altLang="zh-CN" sz="3600" dirty="0"/>
              <a:t>30</a:t>
            </a:r>
            <a:r>
              <a:rPr lang="zh-CN" altLang="en-US" sz="3600" dirty="0"/>
              <a:t>天免登录功能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17380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需求分析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31145D-2604-62DB-23C7-E9F4E6E88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573866"/>
            <a:ext cx="2816102" cy="224390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FBF0988-9EC5-A57D-5AF3-D0BFB995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82" y="2589507"/>
            <a:ext cx="3427400" cy="22439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BB0716-EE49-258D-E5C7-887ED0F46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170" y="2573866"/>
            <a:ext cx="2831611" cy="33433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7F74D76-DFDE-DE13-9D5A-B2A6A62C1B88}"/>
              </a:ext>
            </a:extLst>
          </p:cNvPr>
          <p:cNvSpPr txBox="1"/>
          <p:nvPr/>
        </p:nvSpPr>
        <p:spPr>
          <a:xfrm>
            <a:off x="1352756" y="1945623"/>
            <a:ext cx="1447974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用户注册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B6F494-AB52-AB58-9A68-4DAF7A061CE5}"/>
              </a:ext>
            </a:extLst>
          </p:cNvPr>
          <p:cNvSpPr txBox="1"/>
          <p:nvPr/>
        </p:nvSpPr>
        <p:spPr>
          <a:xfrm>
            <a:off x="5147558" y="1945623"/>
            <a:ext cx="1447974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用户登录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9CC711-7F55-9349-B318-968531CCDA0C}"/>
              </a:ext>
            </a:extLst>
          </p:cNvPr>
          <p:cNvSpPr txBox="1"/>
          <p:nvPr/>
        </p:nvSpPr>
        <p:spPr>
          <a:xfrm>
            <a:off x="8284170" y="1953443"/>
            <a:ext cx="2831610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查询房间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执行业务逻辑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402FFF-2D53-1C1C-4A43-2024CE93E4F2}"/>
              </a:ext>
            </a:extLst>
          </p:cNvPr>
          <p:cNvSpPr txBox="1"/>
          <p:nvPr/>
        </p:nvSpPr>
        <p:spPr>
          <a:xfrm>
            <a:off x="588170" y="5077417"/>
            <a:ext cx="7010012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登录成功后在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中保存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username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根据请求中是否携带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username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判断是否登录过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的过期时间设置为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30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天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813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3349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600" dirty="0"/>
              <a:t>实战：用 </a:t>
            </a:r>
            <a:r>
              <a:rPr lang="en-US" altLang="zh-CN" sz="3600" dirty="0"/>
              <a:t>Cookie</a:t>
            </a:r>
            <a:r>
              <a:rPr lang="zh-CN" altLang="en-US" sz="3600" dirty="0"/>
              <a:t> 实现</a:t>
            </a:r>
            <a:r>
              <a:rPr lang="en-US" altLang="zh-CN" sz="3600" dirty="0"/>
              <a:t>30</a:t>
            </a:r>
            <a:r>
              <a:rPr lang="zh-CN" altLang="en-US" sz="3600" dirty="0"/>
              <a:t>天免登录功能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17380"/>
            <a:ext cx="911877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修改密码可修改的场景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9CC711-7F55-9349-B318-968531CCDA0C}"/>
              </a:ext>
            </a:extLst>
          </p:cNvPr>
          <p:cNvSpPr txBox="1"/>
          <p:nvPr/>
        </p:nvSpPr>
        <p:spPr>
          <a:xfrm>
            <a:off x="4336835" y="1942599"/>
            <a:ext cx="2831610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查询房间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执行业务逻辑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402FFF-2D53-1C1C-4A43-2024CE93E4F2}"/>
              </a:ext>
            </a:extLst>
          </p:cNvPr>
          <p:cNvSpPr txBox="1"/>
          <p:nvPr/>
        </p:nvSpPr>
        <p:spPr>
          <a:xfrm>
            <a:off x="588170" y="5077417"/>
            <a:ext cx="9729874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登录成功后在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中保存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username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password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（建议加密）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根据请求中是否携带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username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password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以及密码是否正确判断是否登录过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的过期时间设置为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30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天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48B01DF-64F8-95A9-C7D5-6887CE948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4" y="2582742"/>
            <a:ext cx="3179967" cy="234782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371A132-695A-851C-D8DE-B091BFE91F24}"/>
              </a:ext>
            </a:extLst>
          </p:cNvPr>
          <p:cNvSpPr txBox="1"/>
          <p:nvPr/>
        </p:nvSpPr>
        <p:spPr>
          <a:xfrm>
            <a:off x="1593860" y="1942599"/>
            <a:ext cx="1447974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修改密码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D06CCAA-2526-A755-B666-80BB7C39B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200" y="2599199"/>
            <a:ext cx="2774245" cy="233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72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CCC6545A-E516-11F9-BB3C-39A89D2DD679}"/>
              </a:ext>
            </a:extLst>
          </p:cNvPr>
          <p:cNvSpPr/>
          <p:nvPr/>
        </p:nvSpPr>
        <p:spPr>
          <a:xfrm>
            <a:off x="7447843" y="3106759"/>
            <a:ext cx="3509459" cy="3377844"/>
          </a:xfrm>
          <a:prstGeom prst="rect">
            <a:avLst/>
          </a:prstGeom>
          <a:solidFill>
            <a:srgbClr val="FFE79A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17380"/>
            <a:ext cx="10552465" cy="2956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（会话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，是指客户端与服务器之间一段持续的交互过程，通常在用户打开浏览器访问网站时开始，直到用户关闭浏览器时结束。在这个交互过程中，服务器为每个客户端维护一个唯一的标识符（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 id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），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用于识别该客户端与服务器之间的会话状态，并将相关的会话数据保存在服务器端。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是什么：客户端与服务端之间一段持续交互的过程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生命周期：打开网站到关闭浏览器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谁创建：服务端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存在哪：服务端（客户端仅保存 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id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）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Session</a:t>
            </a:r>
            <a:r>
              <a:rPr lang="zh-CN" altLang="en-US" dirty="0"/>
              <a:t> 的定义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E79ACD-AC7B-1086-5956-E0F2CAD2EDCD}"/>
              </a:ext>
            </a:extLst>
          </p:cNvPr>
          <p:cNvSpPr/>
          <p:nvPr/>
        </p:nvSpPr>
        <p:spPr>
          <a:xfrm>
            <a:off x="6096000" y="3635022"/>
            <a:ext cx="1106311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客户端</a:t>
            </a:r>
            <a:r>
              <a:rPr kumimoji="1" lang="en-US" altLang="zh-CN" b="1" dirty="0"/>
              <a:t>1</a:t>
            </a:r>
            <a:endParaRPr kumimoji="1"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306955-EE17-579B-BA6F-B07C772DB291}"/>
              </a:ext>
            </a:extLst>
          </p:cNvPr>
          <p:cNvSpPr/>
          <p:nvPr/>
        </p:nvSpPr>
        <p:spPr>
          <a:xfrm>
            <a:off x="6095999" y="4628327"/>
            <a:ext cx="1106311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客户端</a:t>
            </a:r>
            <a:r>
              <a:rPr kumimoji="1" lang="en-US" altLang="zh-CN" b="1" dirty="0"/>
              <a:t>2</a:t>
            </a:r>
            <a:endParaRPr kumimoji="1"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08F336-0F7B-EC76-E591-9A568FAEFC2A}"/>
              </a:ext>
            </a:extLst>
          </p:cNvPr>
          <p:cNvSpPr/>
          <p:nvPr/>
        </p:nvSpPr>
        <p:spPr>
          <a:xfrm>
            <a:off x="6095999" y="5671803"/>
            <a:ext cx="1106311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客户端</a:t>
            </a:r>
            <a:r>
              <a:rPr kumimoji="1" lang="en-US" altLang="zh-CN" b="1" dirty="0"/>
              <a:t>N</a:t>
            </a:r>
            <a:endParaRPr kumimoji="1"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23CC54-106F-9007-0AE1-E4C5F1F9A08F}"/>
              </a:ext>
            </a:extLst>
          </p:cNvPr>
          <p:cNvSpPr/>
          <p:nvPr/>
        </p:nvSpPr>
        <p:spPr>
          <a:xfrm>
            <a:off x="7693377" y="3635022"/>
            <a:ext cx="1450623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session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id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1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01B07D-5A43-1DD4-5B7A-C99A011F9D83}"/>
              </a:ext>
            </a:extLst>
          </p:cNvPr>
          <p:cNvSpPr/>
          <p:nvPr/>
        </p:nvSpPr>
        <p:spPr>
          <a:xfrm>
            <a:off x="9144000" y="3635021"/>
            <a:ext cx="1580444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session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data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5D5140-B95D-E2B0-8053-1594459630B2}"/>
              </a:ext>
            </a:extLst>
          </p:cNvPr>
          <p:cNvSpPr/>
          <p:nvPr/>
        </p:nvSpPr>
        <p:spPr>
          <a:xfrm>
            <a:off x="7693377" y="4624557"/>
            <a:ext cx="1450623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session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id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2</a:t>
            </a:r>
            <a:endParaRPr kumimoji="1" lang="zh-CN" altLang="en-US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B1C2EB-CE99-204A-A996-D39A56FA0A64}"/>
              </a:ext>
            </a:extLst>
          </p:cNvPr>
          <p:cNvSpPr/>
          <p:nvPr/>
        </p:nvSpPr>
        <p:spPr>
          <a:xfrm>
            <a:off x="9144000" y="4624556"/>
            <a:ext cx="1580444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session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data</a:t>
            </a:r>
            <a:endParaRPr kumimoji="1" lang="zh-CN" altLang="en-US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2E6777-FB42-135F-8D63-92BB0A11A799}"/>
              </a:ext>
            </a:extLst>
          </p:cNvPr>
          <p:cNvSpPr/>
          <p:nvPr/>
        </p:nvSpPr>
        <p:spPr>
          <a:xfrm>
            <a:off x="7693377" y="5671803"/>
            <a:ext cx="1450623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session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id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N</a:t>
            </a:r>
            <a:endParaRPr kumimoji="1" lang="zh-CN" altLang="en-US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E4751A-6814-86AA-C644-1757F1D96E99}"/>
              </a:ext>
            </a:extLst>
          </p:cNvPr>
          <p:cNvSpPr/>
          <p:nvPr/>
        </p:nvSpPr>
        <p:spPr>
          <a:xfrm>
            <a:off x="9144000" y="5671802"/>
            <a:ext cx="1580444" cy="541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session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data</a:t>
            </a:r>
            <a:endParaRPr kumimoji="1" lang="zh-CN" altLang="en-US" b="1" dirty="0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38852B3E-FBD3-EEB7-97B1-91FBE6F214C4}"/>
              </a:ext>
            </a:extLst>
          </p:cNvPr>
          <p:cNvCxnSpPr>
            <a:endCxn id="6" idx="1"/>
          </p:cNvCxnSpPr>
          <p:nvPr/>
        </p:nvCxnSpPr>
        <p:spPr>
          <a:xfrm>
            <a:off x="7196666" y="3905956"/>
            <a:ext cx="49671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4AE2056A-BB6D-908E-E7EB-EAFF85DB6566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7202310" y="4895491"/>
            <a:ext cx="491067" cy="37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C65624C6-E5D6-C650-4C9A-4C36449888E9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7202310" y="5942737"/>
            <a:ext cx="49106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A799731-B9C8-9904-9501-68FE12CC8DB8}"/>
              </a:ext>
            </a:extLst>
          </p:cNvPr>
          <p:cNvSpPr txBox="1"/>
          <p:nvPr/>
        </p:nvSpPr>
        <p:spPr>
          <a:xfrm>
            <a:off x="7462388" y="3106759"/>
            <a:ext cx="95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/>
              <a:t>服务端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D26A3F9-B13A-1D98-3D44-670D19C3A34F}"/>
              </a:ext>
            </a:extLst>
          </p:cNvPr>
          <p:cNvSpPr txBox="1"/>
          <p:nvPr/>
        </p:nvSpPr>
        <p:spPr>
          <a:xfrm>
            <a:off x="8513833" y="3106758"/>
            <a:ext cx="1777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/>
              <a:t>session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map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9E5987D-85C7-0EA5-17C7-1BD7F1C84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6" y="4437460"/>
            <a:ext cx="4764747" cy="204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45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Session</a:t>
            </a:r>
            <a:r>
              <a:rPr lang="zh-CN" altLang="en-US" dirty="0"/>
              <a:t> 的作用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847188-451A-815F-F181-CD9D2CF0E827}"/>
              </a:ext>
            </a:extLst>
          </p:cNvPr>
          <p:cNvSpPr txBox="1"/>
          <p:nvPr/>
        </p:nvSpPr>
        <p:spPr>
          <a:xfrm>
            <a:off x="668692" y="1396402"/>
            <a:ext cx="10699220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的作用是：维护用户的会话状态，解决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协议的无状态问题。可以用来解决用户登录、购物车等问题。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FF96A31-EC72-FEC1-4D23-9703696A0E2D}"/>
              </a:ext>
            </a:extLst>
          </p:cNvPr>
          <p:cNvSpPr txBox="1">
            <a:spLocks/>
          </p:cNvSpPr>
          <p:nvPr/>
        </p:nvSpPr>
        <p:spPr>
          <a:xfrm>
            <a:off x="668692" y="2586605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Session</a:t>
            </a:r>
            <a:r>
              <a:rPr lang="zh-CN" altLang="en-US" dirty="0"/>
              <a:t> 的使用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C4FA0C-BBE0-C08B-C237-F663CC4CAD19}"/>
              </a:ext>
            </a:extLst>
          </p:cNvPr>
          <p:cNvSpPr txBox="1"/>
          <p:nvPr/>
        </p:nvSpPr>
        <p:spPr>
          <a:xfrm>
            <a:off x="668692" y="3429000"/>
            <a:ext cx="10992730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获取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" altLang="zh-CN" sz="1800" dirty="0" err="1">
                <a:solidFill>
                  <a:srgbClr val="A9B7C6"/>
                </a:solidFill>
                <a:effectLst/>
                <a:latin typeface="JetBrains Mono"/>
              </a:rPr>
              <a:t>HttpSession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lang="en" altLang="zh-CN" sz="1800" dirty="0" err="1">
                <a:solidFill>
                  <a:srgbClr val="FFC66D"/>
                </a:solidFill>
                <a:effectLst/>
                <a:latin typeface="JetBrains Mono"/>
              </a:rPr>
              <a:t>getSession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; 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获取当前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不存在则创建。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" altLang="zh-CN" sz="1800" dirty="0" err="1">
                <a:solidFill>
                  <a:srgbClr val="A9B7C6"/>
                </a:solidFill>
                <a:effectLst/>
                <a:latin typeface="JetBrains Mono"/>
              </a:rPr>
              <a:t>HttpSession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lang="en" altLang="zh-CN" sz="1800" dirty="0" err="1">
                <a:solidFill>
                  <a:srgbClr val="FFC66D"/>
                </a:solidFill>
                <a:effectLst/>
                <a:latin typeface="JetBrains Mono"/>
              </a:rPr>
              <a:t>getSession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" altLang="zh-CN" sz="1800" dirty="0" err="1">
                <a:solidFill>
                  <a:srgbClr val="CC7832"/>
                </a:solidFill>
                <a:effectLst/>
                <a:latin typeface="JetBrains Mono"/>
              </a:rPr>
              <a:t>boolean</a:t>
            </a: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create)</a:t>
            </a:r>
            <a:r>
              <a:rPr lang="en" altLang="zh-CN" dirty="0">
                <a:solidFill>
                  <a:srgbClr val="CC7832"/>
                </a:solidFill>
                <a:latin typeface="JetBrains Mono"/>
              </a:rPr>
              <a:t>;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获取当前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，若不存在，根据参数决定是否创建。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设置属性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public void </a:t>
            </a:r>
            <a:r>
              <a:rPr lang="en" altLang="zh-CN" sz="1800" dirty="0" err="1">
                <a:solidFill>
                  <a:srgbClr val="FFC66D"/>
                </a:solidFill>
                <a:effectLst/>
                <a:latin typeface="JetBrains Mono"/>
              </a:rPr>
              <a:t>setAttribute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(String name</a:t>
            </a: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Object value)</a:t>
            </a: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从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中获取属性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Object </a:t>
            </a:r>
            <a:r>
              <a:rPr lang="en" altLang="zh-CN" sz="1800" dirty="0" err="1">
                <a:solidFill>
                  <a:srgbClr val="FFC66D"/>
                </a:solidFill>
                <a:effectLst/>
                <a:latin typeface="JetBrains Mono"/>
              </a:rPr>
              <a:t>getAttribute</a:t>
            </a:r>
            <a:r>
              <a:rPr lang="en" altLang="zh-CN" sz="1800" dirty="0">
                <a:solidFill>
                  <a:srgbClr val="A9B7C6"/>
                </a:solidFill>
                <a:effectLst/>
                <a:latin typeface="JetBrains Mono"/>
              </a:rPr>
              <a:t>(String name)</a:t>
            </a:r>
            <a:r>
              <a:rPr lang="en" altLang="zh-CN" sz="18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" altLang="zh-CN" sz="18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128998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Session</a:t>
            </a:r>
            <a:r>
              <a:rPr lang="zh-CN" altLang="en-US" dirty="0"/>
              <a:t> 的实现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847188-451A-815F-F181-CD9D2CF0E827}"/>
              </a:ext>
            </a:extLst>
          </p:cNvPr>
          <p:cNvSpPr txBox="1"/>
          <p:nvPr/>
        </p:nvSpPr>
        <p:spPr>
          <a:xfrm>
            <a:off x="668692" y="1396402"/>
            <a:ext cx="10699220" cy="128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的实现基于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以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的形式在服务端和客户端之间交互。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在服务端以嵌套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的数据结构存储，外层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key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，内层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key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attribute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name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F15F5CB-D153-0D36-BBD5-4C259EB93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052717"/>
            <a:ext cx="5647267" cy="2757776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B68200E0-EB3A-1F28-ABCD-E4053445F93A}"/>
              </a:ext>
            </a:extLst>
          </p:cNvPr>
          <p:cNvSpPr txBox="1">
            <a:spLocks/>
          </p:cNvSpPr>
          <p:nvPr/>
        </p:nvSpPr>
        <p:spPr>
          <a:xfrm>
            <a:off x="6729503" y="3272034"/>
            <a:ext cx="4909342" cy="3139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1600" dirty="0"/>
              <a:t>Map&lt;Sting, Map&lt;String, Object&gt;&gt; </a:t>
            </a:r>
            <a:r>
              <a:rPr lang="en-US" altLang="zh-CN" sz="1600" dirty="0" err="1"/>
              <a:t>sessionMap</a:t>
            </a:r>
            <a:r>
              <a:rPr lang="en-US" altLang="zh-CN" sz="1600" dirty="0"/>
              <a:t>;</a:t>
            </a:r>
            <a:endParaRPr lang="zh-CN" altLang="en-US" sz="1600" dirty="0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18264B3C-55ED-9246-5286-28607E816F34}"/>
              </a:ext>
            </a:extLst>
          </p:cNvPr>
          <p:cNvCxnSpPr/>
          <p:nvPr/>
        </p:nvCxnSpPr>
        <p:spPr>
          <a:xfrm>
            <a:off x="7394222" y="3608544"/>
            <a:ext cx="508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09CD68B-817D-18F5-435E-28E78201DB2F}"/>
              </a:ext>
            </a:extLst>
          </p:cNvPr>
          <p:cNvCxnSpPr/>
          <p:nvPr/>
        </p:nvCxnSpPr>
        <p:spPr>
          <a:xfrm>
            <a:off x="8631018" y="3608544"/>
            <a:ext cx="508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DE32BDBC-4622-7610-0636-153EFA62F730}"/>
              </a:ext>
            </a:extLst>
          </p:cNvPr>
          <p:cNvCxnSpPr/>
          <p:nvPr/>
        </p:nvCxnSpPr>
        <p:spPr>
          <a:xfrm>
            <a:off x="9370440" y="3608544"/>
            <a:ext cx="508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676E9CDF-69E8-B09D-8C32-12F4B6DDA3BE}"/>
              </a:ext>
            </a:extLst>
          </p:cNvPr>
          <p:cNvCxnSpPr>
            <a:cxnSpLocks/>
          </p:cNvCxnSpPr>
          <p:nvPr/>
        </p:nvCxnSpPr>
        <p:spPr>
          <a:xfrm flipV="1">
            <a:off x="7518400" y="3608544"/>
            <a:ext cx="129822" cy="43287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3ED22873-FA7B-A29D-516B-DB3BA9B93E51}"/>
              </a:ext>
            </a:extLst>
          </p:cNvPr>
          <p:cNvCxnSpPr>
            <a:cxnSpLocks/>
          </p:cNvCxnSpPr>
          <p:nvPr/>
        </p:nvCxnSpPr>
        <p:spPr>
          <a:xfrm flipV="1">
            <a:off x="8785752" y="3608544"/>
            <a:ext cx="129822" cy="43287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068CF69B-C023-0E14-63E9-0B0B86650201}"/>
              </a:ext>
            </a:extLst>
          </p:cNvPr>
          <p:cNvCxnSpPr>
            <a:cxnSpLocks/>
          </p:cNvCxnSpPr>
          <p:nvPr/>
        </p:nvCxnSpPr>
        <p:spPr>
          <a:xfrm flipH="1" flipV="1">
            <a:off x="9624440" y="3608544"/>
            <a:ext cx="652108" cy="43287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标题 1">
            <a:extLst>
              <a:ext uri="{FF2B5EF4-FFF2-40B4-BE49-F238E27FC236}">
                <a16:creationId xmlns:a16="http://schemas.microsoft.com/office/drawing/2014/main" id="{214FFDAD-80E6-DD93-387C-6B6AEDA7BA64}"/>
              </a:ext>
            </a:extLst>
          </p:cNvPr>
          <p:cNvSpPr txBox="1">
            <a:spLocks/>
          </p:cNvSpPr>
          <p:nvPr/>
        </p:nvSpPr>
        <p:spPr>
          <a:xfrm>
            <a:off x="6922162" y="4117673"/>
            <a:ext cx="1257387" cy="3139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1600" dirty="0" err="1">
                <a:solidFill>
                  <a:srgbClr val="FFE79A"/>
                </a:solidFill>
              </a:rPr>
              <a:t>sessionID</a:t>
            </a:r>
            <a:endParaRPr lang="zh-CN" altLang="en-US" sz="1600" dirty="0">
              <a:solidFill>
                <a:srgbClr val="FFE79A"/>
              </a:solidFill>
            </a:endParaRP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D14E4ACC-F8EC-3498-9981-5B70491A2C54}"/>
              </a:ext>
            </a:extLst>
          </p:cNvPr>
          <p:cNvSpPr txBox="1">
            <a:spLocks/>
          </p:cNvSpPr>
          <p:nvPr/>
        </p:nvSpPr>
        <p:spPr>
          <a:xfrm>
            <a:off x="8087338" y="4117673"/>
            <a:ext cx="1656471" cy="3139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1600" dirty="0" err="1">
                <a:solidFill>
                  <a:srgbClr val="FFE79A"/>
                </a:solidFill>
              </a:rPr>
              <a:t>attributeName</a:t>
            </a:r>
            <a:endParaRPr lang="zh-CN" altLang="en-US" sz="1600" dirty="0">
              <a:solidFill>
                <a:srgbClr val="FFE79A"/>
              </a:solidFill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1CD6C33B-60AA-9FF4-12F5-50BB8974E696}"/>
              </a:ext>
            </a:extLst>
          </p:cNvPr>
          <p:cNvSpPr txBox="1">
            <a:spLocks/>
          </p:cNvSpPr>
          <p:nvPr/>
        </p:nvSpPr>
        <p:spPr>
          <a:xfrm>
            <a:off x="9894712" y="4118801"/>
            <a:ext cx="1656471" cy="3139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1600" dirty="0" err="1">
                <a:solidFill>
                  <a:srgbClr val="FFE79A"/>
                </a:solidFill>
              </a:rPr>
              <a:t>attributeValue</a:t>
            </a:r>
            <a:endParaRPr lang="zh-CN" altLang="en-US" sz="1600" dirty="0">
              <a:solidFill>
                <a:srgbClr val="FFE7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925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Session</a:t>
            </a:r>
            <a:r>
              <a:rPr lang="zh-CN" altLang="en-US" dirty="0"/>
              <a:t> 的过期机制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847188-451A-815F-F181-CD9D2CF0E827}"/>
              </a:ext>
            </a:extLst>
          </p:cNvPr>
          <p:cNvSpPr txBox="1"/>
          <p:nvPr/>
        </p:nvSpPr>
        <p:spPr>
          <a:xfrm>
            <a:off x="668692" y="1709151"/>
            <a:ext cx="10699220" cy="1709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服务端为每个客户端维护一个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，客户端增多，服务端维护的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也会增多。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服务端维护的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data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保存在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服务器内存，海量的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data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可能会占满服务器内存。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如果客户端长时间处于离线状态，例如客户端打开了一个网页，但是长时间离开了电脑或者断开了网络连接，在这段时间内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还将一直保留在服务器中，浪费了服务器的资源。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5E15CD-7CD6-6408-B0F8-611BD645A636}"/>
              </a:ext>
            </a:extLst>
          </p:cNvPr>
          <p:cNvSpPr txBox="1"/>
          <p:nvPr/>
        </p:nvSpPr>
        <p:spPr>
          <a:xfrm>
            <a:off x="668692" y="4031789"/>
            <a:ext cx="10699220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通过 </a:t>
            </a:r>
            <a:r>
              <a:rPr lang="en" altLang="zh-CN" sz="1800" dirty="0" err="1">
                <a:solidFill>
                  <a:srgbClr val="FFC66D"/>
                </a:solidFill>
                <a:effectLst/>
                <a:latin typeface="JetBrains Mono"/>
              </a:rPr>
              <a:t>setMaxInactiveInterval</a:t>
            </a:r>
            <a:r>
              <a:rPr lang="en" altLang="zh-CN" dirty="0">
                <a:solidFill>
                  <a:srgbClr val="A9B7C6"/>
                </a:solidFill>
                <a:latin typeface="JetBrains Mono"/>
              </a:rPr>
              <a:t> 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设置过期时间，单位为秒。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设置的是处于不活跃状态的时间，即如果这段时间有访问该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会进行续期。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D8DBB7-AF3B-CD74-A6BE-760C200DD555}"/>
              </a:ext>
            </a:extLst>
          </p:cNvPr>
          <p:cNvSpPr txBox="1"/>
          <p:nvPr/>
        </p:nvSpPr>
        <p:spPr>
          <a:xfrm>
            <a:off x="668692" y="36100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过期方式一：设置过期时间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7B38D5-EAD6-00F2-103E-266371E2ED3C}"/>
              </a:ext>
            </a:extLst>
          </p:cNvPr>
          <p:cNvSpPr txBox="1"/>
          <p:nvPr/>
        </p:nvSpPr>
        <p:spPr>
          <a:xfrm>
            <a:off x="668692" y="13754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为什么 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要有过期机制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042816-8BFF-1ED1-C79C-1A6D81144493}"/>
              </a:ext>
            </a:extLst>
          </p:cNvPr>
          <p:cNvSpPr txBox="1"/>
          <p:nvPr/>
        </p:nvSpPr>
        <p:spPr>
          <a:xfrm>
            <a:off x="668692" y="50017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过期方式二：手动过期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541B07-3495-FAF7-F997-6A659AA93BF4}"/>
              </a:ext>
            </a:extLst>
          </p:cNvPr>
          <p:cNvSpPr txBox="1"/>
          <p:nvPr/>
        </p:nvSpPr>
        <p:spPr>
          <a:xfrm>
            <a:off x="668692" y="5371085"/>
            <a:ext cx="10699220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通过 </a:t>
            </a:r>
            <a:r>
              <a:rPr lang="en" altLang="zh-CN" sz="1800" dirty="0">
                <a:solidFill>
                  <a:srgbClr val="FFC66D"/>
                </a:solidFill>
                <a:effectLst/>
                <a:latin typeface="JetBrains Mono"/>
              </a:rPr>
              <a:t>invalidate</a:t>
            </a:r>
            <a:r>
              <a:rPr lang="en" altLang="zh-CN" dirty="0">
                <a:solidFill>
                  <a:srgbClr val="A9B7C6"/>
                </a:solidFill>
                <a:latin typeface="JetBrains Mono"/>
              </a:rPr>
              <a:t> 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强制将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置为无效。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手动过期是一种特殊的操作，不建议使用。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442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3349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600" dirty="0"/>
              <a:t>实战：用 </a:t>
            </a:r>
            <a:r>
              <a:rPr lang="en-US" altLang="zh-CN" sz="3600" dirty="0"/>
              <a:t>Session</a:t>
            </a:r>
            <a:r>
              <a:rPr lang="zh-CN" altLang="en-US" sz="3600" dirty="0"/>
              <a:t> 实现购物车功能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72463"/>
            <a:ext cx="9118776" cy="128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需求分析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加入购物车功能：向购物车中添加商品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查看购物车功能：查询当前购物车中的商品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28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Cookie</a:t>
            </a:r>
            <a:r>
              <a:rPr lang="zh-CN" altLang="en-US" dirty="0"/>
              <a:t> 和 </a:t>
            </a:r>
            <a:r>
              <a:rPr lang="en-US" altLang="zh-CN" dirty="0"/>
              <a:t>Session</a:t>
            </a:r>
            <a:r>
              <a:rPr lang="zh-CN" altLang="en-US" dirty="0"/>
              <a:t> 的区别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17380"/>
            <a:ext cx="10857265" cy="461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和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都是用来在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应用程序中跟踪用户访问状态和保存用户信息的技术，但它们存在以下几方面的区别：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存储位置不同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是存储在客户端中的文件，而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是存储在服务器端的内存中。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生命周期不同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可以在一定时间内保留（关闭浏览器再次打开仍有效），也可以在浏览器关闭后失效。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在浏览器关闭后失效。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存储数据类型不同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只能存储字符串类型的数据，而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可以存储任意类型的对象。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存储容量不同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：每个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的存储量有限制，通常不能超过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4KB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存储的容量没有限制。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安全性不同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存储在客户端浏览器缓存中，可能会受到浏览器和网络传输的攻击，安全不如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存储在服务器端。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综上所述，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都具有各自的优势和适用场景。如果需要存储小量的数据或者希望跟踪用户状态时，可以使用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；如果需要存储大量数据，或者需要存储敏感信息时，建议使用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Session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661157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44865</TotalTime>
  <Words>1869</Words>
  <Application>Microsoft Macintosh PowerPoint</Application>
  <PresentationFormat>宽屏</PresentationFormat>
  <Paragraphs>153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等线</vt:lpstr>
      <vt:lpstr>思源黑体</vt:lpstr>
      <vt:lpstr>Microsoft YaHei</vt:lpstr>
      <vt:lpstr>Microsoft YaHei</vt:lpstr>
      <vt:lpstr>JetBrains Mono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Cookie 与 Session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521</cp:revision>
  <dcterms:created xsi:type="dcterms:W3CDTF">2021-12-14T08:53:33Z</dcterms:created>
  <dcterms:modified xsi:type="dcterms:W3CDTF">2023-05-14T19:44:51Z</dcterms:modified>
</cp:coreProperties>
</file>