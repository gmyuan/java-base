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1" r:id="rId2"/>
  </p:sldMasterIdLst>
  <p:notesMasterIdLst>
    <p:notesMasterId r:id="rId17"/>
  </p:notesMasterIdLst>
  <p:sldIdLst>
    <p:sldId id="256" r:id="rId3"/>
    <p:sldId id="331" r:id="rId4"/>
    <p:sldId id="411" r:id="rId5"/>
    <p:sldId id="412" r:id="rId6"/>
    <p:sldId id="410" r:id="rId7"/>
    <p:sldId id="413" r:id="rId8"/>
    <p:sldId id="360" r:id="rId9"/>
    <p:sldId id="417" r:id="rId10"/>
    <p:sldId id="414" r:id="rId11"/>
    <p:sldId id="415" r:id="rId12"/>
    <p:sldId id="416" r:id="rId13"/>
    <p:sldId id="418" r:id="rId14"/>
    <p:sldId id="419" r:id="rId15"/>
    <p:sldId id="42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18" autoAdjust="0"/>
    <p:restoredTop sz="96078"/>
  </p:normalViewPr>
  <p:slideViewPr>
    <p:cSldViewPr snapToGrid="0">
      <p:cViewPr varScale="1">
        <p:scale>
          <a:sx n="113" d="100"/>
          <a:sy n="113" d="100"/>
        </p:scale>
        <p:origin x="208" y="312"/>
      </p:cViewPr>
      <p:guideLst/>
    </p:cSldViewPr>
  </p:slideViewPr>
  <p:outlineViewPr>
    <p:cViewPr>
      <p:scale>
        <a:sx n="33" d="100"/>
        <a:sy n="33" d="100"/>
      </p:scale>
      <p:origin x="0" y="-46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234C0-42CF-994A-B498-2C2DAA802C99}" type="datetimeFigureOut">
              <a:rPr lang="en-CN" smtClean="0"/>
              <a:t>4/21/23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22EA6-FE1A-C745-BE27-F2AA48395E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2899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/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66399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426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lang="zh-CN" altLang="en-US" dirty="0" smtClean="0"/>
            </a:lvl1pPr>
            <a:lvl2pPr>
              <a:lnSpc>
                <a:spcPct val="100000"/>
              </a:lnSpc>
              <a:defRPr lang="zh-CN" altLang="en-US" dirty="0" smtClean="0"/>
            </a:lvl2pPr>
            <a:lvl3pPr>
              <a:lnSpc>
                <a:spcPct val="100000"/>
              </a:lnSpc>
              <a:defRPr lang="zh-CN" altLang="en-US" dirty="0" smtClean="0"/>
            </a:lvl3pPr>
            <a:lvl4pPr>
              <a:lnSpc>
                <a:spcPct val="100000"/>
              </a:lnSpc>
              <a:defRPr lang="zh-CN" altLang="en-US" dirty="0" smtClean="0"/>
            </a:lvl4pPr>
            <a:lvl5pPr>
              <a:lnSpc>
                <a:spcPct val="100000"/>
              </a:lnSpc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2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366928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59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marL="0" indent="0" algn="ctr">
              <a:buNone/>
              <a:defRPr/>
            </a:lvl2pPr>
            <a:lvl3pPr marL="0" indent="0" algn="ctr">
              <a:buNone/>
              <a:defRPr/>
            </a:lvl3pPr>
            <a:lvl4pPr marL="0" indent="0" algn="ctr">
              <a:buNone/>
              <a:defRPr/>
            </a:lvl4pPr>
            <a:lvl5pPr marL="0" indent="0" algn="ctr">
              <a:buNone/>
              <a:defRPr/>
            </a:lvl5pPr>
          </a:lstStyle>
          <a:p>
            <a:pPr lvl="0"/>
            <a:r>
              <a:rPr lang="zh-CN" altLang="en-US" dirty="0"/>
              <a:t>背景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02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044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151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>
                <a:solidFill>
                  <a:srgbClr val="2B4576"/>
                </a:soli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09546"/>
            <a:ext cx="10515600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00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250417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21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>
              <a:buSzPct val="100000"/>
              <a:defRPr lang="zh-CN" altLang="en-US" dirty="0" smtClean="0"/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175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3"/>
          </p:nvPr>
        </p:nvSpPr>
        <p:spPr>
          <a:xfrm>
            <a:off x="0" y="3"/>
            <a:ext cx="12192000" cy="6857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338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57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737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4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384F88"/>
            </a:gs>
            <a:gs pos="100000">
              <a:srgbClr val="1E2C6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FC00A0-87D4-4A61-9BF9-412D314D1DAF}"/>
              </a:ext>
            </a:extLst>
          </p:cNvPr>
          <p:cNvSpPr txBox="1"/>
          <p:nvPr/>
        </p:nvSpPr>
        <p:spPr>
          <a:xfrm>
            <a:off x="5546971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48837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9" r:id="rId3"/>
    <p:sldLayoutId id="2147483675" r:id="rId4"/>
    <p:sldLayoutId id="2147483678" r:id="rId5"/>
    <p:sldLayoutId id="2147483677" r:id="rId6"/>
    <p:sldLayoutId id="2147483679" r:id="rId7"/>
    <p:sldLayoutId id="2147483680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-360000" algn="l" defTabSz="6858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lang="zh-CN" altLang="en-US" sz="3600" kern="1200" dirty="0" smtClean="0">
          <a:solidFill>
            <a:srgbClr val="FFDE85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100000"/>
        <a:buFont typeface="Wingdings" panose="05000000000000000000" pitchFamily="2" charset="2"/>
        <a:buChar char="ü"/>
        <a:defRPr sz="24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9FCFF"/>
            </a:gs>
            <a:gs pos="100000">
              <a:srgbClr val="EBF7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1130"/>
            <a:ext cx="10515600" cy="5380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4C8E59-2062-4974-9D8C-C0D011B313F2}"/>
              </a:ext>
            </a:extLst>
          </p:cNvPr>
          <p:cNvSpPr txBox="1"/>
          <p:nvPr/>
        </p:nvSpPr>
        <p:spPr>
          <a:xfrm>
            <a:off x="5363962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95339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90" r:id="rId3"/>
    <p:sldLayoutId id="2147483683" r:id="rId4"/>
    <p:sldLayoutId id="2147483684" r:id="rId5"/>
    <p:sldLayoutId id="2147483685" r:id="rId6"/>
    <p:sldLayoutId id="2147483686" r:id="rId7"/>
    <p:sldLayoutId id="2147483687" r:id="rId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36000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50000"/>
        <a:buFont typeface="Wingdings" panose="05000000000000000000" pitchFamily="2" charset="2"/>
        <a:buChar char="ü"/>
        <a:defRPr sz="24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Servlet</a:t>
            </a:r>
            <a:r>
              <a:rPr lang="zh-CN" altLang="en-US" dirty="0"/>
              <a:t>对象的生命周期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FB9298-51D4-4A02-B053-F474455D3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66399"/>
            <a:ext cx="10515600" cy="461665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罗辑</a:t>
            </a:r>
          </a:p>
        </p:txBody>
      </p:sp>
    </p:spTree>
    <p:extLst>
      <p:ext uri="{BB962C8B-B14F-4D97-AF65-F5344CB8AC3E}">
        <p14:creationId xmlns:p14="http://schemas.microsoft.com/office/powerpoint/2010/main" val="3556706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512988" y="521724"/>
            <a:ext cx="7660168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在本节课中，你将学到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C06F9D-3597-D8B9-1E43-941F7E21AB78}"/>
              </a:ext>
            </a:extLst>
          </p:cNvPr>
          <p:cNvSpPr txBox="1"/>
          <p:nvPr/>
        </p:nvSpPr>
        <p:spPr>
          <a:xfrm>
            <a:off x="646038" y="1278854"/>
            <a:ext cx="7140473" cy="327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什么是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对象的生命周期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对象的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service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方法什么时候被调用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对象什么时候实例化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对象创建了几个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对象的 </a:t>
            </a: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init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方法在什么时候被调用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对象的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destroy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方法在什么时候被调用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对象由谁来维护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-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容器的概念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500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701738"/>
            <a:ext cx="10405707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复习</a:t>
            </a:r>
            <a:r>
              <a:rPr lang="en-US" altLang="zh-CN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:</a:t>
            </a:r>
            <a:r>
              <a:rPr lang="zh-CN" altLang="en-US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IDEA</a:t>
            </a:r>
            <a:r>
              <a:rPr lang="zh-CN" altLang="en-US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 创建基于 </a:t>
            </a:r>
            <a:r>
              <a:rPr lang="en-US" altLang="zh-CN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 的 </a:t>
            </a:r>
            <a:r>
              <a:rPr lang="en-US" altLang="zh-CN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webapp</a:t>
            </a:r>
            <a:endParaRPr lang="zh-CN" altLang="en-US" sz="28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08BEF3-AE55-30A8-4445-C32798348479}"/>
              </a:ext>
            </a:extLst>
          </p:cNvPr>
          <p:cNvSpPr txBox="1"/>
          <p:nvPr/>
        </p:nvSpPr>
        <p:spPr>
          <a:xfrm>
            <a:off x="668692" y="1425222"/>
            <a:ext cx="10642775" cy="1899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复习一下 </a:t>
            </a:r>
            <a:r>
              <a:rPr lang="en-US" altLang="zh-CN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IDEA</a:t>
            </a: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 创建基于 </a:t>
            </a:r>
            <a:r>
              <a:rPr lang="en-US" altLang="zh-CN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 的 </a:t>
            </a:r>
            <a:r>
              <a:rPr lang="en-US" altLang="zh-CN" sz="1600" b="1" dirty="0">
                <a:solidFill>
                  <a:schemeClr val="bg1"/>
                </a:solidFill>
                <a:latin typeface="Helvetica Neue" panose="02000503000000020004" pitchFamily="2" charset="0"/>
              </a:rPr>
              <a:t>webapp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第一步：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IDEA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创建空工程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第二步：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IDEA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创建模块，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build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system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选择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，修改 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GroupId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第三步：在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main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目录下创建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webapp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目录，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webapp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目录下创建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WEB-INF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第四步：在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WEB-INF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目录下创建 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web.xml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43F376-50CB-CE76-2C45-D876A1E2E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356" y="3533413"/>
            <a:ext cx="44704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05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D08BEF3-AE55-30A8-4445-C32798348479}"/>
              </a:ext>
            </a:extLst>
          </p:cNvPr>
          <p:cNvSpPr txBox="1"/>
          <p:nvPr/>
        </p:nvSpPr>
        <p:spPr>
          <a:xfrm>
            <a:off x="668692" y="1425222"/>
            <a:ext cx="10642775" cy="1530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第五步：填写 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web.xml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，建议从其他地方复制，例如从 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TomcatRoot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-&gt; webapps -&gt; examples 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项目中复制，删除多余的内容，仅保留一个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和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servlet-mapping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作为后续参考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第六步：编辑 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pom.xml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，修改打包方式为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war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第七步：编辑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pom.xml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，引入 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javax.servlet-api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依赖，重新加载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Maven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593D201-65D8-2DE0-39EF-2C70F5210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3533413"/>
            <a:ext cx="5003800" cy="1371600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EA949D29-8879-94B4-A63C-0A9E69ABB894}"/>
              </a:ext>
            </a:extLst>
          </p:cNvPr>
          <p:cNvSpPr txBox="1">
            <a:spLocks/>
          </p:cNvSpPr>
          <p:nvPr/>
        </p:nvSpPr>
        <p:spPr>
          <a:xfrm>
            <a:off x="668692" y="701738"/>
            <a:ext cx="10405707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复习</a:t>
            </a:r>
            <a:r>
              <a:rPr lang="en-US" altLang="zh-CN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:</a:t>
            </a:r>
            <a:r>
              <a:rPr lang="zh-CN" altLang="en-US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IDEA</a:t>
            </a:r>
            <a:r>
              <a:rPr lang="zh-CN" altLang="en-US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 创建基于 </a:t>
            </a:r>
            <a:r>
              <a:rPr lang="en-US" altLang="zh-CN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 的 </a:t>
            </a:r>
            <a:r>
              <a:rPr lang="en-US" altLang="zh-CN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webapp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44689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D08BEF3-AE55-30A8-4445-C32798348479}"/>
              </a:ext>
            </a:extLst>
          </p:cNvPr>
          <p:cNvSpPr txBox="1"/>
          <p:nvPr/>
        </p:nvSpPr>
        <p:spPr>
          <a:xfrm>
            <a:off x="668692" y="1425222"/>
            <a:ext cx="10642775" cy="79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第八步：</a:t>
            </a:r>
            <a:r>
              <a:rPr lang="zh-CN" altLang="en-US" sz="16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在代码包路径下创建 </a:t>
            </a:r>
            <a:r>
              <a:rPr lang="en-US" altLang="zh-CN" sz="16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Servlet</a:t>
            </a:r>
            <a:r>
              <a:rPr lang="zh-CN" altLang="en-US" sz="16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类，例如 </a:t>
            </a:r>
            <a:r>
              <a:rPr lang="en-US" altLang="zh-CN" sz="1600" b="1" i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QueryRoomServlet</a:t>
            </a:r>
            <a:r>
              <a:rPr lang="zh-CN" altLang="en-US" sz="16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，实现 </a:t>
            </a:r>
            <a:r>
              <a:rPr lang="en-US" altLang="zh-CN" sz="16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Servlet</a:t>
            </a:r>
            <a:r>
              <a:rPr lang="zh-CN" altLang="en-US" sz="16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接口</a:t>
            </a:r>
            <a:endParaRPr lang="en-US" altLang="zh-CN" sz="16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第九步：编辑 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web.xml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，配置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和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servlet-mapping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FA2C925-3B7F-65D7-D63E-609F633EF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2497650"/>
            <a:ext cx="5190241" cy="18627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9373EC8-956B-93E6-7A5F-A059FB718FF9}"/>
              </a:ext>
            </a:extLst>
          </p:cNvPr>
          <p:cNvSpPr txBox="1"/>
          <p:nvPr/>
        </p:nvSpPr>
        <p:spPr>
          <a:xfrm>
            <a:off x="668692" y="4545591"/>
            <a:ext cx="10642775" cy="422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第十步：编辑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Configuration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，增加一个 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SmartTomcat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的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Configuration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endParaRPr lang="en-US" altLang="zh-CN" sz="16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D4972B84-2C4A-56FE-D9E3-B9D8BE7526A2}"/>
              </a:ext>
            </a:extLst>
          </p:cNvPr>
          <p:cNvSpPr txBox="1">
            <a:spLocks/>
          </p:cNvSpPr>
          <p:nvPr/>
        </p:nvSpPr>
        <p:spPr>
          <a:xfrm>
            <a:off x="668692" y="701738"/>
            <a:ext cx="10405707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复习</a:t>
            </a:r>
            <a:r>
              <a:rPr lang="en-US" altLang="zh-CN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:</a:t>
            </a:r>
            <a:r>
              <a:rPr lang="zh-CN" altLang="en-US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IDEA</a:t>
            </a:r>
            <a:r>
              <a:rPr lang="zh-CN" altLang="en-US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 创建基于 </a:t>
            </a:r>
            <a:r>
              <a:rPr lang="en-US" altLang="zh-CN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 的 </a:t>
            </a:r>
            <a:r>
              <a:rPr lang="en-US" altLang="zh-CN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webapp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73913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D08BEF3-AE55-30A8-4445-C32798348479}"/>
              </a:ext>
            </a:extLst>
          </p:cNvPr>
          <p:cNvSpPr txBox="1"/>
          <p:nvPr/>
        </p:nvSpPr>
        <p:spPr>
          <a:xfrm>
            <a:off x="668692" y="1425222"/>
            <a:ext cx="10642775" cy="1522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第十一步：配置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Configuration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Deployment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</a:t>
            </a:r>
            <a:r>
              <a:rPr lang="en-US" altLang="zh-CN" sz="16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irectory :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webapp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路径</a:t>
            </a:r>
            <a:endParaRPr lang="en-US" altLang="zh-CN" sz="16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Use</a:t>
            </a:r>
            <a:r>
              <a:rPr lang="zh-CN" altLang="en-US" sz="16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zh-CN" sz="1600" b="1" i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class</a:t>
            </a:r>
            <a:r>
              <a:rPr lang="en-US" altLang="zh-CN" sz="16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path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of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module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: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hotel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sz="16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Context</a:t>
            </a:r>
            <a:r>
              <a:rPr lang="zh-CN" altLang="en-US" sz="16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zh-CN" sz="16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path:</a:t>
            </a:r>
            <a:r>
              <a:rPr lang="zh-CN" altLang="en-US" sz="16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zh-CN" sz="16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/hotel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5320930-FD12-E2FA-4F60-8465FB28E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3249831"/>
            <a:ext cx="5675664" cy="187766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18E1BFF-10C0-1971-53A2-BFCFF650FB79}"/>
              </a:ext>
            </a:extLst>
          </p:cNvPr>
          <p:cNvSpPr txBox="1"/>
          <p:nvPr/>
        </p:nvSpPr>
        <p:spPr>
          <a:xfrm>
            <a:off x="668692" y="5429956"/>
            <a:ext cx="10642775" cy="79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第十二步：在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IDEA</a:t>
            </a:r>
            <a:r>
              <a:rPr lang="zh-CN" altLang="en-US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中启动 </a:t>
            </a:r>
            <a:r>
              <a:rPr lang="en-US" altLang="zh-CN" sz="16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Tomcat</a:t>
            </a:r>
          </a:p>
          <a:p>
            <a:pPr>
              <a:lnSpc>
                <a:spcPct val="150000"/>
              </a:lnSpc>
            </a:pPr>
            <a:r>
              <a:rPr lang="zh-CN" altLang="en-US" sz="16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第十三步：打开浏览器，在地址栏输入 </a:t>
            </a:r>
            <a:r>
              <a:rPr lang="en" altLang="zh-CN" sz="16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http://localhost:8080/hotel/</a:t>
            </a:r>
            <a:r>
              <a:rPr lang="en" altLang="zh-CN" sz="1600" b="1" i="0" dirty="0" err="1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queryRoom</a:t>
            </a:r>
            <a:endParaRPr lang="en-US" altLang="zh-CN" sz="16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CEFB343-D2EA-51F9-888F-56E73CFE992E}"/>
              </a:ext>
            </a:extLst>
          </p:cNvPr>
          <p:cNvSpPr txBox="1">
            <a:spLocks/>
          </p:cNvSpPr>
          <p:nvPr/>
        </p:nvSpPr>
        <p:spPr>
          <a:xfrm>
            <a:off x="668692" y="701738"/>
            <a:ext cx="10405707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复习</a:t>
            </a:r>
            <a:r>
              <a:rPr lang="en-US" altLang="zh-CN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:</a:t>
            </a:r>
            <a:r>
              <a:rPr lang="zh-CN" altLang="en-US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IDEA</a:t>
            </a:r>
            <a:r>
              <a:rPr lang="zh-CN" altLang="en-US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 创建基于 </a:t>
            </a:r>
            <a:r>
              <a:rPr lang="en-US" altLang="zh-CN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Maven</a:t>
            </a:r>
            <a:r>
              <a:rPr lang="zh-CN" altLang="en-US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 的 </a:t>
            </a:r>
            <a:r>
              <a:rPr lang="en-US" altLang="zh-CN" sz="2800" b="1" dirty="0">
                <a:solidFill>
                  <a:schemeClr val="bg1"/>
                </a:solidFill>
                <a:latin typeface="Helvetica Neue" panose="02000503000000020004" pitchFamily="2" charset="0"/>
              </a:rPr>
              <a:t>webapp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80469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什么是</a:t>
            </a:r>
            <a:r>
              <a:rPr lang="en-US" altLang="zh-CN" dirty="0"/>
              <a:t>Servlet</a:t>
            </a:r>
            <a:r>
              <a:rPr lang="zh-CN" altLang="en-US" dirty="0"/>
              <a:t>对象的生命周期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75E3D31-2816-90A2-4D84-426AC3841C4A}"/>
              </a:ext>
            </a:extLst>
          </p:cNvPr>
          <p:cNvSpPr txBox="1"/>
          <p:nvPr/>
        </p:nvSpPr>
        <p:spPr>
          <a:xfrm>
            <a:off x="668692" y="1828755"/>
            <a:ext cx="9649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对象的生命周期：</a:t>
            </a:r>
            <a:r>
              <a:rPr lang="zh-CN" altLang="en-US" sz="18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一个 </a:t>
            </a:r>
            <a:r>
              <a:rPr lang="en-US" altLang="zh-CN" sz="18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18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对象从出生（创建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</a:t>
            </a:r>
            <a:r>
              <a:rPr lang="zh-CN" altLang="en-US" sz="18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到死亡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（</a:t>
            </a:r>
            <a:r>
              <a:rPr lang="zh-CN" altLang="en-US" sz="18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销毁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）的整个过程。</a:t>
            </a:r>
            <a:r>
              <a:rPr lang="zh-CN" altLang="en-US" sz="18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B694FCB-2E5B-79CA-C69C-28FC315E5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345" y="2706473"/>
            <a:ext cx="7772400" cy="264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646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3" y="646338"/>
            <a:ext cx="9942864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600" dirty="0"/>
              <a:t>Servlet</a:t>
            </a:r>
            <a:r>
              <a:rPr lang="zh-CN" altLang="en-US" sz="3600" dirty="0"/>
              <a:t> 对象的 </a:t>
            </a:r>
            <a:r>
              <a:rPr lang="en-US" altLang="zh-CN" sz="3600" dirty="0"/>
              <a:t>service</a:t>
            </a:r>
            <a:r>
              <a:rPr lang="zh-CN" altLang="en-US" sz="3600" dirty="0"/>
              <a:t> 方法什么时候被调用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3080CE-C488-13FF-965E-F559ACBBFCFF}"/>
              </a:ext>
            </a:extLst>
          </p:cNvPr>
          <p:cNvSpPr txBox="1"/>
          <p:nvPr/>
        </p:nvSpPr>
        <p:spPr>
          <a:xfrm>
            <a:off x="668692" y="1237269"/>
            <a:ext cx="10642775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验证方法：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我们在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service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方法中打印内容，在浏览器中反复刷新请求，观察输出内容。</a:t>
            </a:r>
            <a:endParaRPr lang="en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F6BBD5-DBE3-1C0F-AAA0-8AE27EC0AFA8}"/>
              </a:ext>
            </a:extLst>
          </p:cNvPr>
          <p:cNvSpPr txBox="1"/>
          <p:nvPr/>
        </p:nvSpPr>
        <p:spPr>
          <a:xfrm>
            <a:off x="668692" y="2115971"/>
            <a:ext cx="10854616" cy="1285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结论：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service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方法在用户访问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对象的请求路径时被调用。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请求一次就会调用一次。</a:t>
            </a:r>
            <a:endParaRPr lang="en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38EA4F-4680-D68B-9FF4-9450F2366909}"/>
              </a:ext>
            </a:extLst>
          </p:cNvPr>
          <p:cNvSpPr txBox="1"/>
          <p:nvPr/>
        </p:nvSpPr>
        <p:spPr>
          <a:xfrm>
            <a:off x="668692" y="3456678"/>
            <a:ext cx="10854616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service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 方法的作用：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service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方法是用来提供服务的，执行业务逻辑的。例如“查询空房”，“预定房间”。</a:t>
            </a:r>
            <a:endParaRPr lang="en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197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Servlet</a:t>
            </a:r>
            <a:r>
              <a:rPr lang="zh-CN" altLang="en-US" dirty="0"/>
              <a:t> 对象什么时候实例化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C07B2F0-9B02-E395-2454-25AB8F7DC4EB}"/>
              </a:ext>
            </a:extLst>
          </p:cNvPr>
          <p:cNvSpPr txBox="1"/>
          <p:nvPr/>
        </p:nvSpPr>
        <p:spPr>
          <a:xfrm>
            <a:off x="668692" y="1425222"/>
            <a:ext cx="10642775" cy="129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i="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验证方式：为 </a:t>
            </a:r>
            <a:r>
              <a:rPr lang="en-US" altLang="zh-CN" b="1" i="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Servlet</a:t>
            </a:r>
            <a:r>
              <a:rPr lang="zh-CN" altLang="en-US" b="1" i="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类创建无参构造函数。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对象由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服务器利用反射机制调用无参构造函数创建。因此，无参构造函数被调用的时刻，就是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对象实例化的时刻。</a:t>
            </a:r>
            <a:endParaRPr lang="en-US" altLang="zh-CN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60437C-4C89-9674-48A6-54D7DA1142FE}"/>
              </a:ext>
            </a:extLst>
          </p:cNvPr>
          <p:cNvSpPr txBox="1"/>
          <p:nvPr/>
        </p:nvSpPr>
        <p:spPr>
          <a:xfrm>
            <a:off x="668689" y="2824275"/>
            <a:ext cx="10642775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 对象是在服务器启动时被实例化的么？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不是，默认情况下，服务器启动时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对象不会被实例化。</a:t>
            </a:r>
            <a:endParaRPr lang="en-US" altLang="zh-CN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3B31582-CF8F-FB0D-B622-F986AA6EF16D}"/>
              </a:ext>
            </a:extLst>
          </p:cNvPr>
          <p:cNvSpPr txBox="1"/>
          <p:nvPr/>
        </p:nvSpPr>
        <p:spPr>
          <a:xfrm>
            <a:off x="668689" y="3807830"/>
            <a:ext cx="10642775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 对象实例化的时机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用户第一次访问时，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对象被实例化。</a:t>
            </a:r>
            <a:endParaRPr lang="en-US" altLang="zh-CN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B0C35B-2765-12A7-8A90-9530EBB1D457}"/>
              </a:ext>
            </a:extLst>
          </p:cNvPr>
          <p:cNvSpPr txBox="1"/>
          <p:nvPr/>
        </p:nvSpPr>
        <p:spPr>
          <a:xfrm>
            <a:off x="668688" y="4791385"/>
            <a:ext cx="10642775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为什么默认不在服务启动时实例化 </a:t>
            </a: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 对象？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节约内存资源。坏处是首次调用时会比较慢</a:t>
            </a:r>
            <a:endParaRPr lang="en-US" altLang="zh-CN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3080CE-C488-13FF-965E-F559ACBBFCFF}"/>
              </a:ext>
            </a:extLst>
          </p:cNvPr>
          <p:cNvSpPr txBox="1"/>
          <p:nvPr/>
        </p:nvSpPr>
        <p:spPr>
          <a:xfrm>
            <a:off x="668687" y="5751087"/>
            <a:ext cx="10642775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有没有办法在服务器启动时就实例化 </a:t>
            </a: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 对象？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有，</a:t>
            </a:r>
            <a:r>
              <a:rPr lang="zh-CN" altLang="en-US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配置 </a:t>
            </a:r>
            <a:r>
              <a:rPr lang="en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load-on-startup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，数字越小优先级越高</a:t>
            </a:r>
            <a:endParaRPr lang="en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2D06FDD-8485-5597-6879-AE0F78C28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600" y="3934507"/>
            <a:ext cx="3951111" cy="265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92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Servlet</a:t>
            </a:r>
            <a:r>
              <a:rPr lang="zh-CN" altLang="en-US" dirty="0"/>
              <a:t> 对象创建了几个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3080CE-C488-13FF-965E-F559ACBBFCFF}"/>
              </a:ext>
            </a:extLst>
          </p:cNvPr>
          <p:cNvSpPr txBox="1"/>
          <p:nvPr/>
        </p:nvSpPr>
        <p:spPr>
          <a:xfrm>
            <a:off x="668692" y="1585658"/>
            <a:ext cx="10642775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验证方法：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我们在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service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方法中打印当前对象的地址，在浏览器中反复刷新请求，观察每次打印的对象地址。</a:t>
            </a:r>
            <a:endParaRPr lang="en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F6BBD5-DBE3-1C0F-AAA0-8AE27EC0AFA8}"/>
              </a:ext>
            </a:extLst>
          </p:cNvPr>
          <p:cNvSpPr txBox="1"/>
          <p:nvPr/>
        </p:nvSpPr>
        <p:spPr>
          <a:xfrm>
            <a:off x="668692" y="2729649"/>
            <a:ext cx="10854616" cy="170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结论：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每次请求，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service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方法被执行，打印的对象地址相同，证明每次执行请求的都是同一个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无参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构造方法只被调用了一次，也证明了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对象只创建了一个。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对象是单例（单实例）的，创建之后就保存下来，需要时取出来使用。</a:t>
            </a:r>
            <a:endParaRPr lang="en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095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3" y="646338"/>
            <a:ext cx="9942864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600" dirty="0"/>
              <a:t>Servlet</a:t>
            </a:r>
            <a:r>
              <a:rPr lang="zh-CN" altLang="en-US" sz="3600" dirty="0"/>
              <a:t> 对象的 </a:t>
            </a:r>
            <a:r>
              <a:rPr lang="en-US" altLang="zh-CN" sz="3600" dirty="0" err="1"/>
              <a:t>init</a:t>
            </a:r>
            <a:r>
              <a:rPr lang="zh-CN" altLang="en-US" sz="3600" dirty="0"/>
              <a:t> 方法什么时候被调用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3080CE-C488-13FF-965E-F559ACBBFCFF}"/>
              </a:ext>
            </a:extLst>
          </p:cNvPr>
          <p:cNvSpPr txBox="1"/>
          <p:nvPr/>
        </p:nvSpPr>
        <p:spPr>
          <a:xfrm>
            <a:off x="668692" y="1237269"/>
            <a:ext cx="10642775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验证方法：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我们在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init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方法中打印内容，在浏览器中反复刷新请求，观察输出内容。</a:t>
            </a:r>
            <a:endParaRPr lang="en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F6BBD5-DBE3-1C0F-AAA0-8AE27EC0AFA8}"/>
              </a:ext>
            </a:extLst>
          </p:cNvPr>
          <p:cNvSpPr txBox="1"/>
          <p:nvPr/>
        </p:nvSpPr>
        <p:spPr>
          <a:xfrm>
            <a:off x="668692" y="2115971"/>
            <a:ext cx="10854616" cy="1285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结论：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init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方法在无参构造方法执行完成后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(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即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对象被创建出来后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)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被调用。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init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方法只被调用一次。</a:t>
            </a:r>
            <a:endParaRPr lang="en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38EA4F-4680-D68B-9FF4-9450F2366909}"/>
              </a:ext>
            </a:extLst>
          </p:cNvPr>
          <p:cNvSpPr txBox="1"/>
          <p:nvPr/>
        </p:nvSpPr>
        <p:spPr>
          <a:xfrm>
            <a:off x="668692" y="3456678"/>
            <a:ext cx="10854616" cy="1285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err="1">
                <a:solidFill>
                  <a:schemeClr val="bg1"/>
                </a:solidFill>
                <a:latin typeface="Helvetica Neue" panose="02000503000000020004" pitchFamily="2" charset="0"/>
              </a:rPr>
              <a:t>init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方法的作用：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有些场景下，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对象被创建出来之后，需要执行初始化之后才能提供服务，例如连接数据库。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类比，人类出生之后，需要接受教育后（假设只接受一次教育），才能够工作。</a:t>
            </a:r>
            <a:endParaRPr lang="en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12E23B6-3553-D1C0-14B5-D5BBB7538ADC}"/>
              </a:ext>
            </a:extLst>
          </p:cNvPr>
          <p:cNvSpPr txBox="1"/>
          <p:nvPr/>
        </p:nvSpPr>
        <p:spPr>
          <a:xfrm>
            <a:off x="668692" y="4797385"/>
            <a:ext cx="11297530" cy="1709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为什么需要 </a:t>
            </a:r>
            <a:r>
              <a:rPr lang="en-US" altLang="zh-CN" b="1" dirty="0" err="1">
                <a:solidFill>
                  <a:schemeClr val="bg1"/>
                </a:solidFill>
                <a:latin typeface="Helvetica Neue" panose="02000503000000020004" pitchFamily="2" charset="0"/>
              </a:rPr>
              <a:t>init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 方法？为什么不在无参构造函数中编写初始化的逻辑</a:t>
            </a: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?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可以在无参构造函数中编写初始化逻辑，但不建议这么做。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不建议程序员创建无参构造函数，一旦误给无参构造函数加上参数，会导致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无法被实例化。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对象创建出来后在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init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方法中执行初始化，这种设计思想很常见，在多种框架，例如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Spring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中也会用到。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3018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3" y="646338"/>
            <a:ext cx="9942864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600" dirty="0"/>
              <a:t>Servlet</a:t>
            </a:r>
            <a:r>
              <a:rPr lang="zh-CN" altLang="en-US" sz="3600" dirty="0"/>
              <a:t> 对象的 </a:t>
            </a:r>
            <a:r>
              <a:rPr lang="en-US" altLang="zh-CN" sz="3600" dirty="0"/>
              <a:t>destroy</a:t>
            </a:r>
            <a:r>
              <a:rPr lang="zh-CN" altLang="en-US" sz="3600" dirty="0"/>
              <a:t> 方法什么时候被调用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3080CE-C488-13FF-965E-F559ACBBFCFF}"/>
              </a:ext>
            </a:extLst>
          </p:cNvPr>
          <p:cNvSpPr txBox="1"/>
          <p:nvPr/>
        </p:nvSpPr>
        <p:spPr>
          <a:xfrm>
            <a:off x="668692" y="1237269"/>
            <a:ext cx="10642775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验证方法：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我们在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destroy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方法中打印内容，观察输出内容。</a:t>
            </a:r>
            <a:endParaRPr lang="en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F6BBD5-DBE3-1C0F-AAA0-8AE27EC0AFA8}"/>
              </a:ext>
            </a:extLst>
          </p:cNvPr>
          <p:cNvSpPr txBox="1"/>
          <p:nvPr/>
        </p:nvSpPr>
        <p:spPr>
          <a:xfrm>
            <a:off x="668692" y="2115971"/>
            <a:ext cx="10854616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结论：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对象的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destroy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方法在服务关闭前被调用。</a:t>
            </a:r>
            <a:endParaRPr lang="en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38EA4F-4680-D68B-9FF4-9450F2366909}"/>
              </a:ext>
            </a:extLst>
          </p:cNvPr>
          <p:cNvSpPr txBox="1"/>
          <p:nvPr/>
        </p:nvSpPr>
        <p:spPr>
          <a:xfrm>
            <a:off x="668692" y="3039981"/>
            <a:ext cx="10854616" cy="129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destroy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方法的作用：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用于释放资源，例如关闭数据库连接。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类比，人类出生之后，需要接受教育后（假设只接受一次教育），才能够工作，临死前需要交待后事。</a:t>
            </a:r>
            <a:endParaRPr lang="en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12E23B6-3553-D1C0-14B5-D5BBB7538ADC}"/>
              </a:ext>
            </a:extLst>
          </p:cNvPr>
          <p:cNvSpPr txBox="1"/>
          <p:nvPr/>
        </p:nvSpPr>
        <p:spPr>
          <a:xfrm>
            <a:off x="668692" y="4379489"/>
            <a:ext cx="11297530" cy="1285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destroy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方法被调用时，</a:t>
            </a: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 对象是否已经被销毁？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destroy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方法被调用时，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对象还没有被销毁，因为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destroy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方法是实例方法，必须有对象存在才能被调用。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176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3239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Servlet</a:t>
            </a:r>
            <a:r>
              <a:rPr lang="zh-CN" altLang="en-US" dirty="0"/>
              <a:t> 对象生命周期总结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1BA1D5B-F7C5-6B9C-384F-FAF4E474DA77}"/>
              </a:ext>
            </a:extLst>
          </p:cNvPr>
          <p:cNvSpPr txBox="1"/>
          <p:nvPr/>
        </p:nvSpPr>
        <p:spPr>
          <a:xfrm>
            <a:off x="668692" y="4078407"/>
            <a:ext cx="10854616" cy="2116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 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对象默认在第一次请求到来时创建，如果配置了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load-on-startup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是在服务启动时创建。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init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方法在对象创建完成后被调用。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是单实例的，一个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类只创建一个对象，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init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方法只调用一次。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每次请求都会调用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service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接收到服务关闭指令，在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对象销毁前会调用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destroy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方法，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destroy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方法只执行一次。</a:t>
            </a:r>
            <a:endParaRPr lang="en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3985E28-4AA3-378F-4A1F-D918D09AD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1554704"/>
            <a:ext cx="10106377" cy="229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048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646338"/>
            <a:ext cx="10405707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600" dirty="0"/>
              <a:t>Servlet</a:t>
            </a:r>
            <a:r>
              <a:rPr lang="zh-CN" altLang="en-US" sz="3600" dirty="0"/>
              <a:t> 对象由谁来维护 </a:t>
            </a:r>
            <a:r>
              <a:rPr lang="en-US" altLang="zh-CN" sz="3600" dirty="0"/>
              <a:t>–</a:t>
            </a:r>
            <a:r>
              <a:rPr lang="zh-CN" altLang="en-US" sz="3600" dirty="0"/>
              <a:t> </a:t>
            </a:r>
            <a:r>
              <a:rPr lang="en-US" altLang="zh-CN" sz="3600" dirty="0"/>
              <a:t>web</a:t>
            </a:r>
            <a:r>
              <a:rPr lang="zh-CN" altLang="en-US" sz="3600" dirty="0"/>
              <a:t> 容器的概念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DAD1EA-0718-0443-56AF-6012EE0F944F}"/>
              </a:ext>
            </a:extLst>
          </p:cNvPr>
          <p:cNvSpPr txBox="1"/>
          <p:nvPr/>
        </p:nvSpPr>
        <p:spPr>
          <a:xfrm>
            <a:off x="668692" y="1338869"/>
            <a:ext cx="10642775" cy="170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 对象由谁来维护？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显然不是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webapp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的开发者，因为我们自始至终都没有自己创建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对象，没有调用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对象的方法。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对象是由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服务器维护的，我们课程中使用的是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Tomcat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，我们又将其称为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容器。</a:t>
            </a:r>
            <a:endParaRPr lang="en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6F1B70-8CB8-4D58-B2A4-9E52FD579B30}"/>
              </a:ext>
            </a:extLst>
          </p:cNvPr>
          <p:cNvSpPr txBox="1"/>
          <p:nvPr/>
        </p:nvSpPr>
        <p:spPr>
          <a:xfrm>
            <a:off x="668692" y="3099171"/>
            <a:ext cx="10642775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什么是容器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容器（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Container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），用于容纳物品的以壳体为主的装置。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5A20D7-924B-F1A9-7B6B-15F59614006C}"/>
              </a:ext>
            </a:extLst>
          </p:cNvPr>
          <p:cNvSpPr txBox="1"/>
          <p:nvPr/>
        </p:nvSpPr>
        <p:spPr>
          <a:xfrm>
            <a:off x="668692" y="4037325"/>
            <a:ext cx="10642775" cy="2531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什么是 </a:t>
            </a: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 容器</a:t>
            </a:r>
            <a:endParaRPr lang="en-US" altLang="zh-CN" b="1" dirty="0">
              <a:solidFill>
                <a:schemeClr val="bg1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容器（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Container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），用于存放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对象，管理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对象的整个生命周期。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容器负责：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在合适的时机创建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对象，并执行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对象的 </a:t>
            </a:r>
            <a:r>
              <a:rPr lang="en-US" altLang="zh-CN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init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方法初始化对象。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调用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对象的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service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方法响应用户请求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在服务关闭前销毁对象，并在销毁前调用对象的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destroy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方法。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310267"/>
      </p:ext>
    </p:extLst>
  </p:cSld>
  <p:clrMapOvr>
    <a:masterClrMapping/>
  </p:clrMapOvr>
</p:sld>
</file>

<file path=ppt/theme/theme1.xml><?xml version="1.0" encoding="utf-8"?>
<a:theme xmlns:a="http://schemas.openxmlformats.org/drawingml/2006/main" name="饥人谷2020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00"/>
      </a:hlink>
      <a:folHlink>
        <a:srgbClr val="FFFF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饥人谷2020" id="{9EA43CC4-F49E-4AFB-A232-7BBA7D9D7755}" vid="{63A6EB6F-AC6E-43AB-B8C5-02C8C8D42495}"/>
    </a:ext>
  </a:extLst>
</a:theme>
</file>

<file path=ppt/theme/theme2.xml><?xml version="1.0" encoding="utf-8"?>
<a:theme xmlns:a="http://schemas.openxmlformats.org/drawingml/2006/main" name="饥人谷2019浅色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0000"/>
      </a:hlink>
      <a:folHlink>
        <a:srgbClr val="FF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vaScript 入门.pptx" id="{B812C777-9E68-4F43-B758-EBA532ADB484}" vid="{D326234F-4341-4D06-8CC1-2D740558C2C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饥人谷2020</Template>
  <TotalTime>33740</TotalTime>
  <Words>1281</Words>
  <Application>Microsoft Macintosh PowerPoint</Application>
  <PresentationFormat>宽屏</PresentationFormat>
  <Paragraphs>100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等线</vt:lpstr>
      <vt:lpstr>思源黑体</vt:lpstr>
      <vt:lpstr>Microsoft YaHei</vt:lpstr>
      <vt:lpstr>Microsoft YaHei</vt:lpstr>
      <vt:lpstr>Arial</vt:lpstr>
      <vt:lpstr>Calibri</vt:lpstr>
      <vt:lpstr>Consolas</vt:lpstr>
      <vt:lpstr>Helvetica Neue</vt:lpstr>
      <vt:lpstr>Wingdings</vt:lpstr>
      <vt:lpstr>饥人谷2020</vt:lpstr>
      <vt:lpstr>饥人谷2019浅色主题​​</vt:lpstr>
      <vt:lpstr>Servlet对象的生命周期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蓝色PPT</dc:title>
  <dc:creator>方 方</dc:creator>
  <cp:lastModifiedBy>vincent</cp:lastModifiedBy>
  <cp:revision>327</cp:revision>
  <dcterms:created xsi:type="dcterms:W3CDTF">2021-12-14T08:53:33Z</dcterms:created>
  <dcterms:modified xsi:type="dcterms:W3CDTF">2023-04-24T18:52:08Z</dcterms:modified>
</cp:coreProperties>
</file>