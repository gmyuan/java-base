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6"/>
  </p:notesMasterIdLst>
  <p:sldIdLst>
    <p:sldId id="256" r:id="rId3"/>
    <p:sldId id="331" r:id="rId4"/>
    <p:sldId id="414" r:id="rId5"/>
    <p:sldId id="415" r:id="rId6"/>
    <p:sldId id="416" r:id="rId7"/>
    <p:sldId id="417" r:id="rId8"/>
    <p:sldId id="423" r:id="rId9"/>
    <p:sldId id="418" r:id="rId10"/>
    <p:sldId id="420" r:id="rId11"/>
    <p:sldId id="421" r:id="rId12"/>
    <p:sldId id="425" r:id="rId13"/>
    <p:sldId id="426" r:id="rId14"/>
    <p:sldId id="42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34" autoAdjust="0"/>
    <p:restoredTop sz="96062"/>
  </p:normalViewPr>
  <p:slideViewPr>
    <p:cSldViewPr snapToGrid="0">
      <p:cViewPr>
        <p:scale>
          <a:sx n="113" d="100"/>
          <a:sy n="113" d="100"/>
        </p:scale>
        <p:origin x="208" y="296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5/1/23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协议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在本节课中，你将学到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46038" y="1278854"/>
            <a:ext cx="7140473" cy="372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请求方式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简单代码实现浏览器发送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请求与响应的格式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状态码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的区别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如何选择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什么是</a:t>
            </a:r>
            <a:r>
              <a:rPr lang="en-US" altLang="zh-CN" dirty="0"/>
              <a:t>HTTP</a:t>
            </a:r>
            <a:r>
              <a:rPr lang="zh-CN" altLang="en-US" dirty="0"/>
              <a:t>协议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0642775" cy="170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协议，在计算机领域指通信双方为了实现通信而设计的约定或通话规则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协议，是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W3C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制定的超文本传输协议，是因特网上应用最广泛的网络传输协议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HTTP</a:t>
            </a:r>
            <a:r>
              <a:rPr lang="zh-CN" altLang="en-US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协议包括客户端和服务端两个实体，客户端发送请求给服务端，服务端返回响应给客户端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中，数据称为资源（可以是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HTML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文档、图片、普通文本等），资源通过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进行定位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4C8E04-B088-0EF4-11F5-73F5C934AC83}"/>
              </a:ext>
            </a:extLst>
          </p:cNvPr>
          <p:cNvSpPr/>
          <p:nvPr/>
        </p:nvSpPr>
        <p:spPr>
          <a:xfrm>
            <a:off x="2102220" y="3487877"/>
            <a:ext cx="1704622" cy="1049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客户端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（</a:t>
            </a:r>
            <a:r>
              <a:rPr kumimoji="1" lang="en-US" altLang="zh-CN" b="1" dirty="0"/>
              <a:t>Client</a:t>
            </a:r>
            <a:r>
              <a:rPr kumimoji="1" lang="zh-CN" altLang="en-US" b="1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F9C06-EC5D-E978-A3F6-D444FFFCBADA}"/>
              </a:ext>
            </a:extLst>
          </p:cNvPr>
          <p:cNvSpPr/>
          <p:nvPr/>
        </p:nvSpPr>
        <p:spPr>
          <a:xfrm>
            <a:off x="7046756" y="3482664"/>
            <a:ext cx="1704622" cy="1049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服务端</a:t>
            </a:r>
            <a:endParaRPr kumimoji="1" lang="en-US" altLang="zh-CN" b="1" dirty="0"/>
          </a:p>
          <a:p>
            <a:pPr algn="ctr"/>
            <a:r>
              <a:rPr kumimoji="1" lang="zh-CN" altLang="en-US" b="1" dirty="0"/>
              <a:t>（</a:t>
            </a:r>
            <a:r>
              <a:rPr kumimoji="1" lang="en-US" altLang="zh-CN" b="1" dirty="0"/>
              <a:t>Server</a:t>
            </a:r>
            <a:r>
              <a:rPr kumimoji="1" lang="zh-CN" altLang="en-US" b="1" dirty="0"/>
              <a:t>）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B0EC96F-6AD2-F0EF-C395-D222434A3E33}"/>
              </a:ext>
            </a:extLst>
          </p:cNvPr>
          <p:cNvCxnSpPr/>
          <p:nvPr/>
        </p:nvCxnSpPr>
        <p:spPr>
          <a:xfrm>
            <a:off x="4066487" y="3736232"/>
            <a:ext cx="2686755" cy="0"/>
          </a:xfrm>
          <a:prstGeom prst="straightConnector1">
            <a:avLst/>
          </a:prstGeom>
          <a:ln w="19050">
            <a:solidFill>
              <a:srgbClr val="FFE79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9A7BBDF-7C06-AFE0-9FF0-FB30E1F0B676}"/>
              </a:ext>
            </a:extLst>
          </p:cNvPr>
          <p:cNvCxnSpPr>
            <a:cxnSpLocks/>
          </p:cNvCxnSpPr>
          <p:nvPr/>
        </p:nvCxnSpPr>
        <p:spPr>
          <a:xfrm rot="10800000">
            <a:off x="4066486" y="4276090"/>
            <a:ext cx="2686755" cy="0"/>
          </a:xfrm>
          <a:prstGeom prst="straightConnector1">
            <a:avLst/>
          </a:prstGeom>
          <a:ln w="19050">
            <a:solidFill>
              <a:srgbClr val="FFE79A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777962C-B61B-111C-6245-1EC316D631A0}"/>
              </a:ext>
            </a:extLst>
          </p:cNvPr>
          <p:cNvSpPr txBox="1"/>
          <p:nvPr/>
        </p:nvSpPr>
        <p:spPr>
          <a:xfrm>
            <a:off x="4530654" y="3234947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请求（</a:t>
            </a:r>
            <a:r>
              <a:rPr kumimoji="1" lang="en-US" altLang="zh-CN" b="1" dirty="0">
                <a:solidFill>
                  <a:schemeClr val="bg1"/>
                </a:solidFill>
              </a:rPr>
              <a:t>request</a:t>
            </a:r>
            <a:r>
              <a:rPr kumimoji="1"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FF3859-48FB-DCAD-9CF8-44AA0DE1A30F}"/>
              </a:ext>
            </a:extLst>
          </p:cNvPr>
          <p:cNvSpPr txBox="1"/>
          <p:nvPr/>
        </p:nvSpPr>
        <p:spPr>
          <a:xfrm>
            <a:off x="4431031" y="4385810"/>
            <a:ext cx="2050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响应（</a:t>
            </a:r>
            <a:r>
              <a:rPr kumimoji="1" lang="en-US" altLang="zh-CN" b="1" dirty="0">
                <a:solidFill>
                  <a:schemeClr val="bg1"/>
                </a:solidFill>
              </a:rPr>
              <a:t>response</a:t>
            </a:r>
            <a:r>
              <a:rPr kumimoji="1"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128DCB8-6E47-54DE-E058-52EB989B2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425" y="5279734"/>
            <a:ext cx="647328" cy="80601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40A9485-065D-3359-F0F0-DE783F065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61" y="5249660"/>
            <a:ext cx="647328" cy="8422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B96BDA8-0A62-EA6B-487E-FE029AA1D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097" y="5261628"/>
            <a:ext cx="638192" cy="84222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E552842-13D1-51C1-9489-05A3D5273AA4}"/>
              </a:ext>
            </a:extLst>
          </p:cNvPr>
          <p:cNvSpPr/>
          <p:nvPr/>
        </p:nvSpPr>
        <p:spPr>
          <a:xfrm>
            <a:off x="4657887" y="5170015"/>
            <a:ext cx="2292623" cy="1061155"/>
          </a:xfrm>
          <a:custGeom>
            <a:avLst/>
            <a:gdLst>
              <a:gd name="connsiteX0" fmla="*/ 0 w 2292623"/>
              <a:gd name="connsiteY0" fmla="*/ 0 h 1061155"/>
              <a:gd name="connsiteX1" fmla="*/ 550230 w 2292623"/>
              <a:gd name="connsiteY1" fmla="*/ 0 h 1061155"/>
              <a:gd name="connsiteX2" fmla="*/ 1054607 w 2292623"/>
              <a:gd name="connsiteY2" fmla="*/ 0 h 1061155"/>
              <a:gd name="connsiteX3" fmla="*/ 1673615 w 2292623"/>
              <a:gd name="connsiteY3" fmla="*/ 0 h 1061155"/>
              <a:gd name="connsiteX4" fmla="*/ 2292623 w 2292623"/>
              <a:gd name="connsiteY4" fmla="*/ 0 h 1061155"/>
              <a:gd name="connsiteX5" fmla="*/ 2292623 w 2292623"/>
              <a:gd name="connsiteY5" fmla="*/ 519966 h 1061155"/>
              <a:gd name="connsiteX6" fmla="*/ 2292623 w 2292623"/>
              <a:gd name="connsiteY6" fmla="*/ 1061155 h 1061155"/>
              <a:gd name="connsiteX7" fmla="*/ 1719467 w 2292623"/>
              <a:gd name="connsiteY7" fmla="*/ 1061155 h 1061155"/>
              <a:gd name="connsiteX8" fmla="*/ 1100459 w 2292623"/>
              <a:gd name="connsiteY8" fmla="*/ 1061155 h 1061155"/>
              <a:gd name="connsiteX9" fmla="*/ 596082 w 2292623"/>
              <a:gd name="connsiteY9" fmla="*/ 1061155 h 1061155"/>
              <a:gd name="connsiteX10" fmla="*/ 0 w 2292623"/>
              <a:gd name="connsiteY10" fmla="*/ 1061155 h 1061155"/>
              <a:gd name="connsiteX11" fmla="*/ 0 w 2292623"/>
              <a:gd name="connsiteY11" fmla="*/ 530578 h 1061155"/>
              <a:gd name="connsiteX12" fmla="*/ 0 w 2292623"/>
              <a:gd name="connsiteY12" fmla="*/ 0 h 106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92623" h="1061155" extrusionOk="0">
                <a:moveTo>
                  <a:pt x="0" y="0"/>
                </a:moveTo>
                <a:cubicBezTo>
                  <a:pt x="259631" y="-16998"/>
                  <a:pt x="439917" y="18743"/>
                  <a:pt x="550230" y="0"/>
                </a:cubicBezTo>
                <a:cubicBezTo>
                  <a:pt x="660543" y="-18743"/>
                  <a:pt x="918804" y="6176"/>
                  <a:pt x="1054607" y="0"/>
                </a:cubicBezTo>
                <a:cubicBezTo>
                  <a:pt x="1190410" y="-6176"/>
                  <a:pt x="1512088" y="23425"/>
                  <a:pt x="1673615" y="0"/>
                </a:cubicBezTo>
                <a:cubicBezTo>
                  <a:pt x="1835142" y="-23425"/>
                  <a:pt x="1993135" y="67636"/>
                  <a:pt x="2292623" y="0"/>
                </a:cubicBezTo>
                <a:cubicBezTo>
                  <a:pt x="2342332" y="209746"/>
                  <a:pt x="2242446" y="265126"/>
                  <a:pt x="2292623" y="519966"/>
                </a:cubicBezTo>
                <a:cubicBezTo>
                  <a:pt x="2342800" y="774806"/>
                  <a:pt x="2262584" y="796933"/>
                  <a:pt x="2292623" y="1061155"/>
                </a:cubicBezTo>
                <a:cubicBezTo>
                  <a:pt x="2074621" y="1125416"/>
                  <a:pt x="1868539" y="1020738"/>
                  <a:pt x="1719467" y="1061155"/>
                </a:cubicBezTo>
                <a:cubicBezTo>
                  <a:pt x="1570395" y="1101572"/>
                  <a:pt x="1314922" y="988391"/>
                  <a:pt x="1100459" y="1061155"/>
                </a:cubicBezTo>
                <a:cubicBezTo>
                  <a:pt x="885996" y="1133919"/>
                  <a:pt x="825962" y="1014841"/>
                  <a:pt x="596082" y="1061155"/>
                </a:cubicBezTo>
                <a:cubicBezTo>
                  <a:pt x="366202" y="1107469"/>
                  <a:pt x="139809" y="989738"/>
                  <a:pt x="0" y="1061155"/>
                </a:cubicBezTo>
                <a:cubicBezTo>
                  <a:pt x="-17408" y="909574"/>
                  <a:pt x="40027" y="743242"/>
                  <a:pt x="0" y="530578"/>
                </a:cubicBezTo>
                <a:cubicBezTo>
                  <a:pt x="-40027" y="317914"/>
                  <a:pt x="13020" y="201114"/>
                  <a:pt x="0" y="0"/>
                </a:cubicBezTo>
                <a:close/>
              </a:path>
            </a:pathLst>
          </a:custGeom>
          <a:noFill/>
          <a:ln w="25400" cap="rnd">
            <a:solidFill>
              <a:schemeClr val="bg1"/>
            </a:solidFill>
            <a:prstDash val="sysDot"/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7050C7-EA98-7C9B-6C0D-26527528B498}"/>
              </a:ext>
            </a:extLst>
          </p:cNvPr>
          <p:cNvSpPr txBox="1"/>
          <p:nvPr/>
        </p:nvSpPr>
        <p:spPr>
          <a:xfrm>
            <a:off x="7060048" y="549807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资源（</a:t>
            </a:r>
            <a:r>
              <a:rPr kumimoji="1" lang="en-US" altLang="zh-CN" b="1" dirty="0">
                <a:solidFill>
                  <a:schemeClr val="bg1"/>
                </a:solidFill>
              </a:rPr>
              <a:t>resource</a:t>
            </a:r>
            <a:r>
              <a:rPr kumimoji="1"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2BEC44-F2A8-E8DA-4012-B479D297AE9E}"/>
              </a:ext>
            </a:extLst>
          </p:cNvPr>
          <p:cNvSpPr txBox="1"/>
          <p:nvPr/>
        </p:nvSpPr>
        <p:spPr>
          <a:xfrm>
            <a:off x="2134546" y="470305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例如：浏览器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549FEB-A93B-6088-E493-4CA46AD0A683}"/>
              </a:ext>
            </a:extLst>
          </p:cNvPr>
          <p:cNvSpPr txBox="1"/>
          <p:nvPr/>
        </p:nvSpPr>
        <p:spPr>
          <a:xfrm>
            <a:off x="6986324" y="4703056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</a:rPr>
              <a:t>例如：</a:t>
            </a:r>
            <a:r>
              <a:rPr kumimoji="1" lang="en-US" altLang="zh-CN" b="1" dirty="0">
                <a:solidFill>
                  <a:schemeClr val="bg1"/>
                </a:solidFill>
              </a:rPr>
              <a:t>web</a:t>
            </a:r>
            <a:r>
              <a:rPr kumimoji="1" lang="zh-CN" altLang="en-US" b="1" dirty="0">
                <a:solidFill>
                  <a:schemeClr val="bg1"/>
                </a:solidFill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什么是</a:t>
            </a:r>
            <a:r>
              <a:rPr lang="en-US" altLang="zh-CN" dirty="0"/>
              <a:t>URL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92" y="1320369"/>
            <a:ext cx="10642775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Uniform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Resource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Locator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），统一资源定位符。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是因特网上资源的地址，通过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可以在因特网上定位到一个唯一的资源。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由“协议”、“主机名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包含端口号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”、“资源路径”三部分组成。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077FAE-E0DA-5788-B616-28CE1CD723AD}"/>
              </a:ext>
            </a:extLst>
          </p:cNvPr>
          <p:cNvSpPr txBox="1"/>
          <p:nvPr/>
        </p:nvSpPr>
        <p:spPr>
          <a:xfrm>
            <a:off x="1346023" y="3071564"/>
            <a:ext cx="10642775" cy="57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http://</a:t>
            </a:r>
            <a:r>
              <a:rPr lang="en-US" altLang="zh-C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 Neue" panose="02000503000000020004" pitchFamily="2" charset="0"/>
              </a:rPr>
              <a:t>www.baidu.com</a:t>
            </a:r>
            <a:r>
              <a:rPr lang="en-US" altLang="zh-CN" sz="24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/</a:t>
            </a:r>
            <a:r>
              <a:rPr lang="en-US" altLang="zh-CN" sz="2400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index.html</a:t>
            </a:r>
            <a:endParaRPr lang="en-US" altLang="zh-CN" sz="2400" b="1" dirty="0">
              <a:solidFill>
                <a:schemeClr val="accent5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F68984-CD36-7CE3-E14E-4E2FA41A245F}"/>
              </a:ext>
            </a:extLst>
          </p:cNvPr>
          <p:cNvSpPr txBox="1"/>
          <p:nvPr/>
        </p:nvSpPr>
        <p:spPr>
          <a:xfrm>
            <a:off x="1373218" y="5346400"/>
            <a:ext cx="10642775" cy="58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Helvetica Neue" panose="02000503000000020004" pitchFamily="2" charset="0"/>
              </a:rPr>
              <a:t>http://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Menlo" panose="020B0609030804020204" pitchFamily="49" charset="0"/>
              </a:rPr>
              <a:t>157.148.69.90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Helvetica Neue" panose="02000503000000020004" pitchFamily="2" charset="0"/>
              </a:rPr>
              <a:t>:8080</a:t>
            </a:r>
            <a:r>
              <a:rPr lang="en-US" altLang="zh-CN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 Neue" panose="02000503000000020004" pitchFamily="2" charset="0"/>
              </a:rPr>
              <a:t>/hotel/</a:t>
            </a:r>
            <a:r>
              <a:rPr lang="en-US" altLang="zh-CN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Helvetica Neue" panose="02000503000000020004" pitchFamily="2" charset="0"/>
              </a:rPr>
              <a:t>queryRoom</a:t>
            </a:r>
            <a:endParaRPr lang="en-US" altLang="zh-CN" sz="2400" b="1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0D82E5-D962-D7DF-BCED-77941A237027}"/>
              </a:ext>
            </a:extLst>
          </p:cNvPr>
          <p:cNvSpPr txBox="1"/>
          <p:nvPr/>
        </p:nvSpPr>
        <p:spPr>
          <a:xfrm>
            <a:off x="1346023" y="4266857"/>
            <a:ext cx="855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Helvetica Neue" panose="02000503000000020004" pitchFamily="2" charset="0"/>
              </a:rPr>
              <a:t>协议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E60470-9975-E2F5-A216-644C41DF64DE}"/>
              </a:ext>
            </a:extLst>
          </p:cNvPr>
          <p:cNvSpPr txBox="1"/>
          <p:nvPr/>
        </p:nvSpPr>
        <p:spPr>
          <a:xfrm>
            <a:off x="3551678" y="4233922"/>
            <a:ext cx="855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主机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2DA492-E7FC-C4A5-D515-E4099B1E8C72}"/>
              </a:ext>
            </a:extLst>
          </p:cNvPr>
          <p:cNvSpPr txBox="1"/>
          <p:nvPr/>
        </p:nvSpPr>
        <p:spPr>
          <a:xfrm>
            <a:off x="5363545" y="4227123"/>
            <a:ext cx="1871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资源路径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33DFFED2-632E-FEB6-FE4C-C72EB09D60F7}"/>
              </a:ext>
            </a:extLst>
          </p:cNvPr>
          <p:cNvSpPr/>
          <p:nvPr/>
        </p:nvSpPr>
        <p:spPr>
          <a:xfrm rot="5400000">
            <a:off x="1635140" y="3931358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B2B89A55-E083-71E1-178C-C8985C0C4612}"/>
              </a:ext>
            </a:extLst>
          </p:cNvPr>
          <p:cNvSpPr/>
          <p:nvPr/>
        </p:nvSpPr>
        <p:spPr>
          <a:xfrm rot="16200000">
            <a:off x="1643100" y="4804425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36C3C9C0-80C0-7316-FC18-A82582FB72CA}"/>
              </a:ext>
            </a:extLst>
          </p:cNvPr>
          <p:cNvSpPr/>
          <p:nvPr/>
        </p:nvSpPr>
        <p:spPr>
          <a:xfrm rot="14941645">
            <a:off x="6544363" y="4736546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5B0165F3-65EE-4862-7CB3-A84FF08F140D}"/>
              </a:ext>
            </a:extLst>
          </p:cNvPr>
          <p:cNvSpPr/>
          <p:nvPr/>
        </p:nvSpPr>
        <p:spPr>
          <a:xfrm rot="16200000">
            <a:off x="3824384" y="4803392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1F763B74-0C74-4B76-1BBE-01E69EB845EB}"/>
              </a:ext>
            </a:extLst>
          </p:cNvPr>
          <p:cNvSpPr/>
          <p:nvPr/>
        </p:nvSpPr>
        <p:spPr>
          <a:xfrm rot="3743903">
            <a:off x="3431599" y="3938334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右箭头 27">
            <a:extLst>
              <a:ext uri="{FF2B5EF4-FFF2-40B4-BE49-F238E27FC236}">
                <a16:creationId xmlns:a16="http://schemas.microsoft.com/office/drawing/2014/main" id="{E5ABFD45-6A81-A590-D177-211992839213}"/>
              </a:ext>
            </a:extLst>
          </p:cNvPr>
          <p:cNvSpPr/>
          <p:nvPr/>
        </p:nvSpPr>
        <p:spPr>
          <a:xfrm rot="3862753">
            <a:off x="5456216" y="3917404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BC9CA1CB-8326-2FCD-8DDB-786087E3461F}"/>
              </a:ext>
            </a:extLst>
          </p:cNvPr>
          <p:cNvSpPr/>
          <p:nvPr/>
        </p:nvSpPr>
        <p:spPr>
          <a:xfrm rot="5400000">
            <a:off x="3888158" y="3787873"/>
            <a:ext cx="182350" cy="3117055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左大括号 30">
            <a:extLst>
              <a:ext uri="{FF2B5EF4-FFF2-40B4-BE49-F238E27FC236}">
                <a16:creationId xmlns:a16="http://schemas.microsoft.com/office/drawing/2014/main" id="{71579B28-96B6-D55B-EADD-59F221E420F7}"/>
              </a:ext>
            </a:extLst>
          </p:cNvPr>
          <p:cNvSpPr/>
          <p:nvPr/>
        </p:nvSpPr>
        <p:spPr>
          <a:xfrm rot="5400000">
            <a:off x="6772763" y="4093365"/>
            <a:ext cx="182352" cy="2505544"/>
          </a:xfrm>
          <a:prstGeom prst="leftBrac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40542F02-32B4-D5C5-DABB-0384081E5FE0}"/>
              </a:ext>
            </a:extLst>
          </p:cNvPr>
          <p:cNvSpPr/>
          <p:nvPr/>
        </p:nvSpPr>
        <p:spPr>
          <a:xfrm rot="5400000">
            <a:off x="1706874" y="5018462"/>
            <a:ext cx="182351" cy="648522"/>
          </a:xfrm>
          <a:prstGeom prst="leftBrac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93ECBE90-0B7A-C75D-505E-796B8CC82DBF}"/>
              </a:ext>
            </a:extLst>
          </p:cNvPr>
          <p:cNvSpPr/>
          <p:nvPr/>
        </p:nvSpPr>
        <p:spPr>
          <a:xfrm rot="16200000">
            <a:off x="5433767" y="2937292"/>
            <a:ext cx="168973" cy="1561893"/>
          </a:xfrm>
          <a:prstGeom prst="leftBrac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A8A5DA8-F5A0-D809-680D-0F8BD347F300}"/>
              </a:ext>
            </a:extLst>
          </p:cNvPr>
          <p:cNvSpPr/>
          <p:nvPr/>
        </p:nvSpPr>
        <p:spPr>
          <a:xfrm rot="16200000">
            <a:off x="3373117" y="2560537"/>
            <a:ext cx="182351" cy="2328309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9245EEC8-6935-FD77-4F7E-E0DE0DE8738A}"/>
              </a:ext>
            </a:extLst>
          </p:cNvPr>
          <p:cNvSpPr/>
          <p:nvPr/>
        </p:nvSpPr>
        <p:spPr>
          <a:xfrm rot="16200000">
            <a:off x="1682503" y="3408496"/>
            <a:ext cx="182351" cy="648522"/>
          </a:xfrm>
          <a:prstGeom prst="leftBrac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13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HTTP</a:t>
            </a:r>
            <a:r>
              <a:rPr lang="zh-CN" altLang="en-US" dirty="0"/>
              <a:t>请求方式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B130C8-D043-39E0-9DA3-2AB892A63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387840"/>
            <a:ext cx="7809264" cy="40016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协议定义了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9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种请求方式，来表明对资源不同的操作方式，最常用的是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用于获取数据（例如查询酒店剩余空房），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用于提交数据（例如下单预定房间）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92BFA7-75EA-698C-813B-33F78A07A012}"/>
              </a:ext>
            </a:extLst>
          </p:cNvPr>
          <p:cNvSpPr/>
          <p:nvPr/>
        </p:nvSpPr>
        <p:spPr>
          <a:xfrm>
            <a:off x="555804" y="2731911"/>
            <a:ext cx="8114063" cy="3612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759F87-C70C-28D7-1531-FD20964662AC}"/>
              </a:ext>
            </a:extLst>
          </p:cNvPr>
          <p:cNvSpPr/>
          <p:nvPr/>
        </p:nvSpPr>
        <p:spPr>
          <a:xfrm>
            <a:off x="555803" y="3459136"/>
            <a:ext cx="8114063" cy="570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F68FC69F-C8C3-4A14-D00E-20F6BC765EC4}"/>
              </a:ext>
            </a:extLst>
          </p:cNvPr>
          <p:cNvSpPr/>
          <p:nvPr/>
        </p:nvSpPr>
        <p:spPr>
          <a:xfrm rot="1800000">
            <a:off x="8832405" y="2971142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27A5FBD8-BEA7-27C5-8E24-0D3F92B2198F}"/>
              </a:ext>
            </a:extLst>
          </p:cNvPr>
          <p:cNvSpPr/>
          <p:nvPr/>
        </p:nvSpPr>
        <p:spPr>
          <a:xfrm rot="19768875">
            <a:off x="8832797" y="3488178"/>
            <a:ext cx="309899" cy="281632"/>
          </a:xfrm>
          <a:prstGeom prst="rightArrow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448B3E-B499-3C24-62D7-88AD4DE46571}"/>
              </a:ext>
            </a:extLst>
          </p:cNvPr>
          <p:cNvSpPr txBox="1"/>
          <p:nvPr/>
        </p:nvSpPr>
        <p:spPr>
          <a:xfrm>
            <a:off x="9304842" y="2947914"/>
            <a:ext cx="2031325" cy="881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solidFill>
                  <a:schemeClr val="bg1"/>
                </a:solidFill>
              </a:rPr>
              <a:t>最常用的请求方式</a:t>
            </a:r>
            <a:endParaRPr kumimoji="1" lang="en-US" altLang="zh-CN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b="1" dirty="0">
                <a:solidFill>
                  <a:schemeClr val="bg1"/>
                </a:solidFill>
              </a:rPr>
              <a:t>GET</a:t>
            </a:r>
            <a:r>
              <a:rPr kumimoji="1" lang="zh-CN" altLang="en-US" b="1" dirty="0">
                <a:solidFill>
                  <a:schemeClr val="bg1"/>
                </a:solidFill>
              </a:rPr>
              <a:t> 和 </a:t>
            </a:r>
            <a:r>
              <a:rPr kumimoji="1" lang="en-US" altLang="zh-CN" b="1" dirty="0">
                <a:solidFill>
                  <a:schemeClr val="bg1"/>
                </a:solidFill>
              </a:rPr>
              <a:t>POST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48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b="1" dirty="0">
                <a:latin typeface="Helvetica Neue" panose="02000503000000020004" pitchFamily="2" charset="0"/>
              </a:rPr>
              <a:t>简单代码实现浏览器发送</a:t>
            </a:r>
            <a:r>
              <a:rPr lang="en-US" altLang="zh-CN" sz="3600" b="1" dirty="0">
                <a:latin typeface="Helvetica Neue" panose="02000503000000020004" pitchFamily="2" charset="0"/>
              </a:rPr>
              <a:t>GET</a:t>
            </a:r>
            <a:r>
              <a:rPr lang="zh-CN" altLang="en-US" sz="3600" b="1" dirty="0">
                <a:latin typeface="Helvetica Neue" panose="02000503000000020004" pitchFamily="2" charset="0"/>
              </a:rPr>
              <a:t>和</a:t>
            </a:r>
            <a:r>
              <a:rPr lang="en-US" altLang="zh-CN" sz="3600" b="1" dirty="0">
                <a:latin typeface="Helvetica Neue" panose="02000503000000020004" pitchFamily="2" charset="0"/>
              </a:rPr>
              <a:t>POST</a:t>
            </a:r>
            <a:r>
              <a:rPr lang="zh-CN" altLang="en-US" sz="3600" b="1" dirty="0">
                <a:latin typeface="Helvetica Neue" panose="02000503000000020004" pitchFamily="2" charset="0"/>
              </a:rPr>
              <a:t>请求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HTML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form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表单提交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Chrome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，右键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检查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-&gt; Network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，查看请求方式 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01B291-F45C-9BA2-793D-D4B61688A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455922"/>
            <a:ext cx="5122508" cy="37557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542C60-58FC-7221-7AB7-2BEFEF3B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816" y="4284023"/>
            <a:ext cx="4837583" cy="19276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E3FD2C-9538-3024-D028-329133434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817" y="2455923"/>
            <a:ext cx="4837582" cy="177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2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HTTP</a:t>
            </a:r>
            <a:r>
              <a:rPr lang="zh-CN" altLang="en-US" sz="3600" b="1" dirty="0">
                <a:latin typeface="Helvetica Neue" panose="02000503000000020004" pitchFamily="2" charset="0"/>
              </a:rPr>
              <a:t>请求的格式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189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请求由请求行、请求头、空白行、请求体四部分组成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请求行，包括请求方式、资源路径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(get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请求还包含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queryString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、协议版本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请求头，为服务器提供了一些额外信息，包括一些访问的域名、用户信息、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Cookie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等信息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空白行，用于分隔请求头和请求体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请求体，客户端提交的数据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86DDD4-4AC0-38FF-8307-6461BC208BF7}"/>
              </a:ext>
            </a:extLst>
          </p:cNvPr>
          <p:cNvSpPr txBox="1"/>
          <p:nvPr/>
        </p:nvSpPr>
        <p:spPr>
          <a:xfrm>
            <a:off x="6037263" y="3704368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请求行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977E75B-4743-EA4D-174F-744A65AF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317" y="3713695"/>
            <a:ext cx="4390343" cy="236274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CFD19C7-DE34-08AE-BC2A-9174905C7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4" y="3675376"/>
            <a:ext cx="5113405" cy="229661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E2421BD-A7AE-2826-5F40-B7A4DD66AE48}"/>
              </a:ext>
            </a:extLst>
          </p:cNvPr>
          <p:cNvSpPr txBox="1"/>
          <p:nvPr/>
        </p:nvSpPr>
        <p:spPr>
          <a:xfrm>
            <a:off x="6046234" y="4507780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请求头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11F007-155A-8DAB-1830-9F1798E6BD6F}"/>
              </a:ext>
            </a:extLst>
          </p:cNvPr>
          <p:cNvSpPr txBox="1"/>
          <p:nvPr/>
        </p:nvSpPr>
        <p:spPr>
          <a:xfrm>
            <a:off x="6054637" y="5496016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空白行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F8B269-B8C3-F0AC-0740-BE838099932C}"/>
              </a:ext>
            </a:extLst>
          </p:cNvPr>
          <p:cNvSpPr txBox="1"/>
          <p:nvPr/>
        </p:nvSpPr>
        <p:spPr>
          <a:xfrm>
            <a:off x="6054637" y="5787081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请求体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A55514-644C-4A57-B694-7F647C121C7A}"/>
              </a:ext>
            </a:extLst>
          </p:cNvPr>
          <p:cNvSpPr txBox="1"/>
          <p:nvPr/>
        </p:nvSpPr>
        <p:spPr>
          <a:xfrm>
            <a:off x="255470" y="3273547"/>
            <a:ext cx="902811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请求方式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9DA1733-BF89-4699-44CC-0941DB56C320}"/>
              </a:ext>
            </a:extLst>
          </p:cNvPr>
          <p:cNvSpPr txBox="1"/>
          <p:nvPr/>
        </p:nvSpPr>
        <p:spPr>
          <a:xfrm>
            <a:off x="2232812" y="3281820"/>
            <a:ext cx="902811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资源路径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4846368-BC12-679A-1000-CBFD6B0639B2}"/>
              </a:ext>
            </a:extLst>
          </p:cNvPr>
          <p:cNvSpPr txBox="1"/>
          <p:nvPr/>
        </p:nvSpPr>
        <p:spPr>
          <a:xfrm>
            <a:off x="4399042" y="3281819"/>
            <a:ext cx="902811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协议版本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B2B4E7E0-889E-742F-22D0-04DFE6466B4F}"/>
              </a:ext>
            </a:extLst>
          </p:cNvPr>
          <p:cNvSpPr/>
          <p:nvPr/>
        </p:nvSpPr>
        <p:spPr>
          <a:xfrm>
            <a:off x="6874933" y="4087037"/>
            <a:ext cx="308362" cy="1487704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7040A583-F28D-9942-CCC9-01B0DB086DE7}"/>
              </a:ext>
            </a:extLst>
          </p:cNvPr>
          <p:cNvSpPr/>
          <p:nvPr/>
        </p:nvSpPr>
        <p:spPr>
          <a:xfrm rot="10800000">
            <a:off x="5681717" y="4087037"/>
            <a:ext cx="308362" cy="1300985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左中括号 38">
            <a:extLst>
              <a:ext uri="{FF2B5EF4-FFF2-40B4-BE49-F238E27FC236}">
                <a16:creationId xmlns:a16="http://schemas.microsoft.com/office/drawing/2014/main" id="{7F2D44FC-66D2-8148-E7D3-D2D0CDA2E8A8}"/>
              </a:ext>
            </a:extLst>
          </p:cNvPr>
          <p:cNvSpPr/>
          <p:nvPr/>
        </p:nvSpPr>
        <p:spPr>
          <a:xfrm>
            <a:off x="7029114" y="5867396"/>
            <a:ext cx="154181" cy="197751"/>
          </a:xfrm>
          <a:prstGeom prst="leftBracket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左中括号 39">
            <a:extLst>
              <a:ext uri="{FF2B5EF4-FFF2-40B4-BE49-F238E27FC236}">
                <a16:creationId xmlns:a16="http://schemas.microsoft.com/office/drawing/2014/main" id="{F1140270-5CBE-ED06-5756-56715408BA44}"/>
              </a:ext>
            </a:extLst>
          </p:cNvPr>
          <p:cNvSpPr/>
          <p:nvPr/>
        </p:nvSpPr>
        <p:spPr>
          <a:xfrm>
            <a:off x="7029113" y="3841409"/>
            <a:ext cx="154181" cy="197751"/>
          </a:xfrm>
          <a:prstGeom prst="leftBracket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左中括号 40">
            <a:extLst>
              <a:ext uri="{FF2B5EF4-FFF2-40B4-BE49-F238E27FC236}">
                <a16:creationId xmlns:a16="http://schemas.microsoft.com/office/drawing/2014/main" id="{CA90E1EC-C0D9-0422-E0D1-09A8081CE39D}"/>
              </a:ext>
            </a:extLst>
          </p:cNvPr>
          <p:cNvSpPr/>
          <p:nvPr/>
        </p:nvSpPr>
        <p:spPr>
          <a:xfrm rot="10800000">
            <a:off x="5680699" y="3860415"/>
            <a:ext cx="154181" cy="197751"/>
          </a:xfrm>
          <a:prstGeom prst="leftBracket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9845B7A5-838B-C178-C8FB-62338CC56356}"/>
              </a:ext>
            </a:extLst>
          </p:cNvPr>
          <p:cNvCxnSpPr>
            <a:cxnSpLocks/>
          </p:cNvCxnSpPr>
          <p:nvPr/>
        </p:nvCxnSpPr>
        <p:spPr>
          <a:xfrm flipH="1">
            <a:off x="6799349" y="3940284"/>
            <a:ext cx="229764" cy="0"/>
          </a:xfrm>
          <a:prstGeom prst="straightConnector1">
            <a:avLst/>
          </a:prstGeom>
          <a:ln w="25400"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736D5C84-E65D-D1DD-E249-CFD9CADC0E88}"/>
              </a:ext>
            </a:extLst>
          </p:cNvPr>
          <p:cNvCxnSpPr>
            <a:cxnSpLocks/>
          </p:cNvCxnSpPr>
          <p:nvPr/>
        </p:nvCxnSpPr>
        <p:spPr>
          <a:xfrm flipH="1">
            <a:off x="5852406" y="3948001"/>
            <a:ext cx="229764" cy="0"/>
          </a:xfrm>
          <a:prstGeom prst="straightConnector1">
            <a:avLst/>
          </a:prstGeom>
          <a:ln w="25400"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3E70D9A0-7201-F002-D68E-8D9ED9C90C02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777912" y="5955128"/>
            <a:ext cx="235591" cy="23288"/>
          </a:xfrm>
          <a:prstGeom prst="straightConnector1">
            <a:avLst/>
          </a:prstGeom>
          <a:ln w="25400"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8B80283E-0D20-D4CA-2D53-B6454DA4FBD7}"/>
              </a:ext>
            </a:extLst>
          </p:cNvPr>
          <p:cNvSpPr/>
          <p:nvPr/>
        </p:nvSpPr>
        <p:spPr>
          <a:xfrm rot="5400000">
            <a:off x="654259" y="3619476"/>
            <a:ext cx="105235" cy="293676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3670CA2D-42B7-DCDA-5E16-343C1C0272CF}"/>
              </a:ext>
            </a:extLst>
          </p:cNvPr>
          <p:cNvSpPr/>
          <p:nvPr/>
        </p:nvSpPr>
        <p:spPr>
          <a:xfrm rot="5400000">
            <a:off x="2631599" y="2052935"/>
            <a:ext cx="105239" cy="342676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左大括号 52">
            <a:extLst>
              <a:ext uri="{FF2B5EF4-FFF2-40B4-BE49-F238E27FC236}">
                <a16:creationId xmlns:a16="http://schemas.microsoft.com/office/drawing/2014/main" id="{45A4736B-2F7D-E64D-94D3-24B664BACD00}"/>
              </a:ext>
            </a:extLst>
          </p:cNvPr>
          <p:cNvSpPr/>
          <p:nvPr/>
        </p:nvSpPr>
        <p:spPr>
          <a:xfrm rot="5400000">
            <a:off x="4784727" y="3455828"/>
            <a:ext cx="131443" cy="639724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2E7D82A-263B-27DE-81A2-8488223DE333}"/>
              </a:ext>
            </a:extLst>
          </p:cNvPr>
          <p:cNvSpPr txBox="1"/>
          <p:nvPr/>
        </p:nvSpPr>
        <p:spPr>
          <a:xfrm>
            <a:off x="2339213" y="5926837"/>
            <a:ext cx="910826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FFE79A"/>
                </a:solidFill>
              </a:rPr>
              <a:t>GET</a:t>
            </a:r>
            <a:r>
              <a:rPr kumimoji="1" lang="zh-CN" altLang="en-US" sz="1400" b="1" dirty="0">
                <a:solidFill>
                  <a:srgbClr val="FFE79A"/>
                </a:solidFill>
              </a:rPr>
              <a:t> 请求</a:t>
            </a:r>
            <a:endParaRPr kumimoji="1" lang="en-US" altLang="zh-CN" sz="1400" b="1" dirty="0">
              <a:solidFill>
                <a:srgbClr val="FFE79A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FD8E5D2-E656-6D0F-AD93-AACC8B32B5A9}"/>
              </a:ext>
            </a:extLst>
          </p:cNvPr>
          <p:cNvSpPr txBox="1"/>
          <p:nvPr/>
        </p:nvSpPr>
        <p:spPr>
          <a:xfrm>
            <a:off x="8941963" y="6020327"/>
            <a:ext cx="1031051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1400" b="1" dirty="0">
                <a:solidFill>
                  <a:srgbClr val="FFE79A"/>
                </a:solidFill>
              </a:rPr>
              <a:t>POST</a:t>
            </a:r>
            <a:r>
              <a:rPr kumimoji="1" lang="zh-CN" altLang="en-US" sz="1400" b="1" dirty="0">
                <a:solidFill>
                  <a:srgbClr val="FFE79A"/>
                </a:solidFill>
              </a:rPr>
              <a:t> 请求</a:t>
            </a:r>
            <a:endParaRPr kumimoji="1" lang="en-US" altLang="zh-CN" sz="1400" b="1" dirty="0">
              <a:solidFill>
                <a:srgbClr val="FFE79A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C199F0-5BD0-21C1-14FF-DE01B5FA81CF}"/>
              </a:ext>
            </a:extLst>
          </p:cNvPr>
          <p:cNvSpPr txBox="1"/>
          <p:nvPr/>
        </p:nvSpPr>
        <p:spPr>
          <a:xfrm>
            <a:off x="320274" y="630692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FFE79A"/>
                </a:solidFill>
              </a:rPr>
              <a:t>GET</a:t>
            </a:r>
            <a:r>
              <a:rPr kumimoji="1" lang="zh-CN" altLang="en-US" sz="1400" b="1" dirty="0">
                <a:solidFill>
                  <a:srgbClr val="FFE79A"/>
                </a:solidFill>
              </a:rPr>
              <a:t>请求不包含请求体，提交的数据以</a:t>
            </a:r>
            <a:r>
              <a:rPr kumimoji="1" lang="en-US" altLang="zh-CN" sz="1400" b="1" dirty="0" err="1">
                <a:solidFill>
                  <a:srgbClr val="FFE79A"/>
                </a:solidFill>
              </a:rPr>
              <a:t>queryString</a:t>
            </a:r>
            <a:r>
              <a:rPr kumimoji="1" lang="zh-CN" altLang="en-US" sz="1400" b="1" dirty="0">
                <a:solidFill>
                  <a:srgbClr val="FFE79A"/>
                </a:solidFill>
              </a:rPr>
              <a:t>的形式加在资源路径之后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620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HTTP</a:t>
            </a:r>
            <a:r>
              <a:rPr lang="zh-CN" altLang="en-US" sz="3600" b="1" dirty="0">
                <a:latin typeface="Helvetica Neue" panose="02000503000000020004" pitchFamily="2" charset="0"/>
              </a:rPr>
              <a:t>响应的格式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189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响应由状态行、响应头、空白行、响应体四部分组成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状态行，包括协议版本、状态码及状态描述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响应头，为客户端提供一些额外信息，包括响应时间、响应体长度等信息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空白行，用于分隔响应头和响应体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响应体，服务端返回的数据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50A0D131-8108-8FBF-2A2B-5F26F830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644" y="3657679"/>
            <a:ext cx="5226755" cy="2553983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B25D16CB-1474-6F46-E7E6-D78E881A51D5}"/>
              </a:ext>
            </a:extLst>
          </p:cNvPr>
          <p:cNvSpPr txBox="1"/>
          <p:nvPr/>
        </p:nvSpPr>
        <p:spPr>
          <a:xfrm>
            <a:off x="4557234" y="3723661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状态行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EE0A6A3-0833-15E5-79C4-6CB6CF1A9791}"/>
              </a:ext>
            </a:extLst>
          </p:cNvPr>
          <p:cNvSpPr txBox="1"/>
          <p:nvPr/>
        </p:nvSpPr>
        <p:spPr>
          <a:xfrm>
            <a:off x="4567390" y="4520700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响应头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294FAE5-AA8D-0D66-095D-7AD0AF02A71B}"/>
              </a:ext>
            </a:extLst>
          </p:cNvPr>
          <p:cNvSpPr txBox="1"/>
          <p:nvPr/>
        </p:nvSpPr>
        <p:spPr>
          <a:xfrm>
            <a:off x="4575792" y="5479902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空白行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1D9E14A-D1DB-7EE6-374E-6F0111C366CD}"/>
              </a:ext>
            </a:extLst>
          </p:cNvPr>
          <p:cNvSpPr txBox="1"/>
          <p:nvPr/>
        </p:nvSpPr>
        <p:spPr>
          <a:xfrm>
            <a:off x="4575793" y="5800001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响应体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61" name="左大括号 60">
            <a:extLst>
              <a:ext uri="{FF2B5EF4-FFF2-40B4-BE49-F238E27FC236}">
                <a16:creationId xmlns:a16="http://schemas.microsoft.com/office/drawing/2014/main" id="{29C09090-6C30-124D-7EE9-34747C2384AA}"/>
              </a:ext>
            </a:extLst>
          </p:cNvPr>
          <p:cNvSpPr/>
          <p:nvPr/>
        </p:nvSpPr>
        <p:spPr>
          <a:xfrm>
            <a:off x="5396088" y="4099957"/>
            <a:ext cx="308362" cy="1487704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左中括号 61">
            <a:extLst>
              <a:ext uri="{FF2B5EF4-FFF2-40B4-BE49-F238E27FC236}">
                <a16:creationId xmlns:a16="http://schemas.microsoft.com/office/drawing/2014/main" id="{7104C166-691E-DB82-9712-A39D160EEA1B}"/>
              </a:ext>
            </a:extLst>
          </p:cNvPr>
          <p:cNvSpPr/>
          <p:nvPr/>
        </p:nvSpPr>
        <p:spPr>
          <a:xfrm>
            <a:off x="5550269" y="5880316"/>
            <a:ext cx="154181" cy="197751"/>
          </a:xfrm>
          <a:prstGeom prst="leftBracket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左中括号 62">
            <a:extLst>
              <a:ext uri="{FF2B5EF4-FFF2-40B4-BE49-F238E27FC236}">
                <a16:creationId xmlns:a16="http://schemas.microsoft.com/office/drawing/2014/main" id="{23D985E9-74FB-E10F-BC4A-BEAA9D1843B5}"/>
              </a:ext>
            </a:extLst>
          </p:cNvPr>
          <p:cNvSpPr/>
          <p:nvPr/>
        </p:nvSpPr>
        <p:spPr>
          <a:xfrm>
            <a:off x="5550268" y="3854329"/>
            <a:ext cx="154181" cy="197751"/>
          </a:xfrm>
          <a:prstGeom prst="leftBracket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A52A9849-C0BE-D91F-78B4-B53172678372}"/>
              </a:ext>
            </a:extLst>
          </p:cNvPr>
          <p:cNvCxnSpPr>
            <a:cxnSpLocks/>
          </p:cNvCxnSpPr>
          <p:nvPr/>
        </p:nvCxnSpPr>
        <p:spPr>
          <a:xfrm flipH="1">
            <a:off x="5320504" y="3953204"/>
            <a:ext cx="229764" cy="0"/>
          </a:xfrm>
          <a:prstGeom prst="straightConnector1">
            <a:avLst/>
          </a:prstGeom>
          <a:ln w="25400"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109A8393-DDFD-5A49-294D-3C2022601237}"/>
              </a:ext>
            </a:extLst>
          </p:cNvPr>
          <p:cNvCxnSpPr>
            <a:cxnSpLocks/>
            <a:endCxn id="60" idx="3"/>
          </p:cNvCxnSpPr>
          <p:nvPr/>
        </p:nvCxnSpPr>
        <p:spPr>
          <a:xfrm flipH="1">
            <a:off x="5299068" y="5968048"/>
            <a:ext cx="235590" cy="23288"/>
          </a:xfrm>
          <a:prstGeom prst="straightConnector1">
            <a:avLst/>
          </a:prstGeom>
          <a:ln w="25400"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E017856-0DA7-0A30-15CE-6E936FB870D0}"/>
              </a:ext>
            </a:extLst>
          </p:cNvPr>
          <p:cNvSpPr txBox="1"/>
          <p:nvPr/>
        </p:nvSpPr>
        <p:spPr>
          <a:xfrm>
            <a:off x="5990077" y="3151506"/>
            <a:ext cx="902811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协议版本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69" name="左大括号 68">
            <a:extLst>
              <a:ext uri="{FF2B5EF4-FFF2-40B4-BE49-F238E27FC236}">
                <a16:creationId xmlns:a16="http://schemas.microsoft.com/office/drawing/2014/main" id="{693A162F-2113-1470-2E98-59EEC7451E8A}"/>
              </a:ext>
            </a:extLst>
          </p:cNvPr>
          <p:cNvSpPr/>
          <p:nvPr/>
        </p:nvSpPr>
        <p:spPr>
          <a:xfrm rot="5400000">
            <a:off x="6340942" y="3266991"/>
            <a:ext cx="201083" cy="902810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左大括号 69">
            <a:extLst>
              <a:ext uri="{FF2B5EF4-FFF2-40B4-BE49-F238E27FC236}">
                <a16:creationId xmlns:a16="http://schemas.microsoft.com/office/drawing/2014/main" id="{12A5851E-0B67-4E10-2347-250A4C791F16}"/>
              </a:ext>
            </a:extLst>
          </p:cNvPr>
          <p:cNvSpPr/>
          <p:nvPr/>
        </p:nvSpPr>
        <p:spPr>
          <a:xfrm rot="5400000">
            <a:off x="7164073" y="3556929"/>
            <a:ext cx="242949" cy="351856"/>
          </a:xfrm>
          <a:prstGeom prst="leftBrac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CF7048-01F8-8C83-41E2-941CF6571500}"/>
              </a:ext>
            </a:extLst>
          </p:cNvPr>
          <p:cNvSpPr txBox="1"/>
          <p:nvPr/>
        </p:nvSpPr>
        <p:spPr>
          <a:xfrm>
            <a:off x="6923909" y="3165185"/>
            <a:ext cx="723275" cy="382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bg1"/>
                </a:solidFill>
              </a:rPr>
              <a:t>状态码</a:t>
            </a:r>
            <a:endParaRPr kumimoji="1" lang="en-US" altLang="zh-C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HTTP</a:t>
            </a:r>
            <a:r>
              <a:rPr lang="zh-CN" altLang="en-US" sz="3600" b="1" dirty="0">
                <a:latin typeface="Helvetica Neue" panose="02000503000000020004" pitchFamily="2" charset="0"/>
              </a:rPr>
              <a:t>状态码</a:t>
            </a:r>
            <a:endParaRPr lang="zh-CN" altLang="en-US" sz="3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F6047BD-155B-F115-FE1D-1542E45D9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024239"/>
            <a:ext cx="6359456" cy="324767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1B1E01B-BFDD-0702-2DF2-D93B98B2C876}"/>
              </a:ext>
            </a:extLst>
          </p:cNvPr>
          <p:cNvSpPr txBox="1"/>
          <p:nvPr/>
        </p:nvSpPr>
        <p:spPr>
          <a:xfrm>
            <a:off x="668692" y="1299026"/>
            <a:ext cx="1064277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状态码由三个十进制数字组成，第一个十进制数字定义了状态码的类型。响应分为五类：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81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GET</a:t>
            </a:r>
            <a:r>
              <a:rPr lang="zh-CN" altLang="en-US" sz="3600" b="1" dirty="0">
                <a:latin typeface="Helvetica Neue" panose="02000503000000020004" pitchFamily="2" charset="0"/>
              </a:rPr>
              <a:t>和</a:t>
            </a:r>
            <a:r>
              <a:rPr lang="en-US" altLang="zh-CN" sz="3600" b="1" dirty="0">
                <a:latin typeface="Helvetica Neue" panose="02000503000000020004" pitchFamily="2" charset="0"/>
              </a:rPr>
              <a:t>POST</a:t>
            </a:r>
            <a:r>
              <a:rPr lang="zh-CN" altLang="en-US" sz="3600" b="1" dirty="0">
                <a:latin typeface="Helvetica Neue" panose="02000503000000020004" pitchFamily="2" charset="0"/>
              </a:rPr>
              <a:t>的区别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503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区别一：使用目的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请求用于获取资源（例如各种查询服务），是无副作用的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请求用于传入实体对象（进行添加、修改、删除等操作），是有副作用的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区别二：传递参数的方式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请求将参数放到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请求将参数放到请求体中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区别三：参数长度限制（这是浏览器的限制，不是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W3C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的规范的限制）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请求对参数长度有限制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请求对参数长度无限制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区别四：支持的参数类型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请求的参数只能为普通字符串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请求可以发送任何类型的数据，包括普通字符串、文件、视频、音频等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7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GET</a:t>
            </a:r>
            <a:r>
              <a:rPr lang="zh-CN" altLang="en-US" sz="3600" b="1" dirty="0">
                <a:latin typeface="Helvetica Neue" panose="02000503000000020004" pitchFamily="2" charset="0"/>
              </a:rPr>
              <a:t>和</a:t>
            </a:r>
            <a:r>
              <a:rPr lang="en-US" altLang="zh-CN" sz="3600" b="1" dirty="0">
                <a:latin typeface="Helvetica Neue" panose="02000503000000020004" pitchFamily="2" charset="0"/>
              </a:rPr>
              <a:t>POST</a:t>
            </a:r>
            <a:r>
              <a:rPr lang="zh-CN" altLang="en-US" sz="3600" b="1" dirty="0">
                <a:latin typeface="Helvetica Neue" panose="02000503000000020004" pitchFamily="2" charset="0"/>
              </a:rPr>
              <a:t>的区别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41347"/>
            <a:ext cx="10642775" cy="544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区别五：幂等性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请求是幂等的（并没有严格限制，规范建议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请求应该是幂等的）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请求不是幂等的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区别六：作为浏览器书签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请求可以作为浏览器书签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请求不能作为浏览器书签。一方面，浏览器书签保存的是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请求体中的信息书签无法保存；另一方面，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请求有副作用，不希望每次打开书签都进行一次有副作用的操作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区别七：在浏览器上回退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请求后退不会有影响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请求后退会再次提交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区别八：对缓存的支持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请求支持缓存（获取静态资源时使用缓存，我们自定义的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一般不支持浏览器缓存）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请求不支持缓存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27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b="1" dirty="0">
                <a:latin typeface="Helvetica Neue" panose="02000503000000020004" pitchFamily="2" charset="0"/>
              </a:rPr>
              <a:t>GET</a:t>
            </a:r>
            <a:r>
              <a:rPr lang="zh-CN" altLang="en-US" sz="3600" b="1" dirty="0">
                <a:latin typeface="Helvetica Neue" panose="02000503000000020004" pitchFamily="2" charset="0"/>
              </a:rPr>
              <a:t>和</a:t>
            </a:r>
            <a:r>
              <a:rPr lang="en-US" altLang="zh-CN" sz="3600" b="1" dirty="0">
                <a:latin typeface="Helvetica Neue" panose="02000503000000020004" pitchFamily="2" charset="0"/>
              </a:rPr>
              <a:t>POST</a:t>
            </a:r>
            <a:r>
              <a:rPr lang="zh-CN" altLang="en-US" sz="3600" b="1" dirty="0">
                <a:latin typeface="Helvetica Neue" panose="02000503000000020004" pitchFamily="2" charset="0"/>
              </a:rPr>
              <a:t>如何选择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237269"/>
            <a:ext cx="11241086" cy="253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查询数据使用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，创建、修改、删除数据使用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如果参数不是普通字符串，使用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如果参数长度较长，使用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如果不希望参数出现在请求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上，使用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希望作为浏览器书签，使用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GET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希望使用浏览器缓存，使用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2072421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600" b="1" dirty="0">
                <a:latin typeface="Helvetica Neue" panose="02000503000000020004" pitchFamily="2" charset="0"/>
              </a:rPr>
              <a:t>思考：</a:t>
            </a:r>
            <a:r>
              <a:rPr lang="en-US" altLang="zh-CN" sz="3600" b="1" dirty="0">
                <a:latin typeface="Helvetica Neue" panose="02000503000000020004" pitchFamily="2" charset="0"/>
              </a:rPr>
              <a:t>GET</a:t>
            </a:r>
            <a:r>
              <a:rPr lang="zh-CN" altLang="en-US" sz="3600" b="1" dirty="0">
                <a:latin typeface="Helvetica Neue" panose="02000503000000020004" pitchFamily="2" charset="0"/>
              </a:rPr>
              <a:t> 和 </a:t>
            </a:r>
            <a:r>
              <a:rPr lang="en-US" altLang="zh-CN" sz="3600" b="1" dirty="0">
                <a:latin typeface="Helvetica Neue" panose="02000503000000020004" pitchFamily="2" charset="0"/>
              </a:rPr>
              <a:t>POST</a:t>
            </a:r>
            <a:r>
              <a:rPr lang="zh-CN" altLang="en-US" sz="3600" b="1" dirty="0">
                <a:latin typeface="Helvetica Neue" panose="02000503000000020004" pitchFamily="2" charset="0"/>
              </a:rPr>
              <a:t> 哪个比较安全？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2CA030-23B7-036F-DDD8-F1B4236E708A}"/>
              </a:ext>
            </a:extLst>
          </p:cNvPr>
          <p:cNvSpPr txBox="1"/>
          <p:nvPr/>
        </p:nvSpPr>
        <p:spPr>
          <a:xfrm>
            <a:off x="668692" y="1327580"/>
            <a:ext cx="11241086" cy="2947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从数据传输的角度，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请求“看起来”更安全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请求的参数直接出现在地址栏的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URL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中，可以直接从浏览记录里看到请求参数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请求的参数在请求体里，无法直接从浏览器地址栏看到请求参数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但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的请求参数也可以通过抓包方式获取，并不绝对安全。安全传输需要加密，使用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HTTPS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从服务端数据的角度，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请求更安全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GET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请求不会变更服务端数据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请求会变更服务端数据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523413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36265</TotalTime>
  <Words>1038</Words>
  <Application>Microsoft Macintosh PowerPoint</Application>
  <PresentationFormat>宽屏</PresentationFormat>
  <Paragraphs>113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Menlo</vt:lpstr>
      <vt:lpstr>Wingdings</vt:lpstr>
      <vt:lpstr>饥人谷2020</vt:lpstr>
      <vt:lpstr>饥人谷2019浅色主题​​</vt:lpstr>
      <vt:lpstr>HTTP协议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385</cp:revision>
  <dcterms:created xsi:type="dcterms:W3CDTF">2021-12-14T08:53:33Z</dcterms:created>
  <dcterms:modified xsi:type="dcterms:W3CDTF">2023-05-02T11:42:08Z</dcterms:modified>
</cp:coreProperties>
</file>