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1" r:id="rId2"/>
  </p:sldMasterIdLst>
  <p:notesMasterIdLst>
    <p:notesMasterId r:id="rId18"/>
  </p:notesMasterIdLst>
  <p:sldIdLst>
    <p:sldId id="256" r:id="rId3"/>
    <p:sldId id="331" r:id="rId4"/>
    <p:sldId id="360" r:id="rId5"/>
    <p:sldId id="362" r:id="rId6"/>
    <p:sldId id="363" r:id="rId7"/>
    <p:sldId id="364" r:id="rId8"/>
    <p:sldId id="365" r:id="rId9"/>
    <p:sldId id="366" r:id="rId10"/>
    <p:sldId id="368" r:id="rId11"/>
    <p:sldId id="369" r:id="rId12"/>
    <p:sldId id="370" r:id="rId13"/>
    <p:sldId id="372" r:id="rId14"/>
    <p:sldId id="371" r:id="rId15"/>
    <p:sldId id="373" r:id="rId16"/>
    <p:sldId id="374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51" autoAdjust="0"/>
    <p:restoredTop sz="96189"/>
  </p:normalViewPr>
  <p:slideViewPr>
    <p:cSldViewPr snapToGrid="0">
      <p:cViewPr varScale="1">
        <p:scale>
          <a:sx n="90" d="100"/>
          <a:sy n="90" d="100"/>
        </p:scale>
        <p:origin x="216" y="1056"/>
      </p:cViewPr>
      <p:guideLst/>
    </p:cSldViewPr>
  </p:slideViewPr>
  <p:outlineViewPr>
    <p:cViewPr>
      <p:scale>
        <a:sx n="33" d="100"/>
        <a:sy n="33" d="100"/>
      </p:scale>
      <p:origin x="0" y="-46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234C0-42CF-994A-B498-2C2DAA802C99}" type="datetimeFigureOut">
              <a:rPr lang="en-CN" smtClean="0"/>
              <a:t>3/26/23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22EA6-FE1A-C745-BE27-F2AA48395E86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2899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/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66399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26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lang="zh-CN" altLang="en-US" dirty="0" smtClean="0"/>
            </a:lvl1pPr>
            <a:lvl2pPr>
              <a:lnSpc>
                <a:spcPct val="100000"/>
              </a:lnSpc>
              <a:defRPr lang="zh-CN" altLang="en-US" dirty="0" smtClean="0"/>
            </a:lvl2pPr>
            <a:lvl3pPr>
              <a:lnSpc>
                <a:spcPct val="100000"/>
              </a:lnSpc>
              <a:defRPr lang="zh-CN" altLang="en-US" dirty="0" smtClean="0"/>
            </a:lvl3pPr>
            <a:lvl4pPr>
              <a:lnSpc>
                <a:spcPct val="100000"/>
              </a:lnSpc>
              <a:defRPr lang="zh-CN" altLang="en-US" dirty="0" smtClean="0"/>
            </a:lvl4pPr>
            <a:lvl5pPr>
              <a:lnSpc>
                <a:spcPct val="100000"/>
              </a:lnSpc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02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3669282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595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ph idx="13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marL="0" indent="0" algn="ctr">
              <a:buNone/>
              <a:defRPr/>
            </a:lvl2pPr>
            <a:lvl3pPr marL="0" indent="0" algn="ctr">
              <a:buNone/>
              <a:defRPr/>
            </a:lvl3pPr>
            <a:lvl4pPr marL="0" indent="0" algn="ctr">
              <a:buNone/>
              <a:defRPr/>
            </a:lvl4pPr>
            <a:lvl5pPr marL="0" indent="0" algn="ctr">
              <a:buNone/>
              <a:defRPr/>
            </a:lvl5pPr>
          </a:lstStyle>
          <a:p>
            <a:pPr lvl="0"/>
            <a:r>
              <a:rPr lang="zh-CN" altLang="en-US" dirty="0"/>
              <a:t>背景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023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44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151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38200" y="2692940"/>
            <a:ext cx="10515600" cy="757130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ctr">
              <a:defRPr sz="4800">
                <a:solidFill>
                  <a:srgbClr val="2B4576"/>
                </a:solidFill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838200" y="3509546"/>
            <a:ext cx="10515600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sz="2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副标题</a:t>
            </a:r>
          </a:p>
        </p:txBody>
      </p:sp>
      <p:sp>
        <p:nvSpPr>
          <p:cNvPr id="7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006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38201" y="1545535"/>
            <a:ext cx="8332730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本内容版权属</a:t>
            </a:r>
            <a:r>
              <a:rPr lang="zh-CN" altLang="en-US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杭州饥人谷教育科技有限公司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（简称饥人谷）所有。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任何媒体、网站或个人未经本网协议授权不得转载、链接、转贴，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或以其他方式复制、发布和发表。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已获得饥人谷授权的媒体、网站或个人在使用时须注明「资料来源：饥人谷」 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对于违反者，饥人谷将依法追究责任。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如果你想要购买本课程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  <a:p>
            <a:pPr>
              <a:lnSpc>
                <a:spcPct val="100000"/>
              </a:lnSpc>
            </a:pP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如果你发现有人盗用本课程</a:t>
            </a:r>
            <a:endParaRPr lang="en-US" altLang="zh-CN" sz="1800">
              <a:solidFill>
                <a:srgbClr val="2B45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请微信联系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xiedaimala02</a:t>
            </a:r>
            <a:r>
              <a:rPr lang="en-US" altLang="zh-CN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8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xiedaimala03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286134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>
                <a:solidFill>
                  <a:srgbClr val="2B45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版权声明</a:t>
            </a:r>
          </a:p>
        </p:txBody>
      </p:sp>
    </p:spTree>
    <p:extLst>
      <p:ext uri="{BB962C8B-B14F-4D97-AF65-F5344CB8AC3E}">
        <p14:creationId xmlns:p14="http://schemas.microsoft.com/office/powerpoint/2010/main" val="250417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代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代码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 marL="0" indent="0">
              <a:buNone/>
              <a:defRPr lang="zh-CN" altLang="en-US" sz="2000" dirty="0" smtClean="0">
                <a:latin typeface="Consolas" panose="020B0609020204030204" pitchFamily="49" charset="0"/>
              </a:defRPr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1"/>
            <a:r>
              <a:rPr lang="en-US" altLang="zh-CN"/>
              <a:t>print("hi")</a:t>
            </a:r>
            <a:endParaRPr lang="zh-CN" altLang="en-US" dirty="0"/>
          </a:p>
        </p:txBody>
      </p:sp>
      <p:sp>
        <p:nvSpPr>
          <p:cNvPr id="7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21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zh-CN" altLang="en-US" dirty="0" smtClean="0"/>
            </a:lvl1pPr>
            <a:lvl2pPr>
              <a:buSzPct val="100000"/>
              <a:defRPr lang="zh-CN" altLang="en-US" dirty="0" smtClean="0"/>
            </a:lvl2pPr>
            <a:lvl3pPr>
              <a:defRPr lang="zh-CN" altLang="en-US" dirty="0" smtClean="0"/>
            </a:lvl3pPr>
            <a:lvl4pPr>
              <a:defRPr lang="zh-CN" altLang="en-US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1756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ph idx="13"/>
          </p:nvPr>
        </p:nvSpPr>
        <p:spPr>
          <a:xfrm>
            <a:off x="0" y="3"/>
            <a:ext cx="12192000" cy="68579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0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3382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3636750"/>
            <a:ext cx="10515600" cy="715581"/>
          </a:xfrm>
          <a:prstGeom prst="rect">
            <a:avLst/>
          </a:prstGeom>
        </p:spPr>
        <p:txBody>
          <a:bodyPr anchor="b">
            <a:spAutoFit/>
          </a:bodyPr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365000"/>
            <a:ext cx="10515600" cy="3416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9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57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6737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defRPr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41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384F88"/>
            </a:gs>
            <a:gs pos="100000">
              <a:srgbClr val="1E2C6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0000"/>
            <a:ext cx="10515600" cy="538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3"/>
          </p:nvPr>
        </p:nvSpPr>
        <p:spPr>
          <a:xfrm>
            <a:off x="11353799" y="6642000"/>
            <a:ext cx="838199" cy="216000"/>
          </a:xfrm>
          <a:prstGeom prst="rect">
            <a:avLst/>
          </a:prstGeom>
        </p:spPr>
        <p:txBody>
          <a:bodyPr vert="horz" wrap="none" lIns="0" tIns="0" rIns="72000" bIns="36000" rtlCol="0" anchor="b" anchorCtr="0"/>
          <a:lstStyle>
            <a:lvl1pPr algn="r">
              <a:defRPr sz="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1353801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ctr"/>
          <a:lstStyle>
            <a:lvl1pPr algn="r">
              <a:defRPr sz="900">
                <a:solidFill>
                  <a:schemeClr val="bg1">
                    <a:lumMod val="8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C71211B-FC85-4D01-81F5-233FD27A8BC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FC00A0-87D4-4A61-9BF9-412D314D1DAF}"/>
              </a:ext>
            </a:extLst>
          </p:cNvPr>
          <p:cNvSpPr txBox="1"/>
          <p:nvPr/>
        </p:nvSpPr>
        <p:spPr>
          <a:xfrm>
            <a:off x="5546971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488370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9" r:id="rId3"/>
    <p:sldLayoutId id="2147483675" r:id="rId4"/>
    <p:sldLayoutId id="2147483678" r:id="rId5"/>
    <p:sldLayoutId id="2147483677" r:id="rId6"/>
    <p:sldLayoutId id="2147483679" r:id="rId7"/>
    <p:sldLayoutId id="2147483680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-360000" algn="l" defTabSz="685800" rtl="0" eaLnBrk="1" latinLnBrk="0" hangingPunct="1">
        <a:lnSpc>
          <a:spcPct val="100000"/>
        </a:lnSpc>
        <a:spcBef>
          <a:spcPts val="1600"/>
        </a:spcBef>
        <a:buFont typeface="Arial" panose="020B0604020202020204" pitchFamily="34" charset="0"/>
        <a:buChar char="•"/>
        <a:defRPr lang="zh-CN" altLang="en-US" sz="3600" kern="1200" dirty="0" smtClean="0">
          <a:solidFill>
            <a:srgbClr val="FFDE85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100000"/>
        <a:buFont typeface="Wingdings" panose="05000000000000000000" pitchFamily="2" charset="2"/>
        <a:buChar char="ü"/>
        <a:defRPr sz="24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F9FCFF"/>
            </a:gs>
            <a:gs pos="100000">
              <a:srgbClr val="EBF7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6"/>
          <p:cNvSpPr>
            <a:spLocks noGrp="1"/>
          </p:cNvSpPr>
          <p:nvPr>
            <p:ph type="title"/>
          </p:nvPr>
        </p:nvSpPr>
        <p:spPr>
          <a:xfrm>
            <a:off x="838200" y="360000"/>
            <a:ext cx="10515600" cy="757130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"/>
          </p:nvPr>
        </p:nvSpPr>
        <p:spPr>
          <a:xfrm>
            <a:off x="838200" y="1261130"/>
            <a:ext cx="10515600" cy="5380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</p:nvPr>
        </p:nvSpPr>
        <p:spPr>
          <a:xfrm>
            <a:off x="11353800" y="0"/>
            <a:ext cx="838200" cy="216000"/>
          </a:xfrm>
          <a:prstGeom prst="rect">
            <a:avLst/>
          </a:prstGeom>
        </p:spPr>
        <p:txBody>
          <a:bodyPr vert="horz" wrap="none" lIns="0" tIns="36000" rIns="72000" bIns="0" rtlCol="0" anchor="t" anchorCtr="0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A6B6B8B-E38A-4C92-8797-81FA559B205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3"/>
          </p:nvPr>
        </p:nvSpPr>
        <p:spPr>
          <a:xfrm>
            <a:off x="11353800" y="6642000"/>
            <a:ext cx="838200" cy="216000"/>
          </a:xfrm>
          <a:prstGeom prst="rect">
            <a:avLst/>
          </a:prstGeom>
        </p:spPr>
        <p:txBody>
          <a:bodyPr vert="horz" wrap="none" lIns="0" tIns="0" rIns="72000" bIns="3600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4C8E59-2062-4974-9D8C-C0D011B313F2}"/>
              </a:ext>
            </a:extLst>
          </p:cNvPr>
          <p:cNvSpPr txBox="1"/>
          <p:nvPr/>
        </p:nvSpPr>
        <p:spPr>
          <a:xfrm>
            <a:off x="5363962" y="6673056"/>
            <a:ext cx="1098058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版权所有 </a:t>
            </a:r>
            <a:r>
              <a:rPr lang="en-US" altLang="zh-CN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© </a:t>
            </a:r>
            <a:r>
              <a:rPr lang="zh-CN" altLang="en-US" sz="100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饥人谷</a:t>
            </a:r>
          </a:p>
        </p:txBody>
      </p:sp>
    </p:spTree>
    <p:extLst>
      <p:ext uri="{BB962C8B-B14F-4D97-AF65-F5344CB8AC3E}">
        <p14:creationId xmlns:p14="http://schemas.microsoft.com/office/powerpoint/2010/main" val="953395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8" r:id="rId2"/>
    <p:sldLayoutId id="2147483690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171450" indent="-36000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-360000" algn="l" defTabSz="685800" rtl="0" eaLnBrk="1" latinLnBrk="0" hangingPunct="1">
        <a:lnSpc>
          <a:spcPct val="100000"/>
        </a:lnSpc>
        <a:spcBef>
          <a:spcPts val="375"/>
        </a:spcBef>
        <a:buSzPct val="50000"/>
        <a:buFont typeface="Wingdings" panose="05000000000000000000" pitchFamily="2" charset="2"/>
        <a:buChar char="ü"/>
        <a:defRPr sz="24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-36000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B4576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模拟</a:t>
            </a:r>
            <a:r>
              <a:rPr lang="en-US" altLang="zh-CN" dirty="0"/>
              <a:t>Servlet</a:t>
            </a:r>
            <a:r>
              <a:rPr lang="zh-CN" altLang="en-US" dirty="0"/>
              <a:t>的本质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FB9298-51D4-4A02-B053-F474455D3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566399"/>
            <a:ext cx="10515600" cy="461665"/>
          </a:xfrm>
        </p:spPr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罗辑</a:t>
            </a:r>
          </a:p>
        </p:txBody>
      </p:sp>
    </p:spTree>
    <p:extLst>
      <p:ext uri="{BB962C8B-B14F-4D97-AF65-F5344CB8AC3E}">
        <p14:creationId xmlns:p14="http://schemas.microsoft.com/office/powerpoint/2010/main" val="3556706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3199743" y="3050435"/>
            <a:ext cx="5792514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dirty="0"/>
              <a:t>内容回顾</a:t>
            </a:r>
          </a:p>
        </p:txBody>
      </p:sp>
    </p:spTree>
    <p:extLst>
      <p:ext uri="{BB962C8B-B14F-4D97-AF65-F5344CB8AC3E}">
        <p14:creationId xmlns:p14="http://schemas.microsoft.com/office/powerpoint/2010/main" val="1355500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>
            <a:extLst>
              <a:ext uri="{FF2B5EF4-FFF2-40B4-BE49-F238E27FC236}">
                <a16:creationId xmlns:a16="http://schemas.microsoft.com/office/drawing/2014/main" id="{CE4C9717-A43F-B0B8-2DB6-0F8B45681D36}"/>
              </a:ext>
            </a:extLst>
          </p:cNvPr>
          <p:cNvSpPr txBox="1">
            <a:spLocks/>
          </p:cNvSpPr>
          <p:nvPr/>
        </p:nvSpPr>
        <p:spPr>
          <a:xfrm>
            <a:off x="792871" y="563239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访问</a:t>
            </a:r>
            <a:r>
              <a:rPr lang="en-US" altLang="zh-CN" dirty="0"/>
              <a:t>WEB</a:t>
            </a:r>
            <a:r>
              <a:rPr lang="zh-CN" altLang="en-US" dirty="0"/>
              <a:t>系统的过程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D921900-2685-B385-B87F-6BA211729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96" y="1650729"/>
            <a:ext cx="7980855" cy="464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788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D171386-66B1-D16D-2B8C-E21027FF6BA9}"/>
              </a:ext>
            </a:extLst>
          </p:cNvPr>
          <p:cNvSpPr txBox="1">
            <a:spLocks/>
          </p:cNvSpPr>
          <p:nvPr/>
        </p:nvSpPr>
        <p:spPr>
          <a:xfrm>
            <a:off x="792871" y="563239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B/S</a:t>
            </a:r>
            <a:r>
              <a:rPr lang="zh-CN" altLang="en-US" dirty="0"/>
              <a:t>架构的角色与协议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EC543D7-1332-96BE-F085-7CA1F6838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443" y="1549399"/>
            <a:ext cx="9675433" cy="48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4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D171386-66B1-D16D-2B8C-E21027FF6BA9}"/>
              </a:ext>
            </a:extLst>
          </p:cNvPr>
          <p:cNvSpPr txBox="1">
            <a:spLocks/>
          </p:cNvSpPr>
          <p:nvPr/>
        </p:nvSpPr>
        <p:spPr>
          <a:xfrm>
            <a:off x="740320" y="1593253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是什么？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D99AF7-C0F9-8F12-C0C7-E6A528017DA5}"/>
              </a:ext>
            </a:extLst>
          </p:cNvPr>
          <p:cNvSpPr txBox="1"/>
          <p:nvPr/>
        </p:nvSpPr>
        <p:spPr>
          <a:xfrm>
            <a:off x="860526" y="2582413"/>
            <a:ext cx="7140473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（尤指 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语言中在服务器上运行的）小型应用程序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是一种规范（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Sun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公司制定）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283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模拟</a:t>
            </a:r>
            <a:r>
              <a:rPr lang="en-US" altLang="zh-CN" dirty="0"/>
              <a:t>Servlet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32696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14" y="635540"/>
            <a:ext cx="10515600" cy="757130"/>
          </a:xfrm>
        </p:spPr>
        <p:txBody>
          <a:bodyPr/>
          <a:lstStyle/>
          <a:p>
            <a:pPr algn="l"/>
            <a:r>
              <a:rPr lang="zh-CN" altLang="en-US" dirty="0"/>
              <a:t>三个参与方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A76190-3DB7-4B25-12C1-92C253A64C50}"/>
              </a:ext>
            </a:extLst>
          </p:cNvPr>
          <p:cNvSpPr txBox="1"/>
          <p:nvPr/>
        </p:nvSpPr>
        <p:spPr>
          <a:xfrm>
            <a:off x="674914" y="1392669"/>
            <a:ext cx="10197874" cy="1892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Sun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公司：定义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接口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应用开发团队：实现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接口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开发团队：实现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服务器功能，接收用户请求，根据请求路径调用对应的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来执行业务逻辑。</a:t>
            </a:r>
          </a:p>
        </p:txBody>
      </p:sp>
    </p:spTree>
    <p:extLst>
      <p:ext uri="{BB962C8B-B14F-4D97-AF65-F5344CB8AC3E}">
        <p14:creationId xmlns:p14="http://schemas.microsoft.com/office/powerpoint/2010/main" val="2922830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03739"/>
            <a:ext cx="10515600" cy="646331"/>
          </a:xfrm>
        </p:spPr>
        <p:txBody>
          <a:bodyPr/>
          <a:lstStyle/>
          <a:p>
            <a:r>
              <a:rPr lang="zh-CN" altLang="en-US" sz="4000" dirty="0"/>
              <a:t>思考：路径与</a:t>
            </a:r>
            <a:r>
              <a:rPr lang="en-US" altLang="zh-CN" sz="4000" dirty="0"/>
              <a:t>Servlet</a:t>
            </a:r>
            <a:r>
              <a:rPr lang="zh-CN" altLang="en-US" sz="4000" dirty="0"/>
              <a:t>的映射关系谁来定义？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D70AF7-3754-FD0A-8B6F-5532E6BB0430}"/>
              </a:ext>
            </a:extLst>
          </p:cNvPr>
          <p:cNvSpPr txBox="1"/>
          <p:nvPr/>
        </p:nvSpPr>
        <p:spPr>
          <a:xfrm>
            <a:off x="2721429" y="3754871"/>
            <a:ext cx="5782010" cy="507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应用开发团队</a:t>
            </a:r>
          </a:p>
        </p:txBody>
      </p:sp>
    </p:spTree>
    <p:extLst>
      <p:ext uri="{BB962C8B-B14F-4D97-AF65-F5344CB8AC3E}">
        <p14:creationId xmlns:p14="http://schemas.microsoft.com/office/powerpoint/2010/main" val="32820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803739"/>
            <a:ext cx="10515600" cy="646331"/>
          </a:xfrm>
        </p:spPr>
        <p:txBody>
          <a:bodyPr/>
          <a:lstStyle/>
          <a:p>
            <a:r>
              <a:rPr lang="zh-CN" altLang="en-US" sz="4000" dirty="0"/>
              <a:t>思考：如何定义路径与</a:t>
            </a:r>
            <a:r>
              <a:rPr lang="en-US" altLang="zh-CN" sz="4000" dirty="0"/>
              <a:t>Servlet</a:t>
            </a:r>
            <a:r>
              <a:rPr lang="zh-CN" altLang="en-US" sz="4000" dirty="0"/>
              <a:t>的映射关系？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BD70AF7-3754-FD0A-8B6F-5532E6BB0430}"/>
              </a:ext>
            </a:extLst>
          </p:cNvPr>
          <p:cNvSpPr txBox="1"/>
          <p:nvPr/>
        </p:nvSpPr>
        <p:spPr>
          <a:xfrm>
            <a:off x="2008414" y="3765757"/>
            <a:ext cx="8175171" cy="968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使用配置文件，在配置文件中描述请求路径与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之间的映射关系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ctr">
              <a:lnSpc>
                <a:spcPct val="150000"/>
              </a:lnSpc>
            </a:pPr>
            <a:r>
              <a:rPr lang="en-US" altLang="zh-CN" sz="2000" b="1" dirty="0" err="1">
                <a:solidFill>
                  <a:schemeClr val="accent4">
                    <a:lumMod val="40000"/>
                    <a:lumOff val="60000"/>
                  </a:schemeClr>
                </a:solidFill>
              </a:rPr>
              <a:t>JavaWeb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开发者将映射关系“注册”到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服务器上</a:t>
            </a:r>
          </a:p>
        </p:txBody>
      </p:sp>
    </p:spTree>
    <p:extLst>
      <p:ext uri="{BB962C8B-B14F-4D97-AF65-F5344CB8AC3E}">
        <p14:creationId xmlns:p14="http://schemas.microsoft.com/office/powerpoint/2010/main" val="16203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773025"/>
            <a:ext cx="10515600" cy="535531"/>
          </a:xfrm>
        </p:spPr>
        <p:txBody>
          <a:bodyPr/>
          <a:lstStyle/>
          <a:p>
            <a:r>
              <a:rPr lang="zh-CN" altLang="en-US" sz="3200" dirty="0"/>
              <a:t>思考：获取</a:t>
            </a:r>
            <a:r>
              <a:rPr lang="en-US" altLang="zh-CN" sz="3200" dirty="0"/>
              <a:t>Servlet</a:t>
            </a:r>
            <a:r>
              <a:rPr lang="zh-CN" altLang="en-US" sz="3200" dirty="0"/>
              <a:t>类名之后，如何得到</a:t>
            </a:r>
            <a:r>
              <a:rPr lang="en-US" altLang="zh-CN" sz="3200" dirty="0"/>
              <a:t>Servlet</a:t>
            </a:r>
            <a:r>
              <a:rPr lang="zh-CN" altLang="en-US" sz="3200" dirty="0"/>
              <a:t>对象？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E2889E-7702-EFEC-4D9B-5E2BE776F0F7}"/>
              </a:ext>
            </a:extLst>
          </p:cNvPr>
          <p:cNvSpPr txBox="1"/>
          <p:nvPr/>
        </p:nvSpPr>
        <p:spPr>
          <a:xfrm>
            <a:off x="2699657" y="3435319"/>
            <a:ext cx="5782010" cy="507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使用反射</a:t>
            </a:r>
          </a:p>
        </p:txBody>
      </p:sp>
    </p:spTree>
    <p:extLst>
      <p:ext uri="{BB962C8B-B14F-4D97-AF65-F5344CB8AC3E}">
        <p14:creationId xmlns:p14="http://schemas.microsoft.com/office/powerpoint/2010/main" val="63900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018608"/>
            <a:ext cx="10515600" cy="535531"/>
          </a:xfrm>
        </p:spPr>
        <p:txBody>
          <a:bodyPr/>
          <a:lstStyle/>
          <a:p>
            <a:r>
              <a:rPr lang="zh-CN" altLang="en-US" sz="3200" dirty="0"/>
              <a:t>面向接口编程，实现解耦合，实现可移植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0239BB-D644-2190-143C-937C30024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356" y="968262"/>
            <a:ext cx="6491288" cy="356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3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4914" y="1560826"/>
            <a:ext cx="10515600" cy="757130"/>
          </a:xfrm>
        </p:spPr>
        <p:txBody>
          <a:bodyPr/>
          <a:lstStyle/>
          <a:p>
            <a:pPr algn="l"/>
            <a:r>
              <a:rPr lang="en-US" altLang="zh-CN" dirty="0"/>
              <a:t>Java</a:t>
            </a:r>
            <a:r>
              <a:rPr lang="zh-CN" altLang="en-US" dirty="0"/>
              <a:t>程序员要做的两件事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A76190-3DB7-4B25-12C1-92C253A64C50}"/>
              </a:ext>
            </a:extLst>
          </p:cNvPr>
          <p:cNvSpPr txBox="1"/>
          <p:nvPr/>
        </p:nvSpPr>
        <p:spPr>
          <a:xfrm>
            <a:off x="674914" y="2600986"/>
            <a:ext cx="9046029" cy="968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实现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接口，在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 中实现业务逻辑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定义配置文件，描述路径与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Servlet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的映射关系</a:t>
            </a:r>
          </a:p>
        </p:txBody>
      </p:sp>
    </p:spTree>
    <p:extLst>
      <p:ext uri="{BB962C8B-B14F-4D97-AF65-F5344CB8AC3E}">
        <p14:creationId xmlns:p14="http://schemas.microsoft.com/office/powerpoint/2010/main" val="189238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816A-4D31-46FA-A25C-E6E973DEBF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942" y="2466184"/>
            <a:ext cx="10515600" cy="535531"/>
          </a:xfrm>
        </p:spPr>
        <p:txBody>
          <a:bodyPr/>
          <a:lstStyle/>
          <a:p>
            <a:r>
              <a:rPr lang="zh-CN" altLang="en-US" sz="3200" dirty="0"/>
              <a:t>思考：配置文件的名字和位置是否可以修改？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9E2889E-7702-EFEC-4D9B-5E2BE776F0F7}"/>
              </a:ext>
            </a:extLst>
          </p:cNvPr>
          <p:cNvSpPr txBox="1"/>
          <p:nvPr/>
        </p:nvSpPr>
        <p:spPr>
          <a:xfrm>
            <a:off x="2133599" y="3312791"/>
            <a:ext cx="7402285" cy="143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不可以修改。配置文件解析代码已经在 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中写死了。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一旦修改，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tomcat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服务器将无法找到配置文件。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配置文件名、文件路径、内容格式都是</a:t>
            </a: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Sun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公司定义的规范。</a:t>
            </a:r>
          </a:p>
        </p:txBody>
      </p:sp>
    </p:spTree>
    <p:extLst>
      <p:ext uri="{BB962C8B-B14F-4D97-AF65-F5344CB8AC3E}">
        <p14:creationId xmlns:p14="http://schemas.microsoft.com/office/powerpoint/2010/main" val="3735109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D171386-66B1-D16D-2B8C-E21027FF6BA9}"/>
              </a:ext>
            </a:extLst>
          </p:cNvPr>
          <p:cNvSpPr txBox="1">
            <a:spLocks/>
          </p:cNvSpPr>
          <p:nvPr/>
        </p:nvSpPr>
        <p:spPr>
          <a:xfrm>
            <a:off x="731938" y="2954475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规范（</a:t>
            </a:r>
            <a:r>
              <a:rPr lang="en-US" altLang="zh-CN" dirty="0"/>
              <a:t>Sun</a:t>
            </a:r>
            <a:r>
              <a:rPr lang="zh-CN" altLang="en-US" dirty="0"/>
              <a:t>公司定义）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1D99AF7-C0F9-8F12-C0C7-E6A528017DA5}"/>
              </a:ext>
            </a:extLst>
          </p:cNvPr>
          <p:cNvSpPr txBox="1"/>
          <p:nvPr/>
        </p:nvSpPr>
        <p:spPr>
          <a:xfrm>
            <a:off x="852146" y="3874515"/>
            <a:ext cx="5782010" cy="1427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 接口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配置文件：名字、存放路径、内容格式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Web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应用的目录结构</a:t>
            </a: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4E0E6593-D9C4-FE40-442A-2F6B520415CA}"/>
              </a:ext>
            </a:extLst>
          </p:cNvPr>
          <p:cNvSpPr txBox="1">
            <a:spLocks/>
          </p:cNvSpPr>
          <p:nvPr/>
        </p:nvSpPr>
        <p:spPr>
          <a:xfrm>
            <a:off x="731938" y="5656474"/>
            <a:ext cx="10512322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sz="2400" dirty="0"/>
              <a:t>Web</a:t>
            </a:r>
            <a:r>
              <a:rPr lang="zh-CN" altLang="en-US" sz="2400" dirty="0"/>
              <a:t>服务器、</a:t>
            </a:r>
            <a:r>
              <a:rPr lang="en-US" altLang="zh-CN" sz="2400" dirty="0"/>
              <a:t>Web</a:t>
            </a:r>
            <a:r>
              <a:rPr lang="zh-CN" altLang="en-US" sz="2400" dirty="0"/>
              <a:t>应用开发者都遵循</a:t>
            </a:r>
            <a:r>
              <a:rPr lang="en-US" altLang="zh-CN" sz="2400" dirty="0"/>
              <a:t>Servlet</a:t>
            </a:r>
            <a:r>
              <a:rPr lang="zh-CN" altLang="en-US" sz="2400" dirty="0"/>
              <a:t>规范，两者是解耦合的。</a:t>
            </a: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5B8DD6D1-34B3-7CD5-D622-C7594E59E5F4}"/>
              </a:ext>
            </a:extLst>
          </p:cNvPr>
          <p:cNvSpPr txBox="1">
            <a:spLocks/>
          </p:cNvSpPr>
          <p:nvPr/>
        </p:nvSpPr>
        <p:spPr>
          <a:xfrm>
            <a:off x="731938" y="398229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Servlet</a:t>
            </a:r>
            <a:r>
              <a:rPr lang="zh-CN" altLang="en-US" dirty="0"/>
              <a:t>是什么？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50F86CE-B374-7AD7-1710-D074E0980A2B}"/>
              </a:ext>
            </a:extLst>
          </p:cNvPr>
          <p:cNvSpPr txBox="1"/>
          <p:nvPr/>
        </p:nvSpPr>
        <p:spPr>
          <a:xfrm>
            <a:off x="852144" y="1387389"/>
            <a:ext cx="7140473" cy="966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（尤指 </a:t>
            </a:r>
            <a:r>
              <a:rPr lang="en" altLang="zh-CN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Java </a:t>
            </a:r>
            <a:r>
              <a:rPr lang="zh-CN" alt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Helvetica Neue" panose="02000503000000020004" pitchFamily="2" charset="0"/>
              </a:rPr>
              <a:t>语言中在服务器上运行的）小型应用程序</a:t>
            </a:r>
            <a:endParaRPr lang="en-US" altLang="zh-CN" sz="2000" b="1" dirty="0">
              <a:solidFill>
                <a:schemeClr val="accent4">
                  <a:lumMod val="40000"/>
                  <a:lumOff val="60000"/>
                </a:schemeClr>
              </a:solidFill>
              <a:latin typeface="Helvetica Neue" panose="02000503000000020004" pitchFamily="2" charset="0"/>
            </a:endParaRP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Servlet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是一种规范（</a:t>
            </a:r>
            <a:r>
              <a:rPr lang="en-US" altLang="zh-CN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Sun</a:t>
            </a:r>
            <a:r>
              <a:rPr lang="zh-CN" altLang="en-US" sz="2000" b="1" i="0" dirty="0">
                <a:solidFill>
                  <a:schemeClr val="accent4">
                    <a:lumMod val="40000"/>
                    <a:lumOff val="60000"/>
                  </a:schemeClr>
                </a:solidFill>
                <a:effectLst/>
                <a:latin typeface="Helvetica Neue" panose="02000503000000020004" pitchFamily="2" charset="0"/>
              </a:rPr>
              <a:t>公司制定）</a:t>
            </a:r>
            <a:endParaRPr lang="en-US" altLang="zh-CN" sz="2000" b="1" i="0" dirty="0">
              <a:solidFill>
                <a:schemeClr val="accent4">
                  <a:lumMod val="40000"/>
                  <a:lumOff val="60000"/>
                </a:schemeClr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8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AD171386-66B1-D16D-2B8C-E21027FF6BA9}"/>
              </a:ext>
            </a:extLst>
          </p:cNvPr>
          <p:cNvSpPr txBox="1">
            <a:spLocks/>
          </p:cNvSpPr>
          <p:nvPr/>
        </p:nvSpPr>
        <p:spPr>
          <a:xfrm>
            <a:off x="1899415" y="3050435"/>
            <a:ext cx="8393169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ctr"/>
            <a:r>
              <a:rPr lang="zh-CN" altLang="en-US" dirty="0"/>
              <a:t>优化我们的程序</a:t>
            </a:r>
          </a:p>
        </p:txBody>
      </p:sp>
    </p:spTree>
    <p:extLst>
      <p:ext uri="{BB962C8B-B14F-4D97-AF65-F5344CB8AC3E}">
        <p14:creationId xmlns:p14="http://schemas.microsoft.com/office/powerpoint/2010/main" val="1675350940"/>
      </p:ext>
    </p:extLst>
  </p:cSld>
  <p:clrMapOvr>
    <a:masterClrMapping/>
  </p:clrMapOvr>
</p:sld>
</file>

<file path=ppt/theme/theme1.xml><?xml version="1.0" encoding="utf-8"?>
<a:theme xmlns:a="http://schemas.openxmlformats.org/drawingml/2006/main" name="饥人谷2020">
  <a:themeElements>
    <a:clrScheme name="自定义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00"/>
      </a:hlink>
      <a:folHlink>
        <a:srgbClr val="FFFF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饥人谷2020" id="{9EA43CC4-F49E-4AFB-A232-7BBA7D9D7755}" vid="{63A6EB6F-AC6E-43AB-B8C5-02C8C8D42495}"/>
    </a:ext>
  </a:extLst>
</a:theme>
</file>

<file path=ppt/theme/theme2.xml><?xml version="1.0" encoding="utf-8"?>
<a:theme xmlns:a="http://schemas.openxmlformats.org/drawingml/2006/main" name="饥人谷2019浅色主题​​">
  <a:themeElements>
    <a:clrScheme name="自定义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0000"/>
      </a:hlink>
      <a:folHlink>
        <a:srgbClr val="FF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avaScript 入门.pptx" id="{B812C777-9E68-4F43-B758-EBA532ADB484}" vid="{D326234F-4341-4D06-8CC1-2D740558C2C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饥人谷2020</Template>
  <TotalTime>14338</TotalTime>
  <Words>337</Words>
  <Application>Microsoft Macintosh PowerPoint</Application>
  <PresentationFormat>宽屏</PresentationFormat>
  <Paragraphs>37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思源黑体</vt:lpstr>
      <vt:lpstr>Microsoft YaHei</vt:lpstr>
      <vt:lpstr>Microsoft YaHei</vt:lpstr>
      <vt:lpstr>Arial</vt:lpstr>
      <vt:lpstr>Calibri</vt:lpstr>
      <vt:lpstr>Consolas</vt:lpstr>
      <vt:lpstr>Helvetica Neue</vt:lpstr>
      <vt:lpstr>Wingdings</vt:lpstr>
      <vt:lpstr>饥人谷2020</vt:lpstr>
      <vt:lpstr>饥人谷2019浅色主题​​</vt:lpstr>
      <vt:lpstr>模拟Servlet的本质</vt:lpstr>
      <vt:lpstr>PowerPoint 演示文稿</vt:lpstr>
      <vt:lpstr>PowerPoint 演示文稿</vt:lpstr>
      <vt:lpstr>PowerPoint 演示文稿</vt:lpstr>
      <vt:lpstr>PowerPoint 演示文稿</vt:lpstr>
      <vt:lpstr>模拟Servlet</vt:lpstr>
      <vt:lpstr>三个参与方</vt:lpstr>
      <vt:lpstr>思考：路径与Servlet的映射关系谁来定义？</vt:lpstr>
      <vt:lpstr>思考：如何定义路径与Servlet的映射关系？</vt:lpstr>
      <vt:lpstr>思考：获取Servlet类名之后，如何得到Servlet对象？</vt:lpstr>
      <vt:lpstr>面向接口编程，实现解耦合，实现可移植</vt:lpstr>
      <vt:lpstr>Java程序员要做的两件事</vt:lpstr>
      <vt:lpstr>思考：配置文件的名字和位置是否可以修改？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蓝色PPT</dc:title>
  <dc:creator>方 方</dc:creator>
  <cp:lastModifiedBy>Microsoft Office User</cp:lastModifiedBy>
  <cp:revision>173</cp:revision>
  <dcterms:created xsi:type="dcterms:W3CDTF">2021-12-14T08:53:33Z</dcterms:created>
  <dcterms:modified xsi:type="dcterms:W3CDTF">2023-04-03T17:20:43Z</dcterms:modified>
</cp:coreProperties>
</file>